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9525" autoAdjust="0"/>
  </p:normalViewPr>
  <p:slideViewPr>
    <p:cSldViewPr snapToGrid="0">
      <p:cViewPr varScale="1">
        <p:scale>
          <a:sx n="72" d="100"/>
          <a:sy n="72" d="100"/>
        </p:scale>
        <p:origin x="69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9" d="100"/>
          <a:sy n="69" d="100"/>
        </p:scale>
        <p:origin x="326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6A12B-06E1-47C6-A125-3FB910654273}" type="datetimeFigureOut">
              <a:rPr lang="hr-HR" smtClean="0"/>
              <a:t>12.7.2017.</a:t>
            </a:fld>
            <a:endParaRPr lang="hr-HR"/>
          </a:p>
        </p:txBody>
      </p:sp>
      <p:sp>
        <p:nvSpPr>
          <p:cNvPr id="4" name="Rezervirano mjesto podnožj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Rezervirano mjesto broja slajd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F5421-EB5A-4BDF-9068-22A3D693F639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365252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F09DF9-2331-40B1-8AF0-8418F3307473}" type="datetimeFigureOut">
              <a:rPr lang="hr-HR" smtClean="0"/>
              <a:t>12.7.2017.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116CC2-0CB1-4D77-989D-B367874660F1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75112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36842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Stavit</a:t>
            </a:r>
            <a:r>
              <a:rPr lang="hr-HR" baseline="0" dirty="0"/>
              <a:t> aplikaciju u širi kontekst</a:t>
            </a:r>
          </a:p>
          <a:p>
            <a:endParaRPr lang="hr-HR" baseline="0" dirty="0"/>
          </a:p>
          <a:p>
            <a:r>
              <a:rPr lang="hr-HR" baseline="0"/>
              <a:t>Srž su korišteni algoritmi</a:t>
            </a:r>
            <a:endParaRPr lang="hr-HR" baseline="0" dirty="0"/>
          </a:p>
          <a:p>
            <a:endParaRPr lang="hr-HR" baseline="0" dirty="0"/>
          </a:p>
          <a:p>
            <a:r>
              <a:rPr lang="hr-HR" baseline="0" dirty="0"/>
              <a:t>Komentirati rezultate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90573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Da bi se</a:t>
            </a:r>
            <a:r>
              <a:rPr lang="hr-HR" baseline="0" dirty="0"/>
              <a:t> ova aplikacija mogla koristiti potrebno je da učitelj ili </a:t>
            </a:r>
            <a:r>
              <a:rPr lang="hr-HR" baseline="0" dirty="0" err="1"/>
              <a:t>bilokoja</a:t>
            </a:r>
            <a:r>
              <a:rPr lang="hr-HR" baseline="0" dirty="0"/>
              <a:t> osoba koristeći …</a:t>
            </a:r>
          </a:p>
          <a:p>
            <a:endParaRPr lang="hr-HR" dirty="0"/>
          </a:p>
          <a:p>
            <a:r>
              <a:rPr lang="hr-HR" dirty="0"/>
              <a:t>Autor</a:t>
            </a:r>
            <a:r>
              <a:rPr lang="hr-HR" baseline="0" dirty="0"/>
              <a:t> omogućuje gradnju lekcije preko slajdova i </a:t>
            </a:r>
            <a:r>
              <a:rPr lang="hr-HR" baseline="0" dirty="0" err="1"/>
              <a:t>importanjem</a:t>
            </a:r>
            <a:r>
              <a:rPr lang="hr-HR" baseline="0" dirty="0"/>
              <a:t> vanjskih aplikacija. </a:t>
            </a:r>
          </a:p>
          <a:p>
            <a:endParaRPr lang="hr-HR" dirty="0"/>
          </a:p>
          <a:p>
            <a:r>
              <a:rPr lang="hr-HR" dirty="0"/>
              <a:t>Nekonvencionalni</a:t>
            </a:r>
            <a:r>
              <a:rPr lang="hr-HR" baseline="0" dirty="0"/>
              <a:t> uvid prilikom rješavanja virtualnih lekcija.</a:t>
            </a:r>
          </a:p>
          <a:p>
            <a:endParaRPr lang="hr-HR" baseline="0" dirty="0"/>
          </a:p>
          <a:p>
            <a:r>
              <a:rPr lang="hr-HR" baseline="0" dirty="0"/>
              <a:t>Obraditi podatke i prikazati u čovjeku </a:t>
            </a:r>
            <a:r>
              <a:rPr lang="hr-HR" b="1" baseline="0" dirty="0"/>
              <a:t>razumljivom </a:t>
            </a:r>
            <a:r>
              <a:rPr lang="hr-HR" b="0" baseline="0" dirty="0"/>
              <a:t>obliku.</a:t>
            </a:r>
          </a:p>
          <a:p>
            <a:endParaRPr lang="hr-HR" b="0" baseline="0" dirty="0"/>
          </a:p>
          <a:p>
            <a:r>
              <a:rPr lang="hr-HR" b="0" baseline="0" dirty="0"/>
              <a:t>Učitelji na </a:t>
            </a:r>
            <a:r>
              <a:rPr lang="hr-HR" b="1" baseline="0" dirty="0">
                <a:solidFill>
                  <a:srgbClr val="FF0000"/>
                </a:solidFill>
              </a:rPr>
              <a:t>zamjeni</a:t>
            </a:r>
            <a:endParaRPr lang="hr-HR" dirty="0">
              <a:solidFill>
                <a:srgbClr val="FF0000"/>
              </a:solidFill>
            </a:endParaRP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465091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Učenici</a:t>
            </a:r>
            <a:r>
              <a:rPr lang="hr-HR" baseline="0" dirty="0"/>
              <a:t> se stavljaju u stresnu situaciju, u kojoj je potrebna brzina i preciznost.</a:t>
            </a:r>
          </a:p>
          <a:p>
            <a:endParaRPr lang="hr-HR" baseline="0" dirty="0"/>
          </a:p>
          <a:p>
            <a:r>
              <a:rPr lang="hr-HR" baseline="0" dirty="0"/>
              <a:t>Rad u timu.</a:t>
            </a:r>
          </a:p>
          <a:p>
            <a:endParaRPr lang="hr-HR" baseline="0" dirty="0"/>
          </a:p>
          <a:p>
            <a:r>
              <a:rPr lang="hr-HR" dirty="0"/>
              <a:t>Neuobičajen</a:t>
            </a:r>
            <a:r>
              <a:rPr lang="hr-HR" baseline="0" dirty="0"/>
              <a:t> način rješavanja</a:t>
            </a:r>
          </a:p>
          <a:p>
            <a:endParaRPr lang="hr-HR" dirty="0"/>
          </a:p>
          <a:p>
            <a:r>
              <a:rPr lang="hr-HR" baseline="0" dirty="0"/>
              <a:t>Bilo bi zanimljivo vidjeti postoji li </a:t>
            </a:r>
            <a:r>
              <a:rPr lang="hr-HR" b="1" baseline="0" dirty="0"/>
              <a:t>korelacija</a:t>
            </a:r>
            <a:r>
              <a:rPr lang="hr-HR" baseline="0" dirty="0"/>
              <a:t> među tipovima lekcija i sa pozadinskim podacima učenika poput akademskog uspjeha, poticaja obitelji, radnih navika i drugih.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01363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aseline="0" dirty="0"/>
              <a:t>Pod učenje težina smatra se </a:t>
            </a:r>
            <a:r>
              <a:rPr lang="hr-HR" b="1" baseline="0" dirty="0"/>
              <a:t>dodjeljivanje realnog broja </a:t>
            </a:r>
            <a:r>
              <a:rPr lang="hr-HR" baseline="0" dirty="0"/>
              <a:t>zadacima koji predstavlja težinu, ili lakoću zadatka i na taj način omogućuje nekonvencionalno ocjenjivanje učenika</a:t>
            </a:r>
            <a:r>
              <a:rPr lang="hr-HR" baseline="0"/>
              <a:t>. Više o tome će biti na sljedećem slajdu. Pod evaluacijom učenika smatra se dodjeljivanje realnog broja učeniku koji predstavlja uspješnost ili dobrotu učenika u rješavanju lekcija. Kao što ćemo vidjeti, evaluacija učenika jedio učenja težina.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17784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Težine</a:t>
            </a:r>
            <a:r>
              <a:rPr lang="hr-HR" baseline="0" dirty="0"/>
              <a:t> su iz raspona 0, 1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29861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Stvarno računanje bodova na ispitu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6034057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aseline="0" dirty="0"/>
              <a:t>  </a:t>
            </a:r>
            <a:r>
              <a:rPr lang="hr-HR" b="1" baseline="0" dirty="0"/>
              <a:t>Dobrote</a:t>
            </a:r>
            <a:r>
              <a:rPr lang="hr-HR" baseline="0" dirty="0"/>
              <a:t> na isti </a:t>
            </a:r>
            <a:r>
              <a:rPr lang="hr-HR" baseline="0" dirty="0" err="1"/>
              <a:t>naćin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63720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93739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Gotovi smo s učenjem težina.</a:t>
            </a:r>
            <a:r>
              <a:rPr lang="hr-HR" baseline="0" dirty="0"/>
              <a:t> Jednom kad imamo težine zadataka, dobrote učenika se sada i u budućnosti računaju s već prikazanim izrazom.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109052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98697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619456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563615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141772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16CC2-0CB1-4D77-989D-B367874660F1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5812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4500A0-63A4-4CC8-93F8-0B876C651E4B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519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r-HR" dirty="0"/>
              <a:t>Uredite stilove teksta matrice</a:t>
            </a:r>
          </a:p>
          <a:p>
            <a:pPr lvl="1"/>
            <a:r>
              <a:rPr lang="hr-HR" dirty="0"/>
              <a:t>Druga razina</a:t>
            </a:r>
          </a:p>
          <a:p>
            <a:pPr lvl="2"/>
            <a:r>
              <a:rPr lang="hr-HR" dirty="0"/>
              <a:t>Treća razina</a:t>
            </a:r>
          </a:p>
          <a:p>
            <a:pPr lvl="3"/>
            <a:r>
              <a:rPr lang="hr-HR" dirty="0"/>
              <a:t>Četvrta razina</a:t>
            </a:r>
          </a:p>
          <a:p>
            <a:pPr lvl="4"/>
            <a:r>
              <a:rPr lang="hr-HR" dirty="0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89212" y="6130537"/>
            <a:ext cx="1146283" cy="370396"/>
          </a:xfrm>
        </p:spPr>
        <p:txBody>
          <a:bodyPr/>
          <a:lstStyle/>
          <a:p>
            <a:fld id="{5158170C-DB7D-4464-BDA2-88D287F6C038}" type="datetime1">
              <a:rPr lang="hr-HR" smtClean="0"/>
              <a:t>12.7.2017.</a:t>
            </a:fld>
            <a:endParaRPr lang="hr-H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30869" y="6135808"/>
            <a:ext cx="6278342" cy="365125"/>
          </a:xfrm>
        </p:spPr>
        <p:txBody>
          <a:bodyPr/>
          <a:lstStyle/>
          <a:p>
            <a:endParaRPr lang="hr-HR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61612" y="6139822"/>
            <a:ext cx="642719" cy="365125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fld id="{B9A04B74-08D3-4235-B2EE-FA9FC8104C24}" type="slidenum">
              <a:rPr lang="hr-HR" smtClean="0"/>
              <a:pPr/>
              <a:t>‹#›</a:t>
            </a:fld>
            <a:endParaRPr lang="hr-HR" dirty="0"/>
          </a:p>
        </p:txBody>
      </p:sp>
      <p:sp>
        <p:nvSpPr>
          <p:cNvPr id="7" name="TekstniOkvir 6"/>
          <p:cNvSpPr txBox="1"/>
          <p:nvPr userDrawn="1"/>
        </p:nvSpPr>
        <p:spPr>
          <a:xfrm>
            <a:off x="10878207" y="6130537"/>
            <a:ext cx="662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/ 15</a:t>
            </a:r>
          </a:p>
        </p:txBody>
      </p:sp>
    </p:spTree>
    <p:extLst>
      <p:ext uri="{BB962C8B-B14F-4D97-AF65-F5344CB8AC3E}">
        <p14:creationId xmlns:p14="http://schemas.microsoft.com/office/powerpoint/2010/main" val="20724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F65CF-71B7-4583-B176-AF82EF7E1259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3498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56983-4060-4392-A540-9478F4DD306D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546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AAD3-2C3B-409B-9D21-BA737B90EF98}" type="datetime1">
              <a:rPr lang="hr-HR" smtClean="0"/>
              <a:t>12.7.2017.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8581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ACC6F-1094-4B8B-A68B-9BFB61F23A41}" type="datetime1">
              <a:rPr lang="hr-HR" smtClean="0"/>
              <a:t>12.7.2017.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0652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15696-C074-4A9F-84DB-F58D64942585}" type="datetime1">
              <a:rPr lang="hr-HR" smtClean="0"/>
              <a:t>12.7.2017.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1260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CFC5F-B82A-44E0-A124-339A05F87481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50665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23EFC-6F79-4E4A-B0B4-8D6D925BDABE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390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slov i o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CFD3D-24D6-4348-A483-AE8C4B356E77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68619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97BD7-E284-4CBB-B127-12A84F631B69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78993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38E6C-04F9-4B9E-9CC9-E48F19EE57A6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977935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ica s nazivom cit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183C-602E-4A0C-BD44-DF8CDBCFE4DB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4237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ili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r-HR"/>
              <a:t>Uredite stilove teksta matrice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r-HR"/>
              <a:t>Uredite stilove teksta matrice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7886B-4A1E-4C7B-AAED-FC711FF9DF08}" type="datetime1">
              <a:rPr lang="hr-HR" smtClean="0"/>
              <a:t>12.7.2017.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963095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0C1B4-DDC9-4C09-AFA6-73E25A3AEF97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05219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81FF4-2098-4BCA-AC8D-2FFA66FD0092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84049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r-HR"/>
              <a:t>Uredite stil naslova matrice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Uredite stilove teksta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92A9A-7312-4095-80CF-AA2E329C9CEB}" type="datetime1">
              <a:rPr lang="hr-HR" smtClean="0"/>
              <a:t>12.7.2017.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9A04B74-08D3-4235-B2EE-FA9FC8104C24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650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4.png"/><Relationship Id="rId10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2589213" y="1674628"/>
            <a:ext cx="9202294" cy="2262781"/>
          </a:xfrm>
        </p:spPr>
        <p:txBody>
          <a:bodyPr>
            <a:noAutofit/>
          </a:bodyPr>
          <a:lstStyle/>
          <a:p>
            <a:r>
              <a:rPr lang="hr-HR" sz="3800" dirty="0"/>
              <a:t>Izrada aplikacije za analitiku i predviđanje rezultata učenja temeljene na inteligentnim algoritmima</a:t>
            </a:r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2589213" y="5160151"/>
            <a:ext cx="8915399" cy="1126283"/>
          </a:xfrm>
        </p:spPr>
        <p:txBody>
          <a:bodyPr/>
          <a:lstStyle/>
          <a:p>
            <a:r>
              <a:rPr lang="hr-HR" dirty="0"/>
              <a:t>Student: Roko Krstulović</a:t>
            </a:r>
          </a:p>
          <a:p>
            <a:r>
              <a:rPr lang="hr-HR" dirty="0"/>
              <a:t>Mentor: doc. sr. Sc Ivica </a:t>
            </a:r>
            <a:r>
              <a:rPr lang="hr-HR" dirty="0" err="1"/>
              <a:t>Botički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720484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Sadržaj obrane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982410"/>
          </a:xfrm>
        </p:spPr>
        <p:txBody>
          <a:bodyPr/>
          <a:lstStyle/>
          <a:p>
            <a:r>
              <a:rPr lang="hr-HR" dirty="0"/>
              <a:t>Pozadina i širi kontekst aplikacije</a:t>
            </a:r>
          </a:p>
          <a:p>
            <a:r>
              <a:rPr lang="hr-HR" dirty="0"/>
              <a:t>Arhitektura aplikacije</a:t>
            </a:r>
          </a:p>
          <a:p>
            <a:r>
              <a:rPr lang="hr-HR" dirty="0"/>
              <a:t>Korišteni algoritmi</a:t>
            </a:r>
          </a:p>
          <a:p>
            <a:r>
              <a:rPr lang="hr-HR" dirty="0"/>
              <a:t>Vizualizacije rezultata</a:t>
            </a:r>
          </a:p>
          <a:p>
            <a:r>
              <a:rPr lang="hr-HR" dirty="0"/>
              <a:t>Rezultati</a:t>
            </a:r>
          </a:p>
          <a:p>
            <a:r>
              <a:rPr lang="hr-HR" dirty="0"/>
              <a:t>Pitanja</a:t>
            </a:r>
          </a:p>
          <a:p>
            <a:endParaRPr lang="hr-HR" dirty="0"/>
          </a:p>
        </p:txBody>
      </p:sp>
      <p:sp>
        <p:nvSpPr>
          <p:cNvPr id="8" name="Rezervirano mjesto broja slajda 7"/>
          <p:cNvSpPr>
            <a:spLocks noGrp="1"/>
          </p:cNvSpPr>
          <p:nvPr>
            <p:ph type="sldNum" sz="quarter" idx="12"/>
          </p:nvPr>
        </p:nvSpPr>
        <p:spPr>
          <a:xfrm>
            <a:off x="9956498" y="6139823"/>
            <a:ext cx="1047123" cy="365125"/>
          </a:xfrm>
        </p:spPr>
        <p:txBody>
          <a:bodyPr/>
          <a:lstStyle/>
          <a:p>
            <a:fld id="{B9A04B74-08D3-4235-B2EE-FA9FC8104C24}" type="slidenum">
              <a:rPr lang="hr-HR" smtClean="0">
                <a:solidFill>
                  <a:schemeClr val="tx1"/>
                </a:solidFill>
              </a:rPr>
              <a:t>2</a:t>
            </a:fld>
            <a:endParaRPr lang="hr-H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14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Širi kontekst aplikacije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3</a:t>
            </a:fld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4822" y="2727929"/>
            <a:ext cx="1968540" cy="1428463"/>
          </a:xfrm>
          <a:prstGeom prst="rect">
            <a:avLst/>
          </a:prstGeom>
        </p:spPr>
      </p:pic>
      <p:pic>
        <p:nvPicPr>
          <p:cNvPr id="27" name="Slika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330" y="2965815"/>
            <a:ext cx="2031174" cy="1030072"/>
          </a:xfrm>
          <a:prstGeom prst="rect">
            <a:avLst/>
          </a:prstGeom>
        </p:spPr>
      </p:pic>
      <p:pic>
        <p:nvPicPr>
          <p:cNvPr id="28" name="Slika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981" y="2479670"/>
            <a:ext cx="1711321" cy="2002362"/>
          </a:xfrm>
          <a:prstGeom prst="rect">
            <a:avLst/>
          </a:prstGeom>
        </p:spPr>
      </p:pic>
      <p:sp>
        <p:nvSpPr>
          <p:cNvPr id="29" name="TekstniOkvir 28"/>
          <p:cNvSpPr txBox="1"/>
          <p:nvPr/>
        </p:nvSpPr>
        <p:spPr>
          <a:xfrm>
            <a:off x="1398055" y="4892326"/>
            <a:ext cx="156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/>
              <a:t>Author</a:t>
            </a:r>
            <a:endParaRPr lang="hr-HR" dirty="0"/>
          </a:p>
        </p:txBody>
      </p:sp>
      <p:sp>
        <p:nvSpPr>
          <p:cNvPr id="30" name="TekstniOkvir 29"/>
          <p:cNvSpPr txBox="1"/>
          <p:nvPr/>
        </p:nvSpPr>
        <p:spPr>
          <a:xfrm>
            <a:off x="3939898" y="4892326"/>
            <a:ext cx="177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Eksperiment</a:t>
            </a:r>
          </a:p>
        </p:txBody>
      </p:sp>
      <p:sp>
        <p:nvSpPr>
          <p:cNvPr id="32" name="TekstniOkvir 31"/>
          <p:cNvSpPr txBox="1"/>
          <p:nvPr/>
        </p:nvSpPr>
        <p:spPr>
          <a:xfrm>
            <a:off x="6763390" y="4892326"/>
            <a:ext cx="111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Podaci</a:t>
            </a:r>
          </a:p>
        </p:txBody>
      </p:sp>
      <p:pic>
        <p:nvPicPr>
          <p:cNvPr id="35" name="Slika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9318" y="1656595"/>
            <a:ext cx="2321781" cy="3648513"/>
          </a:xfrm>
          <a:prstGeom prst="rect">
            <a:avLst/>
          </a:prstGeom>
        </p:spPr>
      </p:pic>
      <p:sp>
        <p:nvSpPr>
          <p:cNvPr id="36" name="TekstniOkvir 35"/>
          <p:cNvSpPr txBox="1"/>
          <p:nvPr/>
        </p:nvSpPr>
        <p:spPr>
          <a:xfrm>
            <a:off x="9081714" y="4892326"/>
            <a:ext cx="1816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Vizualni prikaz</a:t>
            </a:r>
          </a:p>
        </p:txBody>
      </p:sp>
      <p:cxnSp>
        <p:nvCxnSpPr>
          <p:cNvPr id="38" name="Ravni poveznik sa strelicom 37"/>
          <p:cNvCxnSpPr/>
          <p:nvPr/>
        </p:nvCxnSpPr>
        <p:spPr>
          <a:xfrm flipV="1">
            <a:off x="3325869" y="3480851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avni poveznik sa strelicom 38"/>
          <p:cNvCxnSpPr/>
          <p:nvPr/>
        </p:nvCxnSpPr>
        <p:spPr>
          <a:xfrm flipV="1">
            <a:off x="6036785" y="3442160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Ravni poveznik sa strelicom 39"/>
          <p:cNvCxnSpPr/>
          <p:nvPr/>
        </p:nvCxnSpPr>
        <p:spPr>
          <a:xfrm flipV="1">
            <a:off x="8433165" y="3442160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lipsa 41"/>
          <p:cNvSpPr/>
          <p:nvPr/>
        </p:nvSpPr>
        <p:spPr>
          <a:xfrm>
            <a:off x="8354303" y="3274828"/>
            <a:ext cx="540000" cy="3721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05784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Lekcije 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2196878" y="2137975"/>
            <a:ext cx="3302303" cy="366532"/>
          </a:xfrm>
        </p:spPr>
        <p:txBody>
          <a:bodyPr>
            <a:normAutofit/>
          </a:bodyPr>
          <a:lstStyle/>
          <a:p>
            <a:r>
              <a:rPr lang="hr-HR" dirty="0"/>
              <a:t>Kompetitivne lekcije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4</a:t>
            </a:fld>
            <a:endParaRPr lang="hr-HR" dirty="0"/>
          </a:p>
        </p:txBody>
      </p:sp>
      <p:sp>
        <p:nvSpPr>
          <p:cNvPr id="6" name="Rezervirano mjesto sadržaja 2"/>
          <p:cNvSpPr txBox="1">
            <a:spLocks/>
          </p:cNvSpPr>
          <p:nvPr/>
        </p:nvSpPr>
        <p:spPr>
          <a:xfrm>
            <a:off x="2196877" y="2682988"/>
            <a:ext cx="3302304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Kolaborativne lekcije</a:t>
            </a:r>
          </a:p>
        </p:txBody>
      </p:sp>
      <p:sp>
        <p:nvSpPr>
          <p:cNvPr id="7" name="Rezervirano mjesto sadržaja 2"/>
          <p:cNvSpPr txBox="1">
            <a:spLocks/>
          </p:cNvSpPr>
          <p:nvPr/>
        </p:nvSpPr>
        <p:spPr>
          <a:xfrm>
            <a:off x="2203215" y="3273232"/>
            <a:ext cx="3468379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>
                <a:latin typeface="Century Gothic (tijelo)"/>
              </a:rPr>
              <a:t>Lekcije proširene stvarnosti</a:t>
            </a:r>
          </a:p>
        </p:txBody>
      </p:sp>
      <p:pic>
        <p:nvPicPr>
          <p:cNvPr id="9" name="Slika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478" y="1713375"/>
            <a:ext cx="5137133" cy="3855259"/>
          </a:xfrm>
          <a:prstGeom prst="rect">
            <a:avLst/>
          </a:prstGeom>
        </p:spPr>
      </p:pic>
      <p:pic>
        <p:nvPicPr>
          <p:cNvPr id="11" name="Slika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458" y="1847622"/>
            <a:ext cx="6005034" cy="3002517"/>
          </a:xfrm>
          <a:prstGeom prst="rect">
            <a:avLst/>
          </a:prstGeom>
        </p:spPr>
      </p:pic>
      <p:pic>
        <p:nvPicPr>
          <p:cNvPr id="13" name="Slika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0185" y="1841434"/>
            <a:ext cx="5903580" cy="3299857"/>
          </a:xfrm>
          <a:prstGeom prst="rect">
            <a:avLst/>
          </a:prstGeom>
        </p:spPr>
      </p:pic>
      <p:sp>
        <p:nvSpPr>
          <p:cNvPr id="15" name="TekstniOkvir 14"/>
          <p:cNvSpPr txBox="1"/>
          <p:nvPr/>
        </p:nvSpPr>
        <p:spPr>
          <a:xfrm>
            <a:off x="1724628" y="1574157"/>
            <a:ext cx="2129742" cy="382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/>
              <a:t>Vrste lekcija:</a:t>
            </a:r>
          </a:p>
        </p:txBody>
      </p:sp>
      <p:sp>
        <p:nvSpPr>
          <p:cNvPr id="16" name="TekstniOkvir 15"/>
          <p:cNvSpPr txBox="1"/>
          <p:nvPr/>
        </p:nvSpPr>
        <p:spPr>
          <a:xfrm>
            <a:off x="1724628" y="4406202"/>
            <a:ext cx="1898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b="1" dirty="0"/>
              <a:t>Zabilješke:</a:t>
            </a:r>
          </a:p>
        </p:txBody>
      </p:sp>
      <p:sp>
        <p:nvSpPr>
          <p:cNvPr id="17" name="Rezervirano mjesto sadržaja 2"/>
          <p:cNvSpPr txBox="1">
            <a:spLocks/>
          </p:cNvSpPr>
          <p:nvPr/>
        </p:nvSpPr>
        <p:spPr>
          <a:xfrm>
            <a:off x="2203218" y="4775534"/>
            <a:ext cx="3468377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Posebne za svaku lekciju</a:t>
            </a:r>
          </a:p>
        </p:txBody>
      </p:sp>
      <p:sp>
        <p:nvSpPr>
          <p:cNvPr id="18" name="Rezervirano mjesto sadržaja 2"/>
          <p:cNvSpPr txBox="1">
            <a:spLocks/>
          </p:cNvSpPr>
          <p:nvPr/>
        </p:nvSpPr>
        <p:spPr>
          <a:xfrm>
            <a:off x="2203217" y="5311797"/>
            <a:ext cx="3584125" cy="3665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Pohranjeni u bazi podataka</a:t>
            </a:r>
          </a:p>
        </p:txBody>
      </p:sp>
      <p:sp>
        <p:nvSpPr>
          <p:cNvPr id="19" name="Rezervirano mjesto sadržaja 2"/>
          <p:cNvSpPr txBox="1">
            <a:spLocks/>
          </p:cNvSpPr>
          <p:nvPr/>
        </p:nvSpPr>
        <p:spPr>
          <a:xfrm>
            <a:off x="2203217" y="5798474"/>
            <a:ext cx="3302303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JSON</a:t>
            </a:r>
          </a:p>
        </p:txBody>
      </p:sp>
      <p:pic>
        <p:nvPicPr>
          <p:cNvPr id="20" name="Slika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6449" y="1905000"/>
            <a:ext cx="6140362" cy="3510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49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7" grpId="0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Arhitektura aplikacije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5</a:t>
            </a:fld>
            <a:endParaRPr lang="hr-HR" dirty="0"/>
          </a:p>
        </p:txBody>
      </p:sp>
      <p:pic>
        <p:nvPicPr>
          <p:cNvPr id="5" name="Slika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523" y="2542734"/>
            <a:ext cx="1968540" cy="1428463"/>
          </a:xfrm>
          <a:prstGeom prst="rect">
            <a:avLst/>
          </a:prstGeom>
        </p:spPr>
      </p:pic>
      <p:pic>
        <p:nvPicPr>
          <p:cNvPr id="6" name="Slika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031" y="2780620"/>
            <a:ext cx="2031174" cy="1030072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682" y="2294475"/>
            <a:ext cx="1711321" cy="2002362"/>
          </a:xfrm>
          <a:prstGeom prst="rect">
            <a:avLst/>
          </a:prstGeom>
        </p:spPr>
      </p:pic>
      <p:sp>
        <p:nvSpPr>
          <p:cNvPr id="8" name="TekstniOkvir 7"/>
          <p:cNvSpPr txBox="1"/>
          <p:nvPr/>
        </p:nvSpPr>
        <p:spPr>
          <a:xfrm>
            <a:off x="1351756" y="4707131"/>
            <a:ext cx="1562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err="1"/>
              <a:t>Author</a:t>
            </a:r>
            <a:endParaRPr lang="hr-HR" dirty="0"/>
          </a:p>
        </p:txBody>
      </p:sp>
      <p:sp>
        <p:nvSpPr>
          <p:cNvPr id="9" name="TekstniOkvir 8"/>
          <p:cNvSpPr txBox="1"/>
          <p:nvPr/>
        </p:nvSpPr>
        <p:spPr>
          <a:xfrm>
            <a:off x="3893599" y="4707131"/>
            <a:ext cx="1771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Eksperiment</a:t>
            </a:r>
          </a:p>
        </p:txBody>
      </p:sp>
      <p:sp>
        <p:nvSpPr>
          <p:cNvPr id="10" name="TekstniOkvir 9"/>
          <p:cNvSpPr txBox="1"/>
          <p:nvPr/>
        </p:nvSpPr>
        <p:spPr>
          <a:xfrm>
            <a:off x="6717091" y="4707131"/>
            <a:ext cx="1115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Podaci</a:t>
            </a:r>
          </a:p>
        </p:txBody>
      </p:sp>
      <p:pic>
        <p:nvPicPr>
          <p:cNvPr id="11" name="Slika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3019" y="1471400"/>
            <a:ext cx="2321781" cy="3648513"/>
          </a:xfrm>
          <a:prstGeom prst="rect">
            <a:avLst/>
          </a:prstGeom>
        </p:spPr>
      </p:pic>
      <p:sp>
        <p:nvSpPr>
          <p:cNvPr id="12" name="TekstniOkvir 11"/>
          <p:cNvSpPr txBox="1"/>
          <p:nvPr/>
        </p:nvSpPr>
        <p:spPr>
          <a:xfrm>
            <a:off x="9035415" y="4707131"/>
            <a:ext cx="1816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/>
              <a:t>Vizualni prikaz</a:t>
            </a:r>
          </a:p>
        </p:txBody>
      </p:sp>
      <p:cxnSp>
        <p:nvCxnSpPr>
          <p:cNvPr id="13" name="Ravni poveznik sa strelicom 12"/>
          <p:cNvCxnSpPr/>
          <p:nvPr/>
        </p:nvCxnSpPr>
        <p:spPr>
          <a:xfrm flipV="1">
            <a:off x="3279570" y="3295656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avni poveznik sa strelicom 13"/>
          <p:cNvCxnSpPr/>
          <p:nvPr/>
        </p:nvCxnSpPr>
        <p:spPr>
          <a:xfrm flipV="1">
            <a:off x="5990486" y="3256965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avni poveznik sa strelicom 14"/>
          <p:cNvCxnSpPr/>
          <p:nvPr/>
        </p:nvCxnSpPr>
        <p:spPr>
          <a:xfrm flipV="1">
            <a:off x="8386866" y="3256965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a 16"/>
          <p:cNvSpPr/>
          <p:nvPr/>
        </p:nvSpPr>
        <p:spPr>
          <a:xfrm>
            <a:off x="1181121" y="2179320"/>
            <a:ext cx="1098052" cy="660722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18" name="Pravokutnik 17"/>
          <p:cNvSpPr/>
          <p:nvPr/>
        </p:nvSpPr>
        <p:spPr>
          <a:xfrm>
            <a:off x="2873533" y="2136301"/>
            <a:ext cx="1569720" cy="7467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Preuzimanje</a:t>
            </a:r>
          </a:p>
        </p:txBody>
      </p:sp>
      <p:sp>
        <p:nvSpPr>
          <p:cNvPr id="19" name="Pravokutnik 18"/>
          <p:cNvSpPr/>
          <p:nvPr/>
        </p:nvSpPr>
        <p:spPr>
          <a:xfrm>
            <a:off x="5037613" y="2103120"/>
            <a:ext cx="1752600" cy="7467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Pred-obrada podataka</a:t>
            </a:r>
          </a:p>
        </p:txBody>
      </p:sp>
      <p:sp>
        <p:nvSpPr>
          <p:cNvPr id="20" name="Pravokutnik 19"/>
          <p:cNvSpPr/>
          <p:nvPr/>
        </p:nvSpPr>
        <p:spPr>
          <a:xfrm>
            <a:off x="7384573" y="2103120"/>
            <a:ext cx="1752600" cy="74676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Obrada podataka</a:t>
            </a:r>
          </a:p>
        </p:txBody>
      </p:sp>
      <p:sp>
        <p:nvSpPr>
          <p:cNvPr id="21" name="Elipsa 20"/>
          <p:cNvSpPr/>
          <p:nvPr/>
        </p:nvSpPr>
        <p:spPr>
          <a:xfrm>
            <a:off x="9731533" y="2057400"/>
            <a:ext cx="1902876" cy="8382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Prikaz podataka</a:t>
            </a:r>
          </a:p>
        </p:txBody>
      </p:sp>
      <p:cxnSp>
        <p:nvCxnSpPr>
          <p:cNvPr id="22" name="Ravni poveznik sa strelicom 21"/>
          <p:cNvCxnSpPr/>
          <p:nvPr/>
        </p:nvCxnSpPr>
        <p:spPr>
          <a:xfrm flipV="1">
            <a:off x="2401539" y="2509681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avni poveznik sa strelicom 22"/>
          <p:cNvCxnSpPr/>
          <p:nvPr/>
        </p:nvCxnSpPr>
        <p:spPr>
          <a:xfrm flipV="1">
            <a:off x="4549047" y="2520313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Ravni poveznik sa strelicom 23"/>
          <p:cNvCxnSpPr/>
          <p:nvPr/>
        </p:nvCxnSpPr>
        <p:spPr>
          <a:xfrm flipV="1">
            <a:off x="6896007" y="2530945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Ravni poveznik sa strelicom 24"/>
          <p:cNvCxnSpPr/>
          <p:nvPr/>
        </p:nvCxnSpPr>
        <p:spPr>
          <a:xfrm flipV="1">
            <a:off x="9242967" y="2499049"/>
            <a:ext cx="382772" cy="106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Pravokutnik 25"/>
          <p:cNvSpPr/>
          <p:nvPr/>
        </p:nvSpPr>
        <p:spPr>
          <a:xfrm>
            <a:off x="2576706" y="4450080"/>
            <a:ext cx="2841468" cy="9601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Učenje težina lekcija</a:t>
            </a:r>
          </a:p>
        </p:txBody>
      </p:sp>
      <p:sp>
        <p:nvSpPr>
          <p:cNvPr id="27" name="Pravokutnik 26"/>
          <p:cNvSpPr/>
          <p:nvPr/>
        </p:nvSpPr>
        <p:spPr>
          <a:xfrm>
            <a:off x="6013765" y="4450080"/>
            <a:ext cx="2841468" cy="9601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>
                <a:solidFill>
                  <a:schemeClr val="tx1"/>
                </a:solidFill>
              </a:rPr>
              <a:t>Evaluacija učenika</a:t>
            </a:r>
          </a:p>
        </p:txBody>
      </p:sp>
      <p:sp>
        <p:nvSpPr>
          <p:cNvPr id="28" name="Pravokutnik 27"/>
          <p:cNvSpPr/>
          <p:nvPr/>
        </p:nvSpPr>
        <p:spPr>
          <a:xfrm>
            <a:off x="2118361" y="4236720"/>
            <a:ext cx="7345680" cy="1386840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>
              <a:solidFill>
                <a:schemeClr val="tx1"/>
              </a:solidFill>
            </a:endParaRPr>
          </a:p>
        </p:txBody>
      </p:sp>
      <p:sp>
        <p:nvSpPr>
          <p:cNvPr id="29" name="Strelica: lijevo-desno 28"/>
          <p:cNvSpPr/>
          <p:nvPr/>
        </p:nvSpPr>
        <p:spPr>
          <a:xfrm rot="19595316">
            <a:off x="6423049" y="3228421"/>
            <a:ext cx="1772859" cy="716280"/>
          </a:xfrm>
          <a:prstGeom prst="leftRight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30" name="Elipsa 29"/>
          <p:cNvSpPr/>
          <p:nvPr/>
        </p:nvSpPr>
        <p:spPr>
          <a:xfrm>
            <a:off x="8312173" y="3089838"/>
            <a:ext cx="540000" cy="372140"/>
          </a:xfrm>
          <a:prstGeom prst="ellipse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207509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Učenje težina zadataka 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6</a:t>
            </a:fld>
            <a:endParaRPr lang="hr-HR" dirty="0"/>
          </a:p>
        </p:txBody>
      </p:sp>
      <p:sp>
        <p:nvSpPr>
          <p:cNvPr id="6" name="Rezervirano mjesto sadržaja 2"/>
          <p:cNvSpPr>
            <a:spLocks noGrp="1"/>
          </p:cNvSpPr>
          <p:nvPr>
            <p:ph idx="1"/>
          </p:nvPr>
        </p:nvSpPr>
        <p:spPr>
          <a:xfrm>
            <a:off x="1918650" y="2669324"/>
            <a:ext cx="3302303" cy="366532"/>
          </a:xfrm>
        </p:spPr>
        <p:txBody>
          <a:bodyPr>
            <a:normAutofit/>
          </a:bodyPr>
          <a:lstStyle/>
          <a:p>
            <a:r>
              <a:rPr lang="hr-HR" dirty="0"/>
              <a:t>Ciklička ovisnost</a:t>
            </a:r>
          </a:p>
        </p:txBody>
      </p:sp>
      <p:sp>
        <p:nvSpPr>
          <p:cNvPr id="8" name="Rezervirano mjesto sadržaja 2"/>
          <p:cNvSpPr txBox="1">
            <a:spLocks/>
          </p:cNvSpPr>
          <p:nvPr/>
        </p:nvSpPr>
        <p:spPr>
          <a:xfrm>
            <a:off x="1918651" y="3519049"/>
            <a:ext cx="4332024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Metoda iterativne konvergencije</a:t>
            </a:r>
          </a:p>
        </p:txBody>
      </p:sp>
      <p:sp>
        <p:nvSpPr>
          <p:cNvPr id="14" name="Rezervirano mjesto sadržaja 2"/>
          <p:cNvSpPr txBox="1">
            <a:spLocks/>
          </p:cNvSpPr>
          <p:nvPr/>
        </p:nvSpPr>
        <p:spPr>
          <a:xfrm>
            <a:off x="6417839" y="1461268"/>
            <a:ext cx="3302303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Riješenost</a:t>
            </a:r>
          </a:p>
        </p:txBody>
      </p:sp>
      <p:sp>
        <p:nvSpPr>
          <p:cNvPr id="16" name="Rezervirano mjesto sadržaja 2"/>
          <p:cNvSpPr txBox="1">
            <a:spLocks/>
          </p:cNvSpPr>
          <p:nvPr/>
        </p:nvSpPr>
        <p:spPr>
          <a:xfrm>
            <a:off x="6417839" y="3087723"/>
            <a:ext cx="5428418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Preciznost riješenosti (vrijeme rješavanja, …)</a:t>
            </a:r>
          </a:p>
        </p:txBody>
      </p:sp>
      <p:sp>
        <p:nvSpPr>
          <p:cNvPr id="23" name="Rezervirano mjesto sadržaja 2"/>
          <p:cNvSpPr txBox="1">
            <a:spLocks/>
          </p:cNvSpPr>
          <p:nvPr/>
        </p:nvSpPr>
        <p:spPr>
          <a:xfrm>
            <a:off x="1918651" y="1461268"/>
            <a:ext cx="3302303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Težina zadatka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Pravokutnik 23"/>
              <p:cNvSpPr/>
              <p:nvPr/>
            </p:nvSpPr>
            <p:spPr>
              <a:xfrm>
                <a:off x="2447027" y="1868552"/>
                <a:ext cx="2575349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r-HR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hr-HR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r-HR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𝑟𝑎𝑠𝑝𝑜𝑛𝑎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[0, 1]</m:t>
                      </m:r>
                    </m:oMath>
                  </m:oMathPara>
                </a14:m>
                <a:endParaRPr lang="hr-HR" dirty="0"/>
              </a:p>
            </p:txBody>
          </p:sp>
        </mc:Choice>
        <mc:Fallback xmlns="">
          <p:sp>
            <p:nvSpPr>
              <p:cNvPr id="24" name="Pravokutnik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027" y="1868552"/>
                <a:ext cx="2575349" cy="369332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Pravokutnik 24"/>
              <p:cNvSpPr/>
              <p:nvPr/>
            </p:nvSpPr>
            <p:spPr>
              <a:xfrm>
                <a:off x="2460997" y="2265267"/>
                <a:ext cx="275995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r-HR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𝑙𝑎𝑔𝑎𝑛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, 0 −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𝑡𝑒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ž</m:t>
                      </m:r>
                      <m:r>
                        <a:rPr lang="hr-HR" b="0" i="1" smtClean="0">
                          <a:latin typeface="Cambria Math" panose="02040503050406030204" pitchFamily="18" charset="0"/>
                        </a:rPr>
                        <m:t>𝑎𝑘</m:t>
                      </m:r>
                    </m:oMath>
                  </m:oMathPara>
                </a14:m>
                <a:endParaRPr lang="hr-HR" dirty="0"/>
              </a:p>
            </p:txBody>
          </p:sp>
        </mc:Choice>
        <mc:Fallback xmlns="">
          <p:sp>
            <p:nvSpPr>
              <p:cNvPr id="25" name="Pravokutnik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997" y="2265267"/>
                <a:ext cx="2759956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Slika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996" y="4060117"/>
            <a:ext cx="3186771" cy="1525869"/>
          </a:xfrm>
          <a:prstGeom prst="rect">
            <a:avLst/>
          </a:prstGeom>
        </p:spPr>
      </p:pic>
      <p:pic>
        <p:nvPicPr>
          <p:cNvPr id="7" name="Slika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661" y="1767723"/>
            <a:ext cx="5376723" cy="1209434"/>
          </a:xfrm>
          <a:prstGeom prst="rect">
            <a:avLst/>
          </a:prstGeom>
        </p:spPr>
      </p:pic>
      <p:pic>
        <p:nvPicPr>
          <p:cNvPr id="9" name="Slika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896" y="4408916"/>
            <a:ext cx="4430361" cy="1588730"/>
          </a:xfrm>
          <a:prstGeom prst="rect">
            <a:avLst/>
          </a:prstGeom>
        </p:spPr>
      </p:pic>
      <p:pic>
        <p:nvPicPr>
          <p:cNvPr id="13" name="Slika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896" y="5997646"/>
            <a:ext cx="1987412" cy="367535"/>
          </a:xfrm>
          <a:prstGeom prst="rect">
            <a:avLst/>
          </a:prstGeom>
        </p:spPr>
      </p:pic>
      <p:pic>
        <p:nvPicPr>
          <p:cNvPr id="26" name="Slika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24950" y="3627018"/>
            <a:ext cx="4701794" cy="781898"/>
          </a:xfrm>
          <a:prstGeom prst="rect">
            <a:avLst/>
          </a:prstGeom>
        </p:spPr>
      </p:pic>
      <p:pic>
        <p:nvPicPr>
          <p:cNvPr id="27" name="Slika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0996" y="3071112"/>
            <a:ext cx="2386230" cy="46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35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8" grpId="0"/>
      <p:bldP spid="14" grpId="0"/>
      <p:bldP spid="16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Učenje težina (2)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7</a:t>
            </a:fld>
            <a:endParaRPr lang="hr-HR" dirty="0"/>
          </a:p>
        </p:txBody>
      </p:sp>
      <p:sp>
        <p:nvSpPr>
          <p:cNvPr id="7" name="Rezervirano mjesto sadržaja 2"/>
          <p:cNvSpPr txBox="1">
            <a:spLocks/>
          </p:cNvSpPr>
          <p:nvPr/>
        </p:nvSpPr>
        <p:spPr>
          <a:xfrm>
            <a:off x="1618567" y="1475308"/>
            <a:ext cx="4725990" cy="366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r-HR" dirty="0"/>
              <a:t>Metoda iterativne konvergencije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zervirano mjesto sadržaja 2"/>
              <p:cNvSpPr txBox="1">
                <a:spLocks/>
              </p:cNvSpPr>
              <p:nvPr/>
            </p:nvSpPr>
            <p:spPr>
              <a:xfrm>
                <a:off x="7643706" y="1475308"/>
                <a:ext cx="3360625" cy="366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hr-HR" dirty="0"/>
                  <a:t>Funkcija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hr-HR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hr-HR" dirty="0"/>
              </a:p>
            </p:txBody>
          </p:sp>
        </mc:Choice>
        <mc:Fallback xmlns="">
          <p:sp>
            <p:nvSpPr>
              <p:cNvPr id="12" name="Rezervirano mjesto sadržaja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706" y="1475308"/>
                <a:ext cx="3360625" cy="366532"/>
              </a:xfrm>
              <a:prstGeom prst="rect">
                <a:avLst/>
              </a:prstGeom>
              <a:blipFill>
                <a:blip r:embed="rId3"/>
                <a:stretch>
                  <a:fillRect l="-1270" t="-8333" b="-26667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zervirano mjesto sadržaja 2"/>
              <p:cNvSpPr txBox="1">
                <a:spLocks/>
              </p:cNvSpPr>
              <p:nvPr/>
            </p:nvSpPr>
            <p:spPr>
              <a:xfrm>
                <a:off x="7643706" y="3286183"/>
                <a:ext cx="3040585" cy="366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hr-HR" dirty="0"/>
                  <a:t>Funkcija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hr-H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hr-HR" dirty="0"/>
              </a:p>
            </p:txBody>
          </p:sp>
        </mc:Choice>
        <mc:Fallback xmlns="">
          <p:sp>
            <p:nvSpPr>
              <p:cNvPr id="16" name="Rezervirano mjesto sadržaja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706" y="3286183"/>
                <a:ext cx="3040585" cy="366532"/>
              </a:xfrm>
              <a:prstGeom prst="rect">
                <a:avLst/>
              </a:prstGeom>
              <a:blipFill>
                <a:blip r:embed="rId4"/>
                <a:stretch>
                  <a:fillRect l="-1403" t="-8333" b="-26667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Slika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7938" y="1940755"/>
            <a:ext cx="3649399" cy="1126832"/>
          </a:xfrm>
          <a:prstGeom prst="rect">
            <a:avLst/>
          </a:prstGeom>
        </p:spPr>
      </p:pic>
      <p:pic>
        <p:nvPicPr>
          <p:cNvPr id="14" name="Slika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4642" y="3844414"/>
            <a:ext cx="3546898" cy="1273245"/>
          </a:xfrm>
          <a:prstGeom prst="rect">
            <a:avLst/>
          </a:prstGeom>
        </p:spPr>
      </p:pic>
      <p:pic>
        <p:nvPicPr>
          <p:cNvPr id="13" name="Slika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41625" y="1940755"/>
            <a:ext cx="5559995" cy="449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86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Učenje težina (3)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8</a:t>
            </a:fld>
            <a:endParaRPr lang="hr-H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zervirano mjesto sadržaja 2"/>
              <p:cNvSpPr txBox="1">
                <a:spLocks/>
              </p:cNvSpPr>
              <p:nvPr/>
            </p:nvSpPr>
            <p:spPr>
              <a:xfrm>
                <a:off x="1577135" y="1721734"/>
                <a:ext cx="4725990" cy="366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hr-HR" dirty="0"/>
                  <a:t>Funkcija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r-H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hr-H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hr-HR" dirty="0"/>
              </a:p>
            </p:txBody>
          </p:sp>
        </mc:Choice>
        <mc:Fallback xmlns="">
          <p:sp>
            <p:nvSpPr>
              <p:cNvPr id="5" name="Rezervirano mjesto sadržaja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35" y="1721734"/>
                <a:ext cx="4725990" cy="366532"/>
              </a:xfrm>
              <a:prstGeom prst="rect">
                <a:avLst/>
              </a:prstGeom>
              <a:blipFill>
                <a:blip r:embed="rId3"/>
                <a:stretch>
                  <a:fillRect l="-903" t="-16393" b="-16393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Slika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395" y="1721734"/>
            <a:ext cx="4887936" cy="31627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zervirano mjesto sadržaja 2"/>
              <p:cNvSpPr txBox="1">
                <a:spLocks/>
              </p:cNvSpPr>
              <p:nvPr/>
            </p:nvSpPr>
            <p:spPr>
              <a:xfrm>
                <a:off x="1577135" y="5127400"/>
                <a:ext cx="4725990" cy="36653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342900" indent="-3429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ts val="1000"/>
                  </a:spcBef>
                  <a:spcAft>
                    <a:spcPts val="0"/>
                  </a:spcAft>
                  <a:buClr>
                    <a:schemeClr val="accent1"/>
                  </a:buClr>
                  <a:buFont typeface="Wingdings 3" charset="2"/>
                  <a:buChar char=""/>
                  <a:defRPr sz="12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hr-HR" dirty="0"/>
                  <a:t>Dobitak/gubitak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r-H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hr-H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r-H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hr-H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d>
                          <m:dPr>
                            <m:ctrlPr>
                              <a:rPr lang="hr-H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r-HR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sSub>
                          <m:sSubPr>
                            <m:ctrlPr>
                              <a:rPr lang="hr-H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r-HR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hr-H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hr-HR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r-HR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p>
                    </m:sSup>
                  </m:oMath>
                </a14:m>
                <a:r>
                  <a:rPr lang="hr-HR" dirty="0"/>
                  <a:t> </a:t>
                </a:r>
              </a:p>
            </p:txBody>
          </p:sp>
        </mc:Choice>
        <mc:Fallback xmlns="">
          <p:sp>
            <p:nvSpPr>
              <p:cNvPr id="12" name="Rezervirano mjesto sadržaja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135" y="5127400"/>
                <a:ext cx="4725990" cy="366532"/>
              </a:xfrm>
              <a:prstGeom prst="rect">
                <a:avLst/>
              </a:prstGeom>
              <a:blipFill>
                <a:blip r:embed="rId9"/>
                <a:stretch>
                  <a:fillRect l="-645" t="-6667" b="-16667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Slika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5258" y="2180871"/>
            <a:ext cx="1753033" cy="525910"/>
          </a:xfrm>
          <a:prstGeom prst="rect">
            <a:avLst/>
          </a:prstGeom>
        </p:spPr>
      </p:pic>
      <p:pic>
        <p:nvPicPr>
          <p:cNvPr id="8" name="Slika 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5258" y="2676351"/>
            <a:ext cx="2009575" cy="1818886"/>
          </a:xfrm>
          <a:prstGeom prst="rect">
            <a:avLst/>
          </a:prstGeom>
        </p:spPr>
      </p:pic>
      <p:pic>
        <p:nvPicPr>
          <p:cNvPr id="14" name="Slika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2742" y="5493931"/>
            <a:ext cx="5084217" cy="86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52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Učenje težina (</a:t>
            </a:r>
            <a:r>
              <a:rPr lang="hr-HR"/>
              <a:t>4)</a:t>
            </a:r>
            <a:endParaRPr lang="hr-HR" dirty="0">
              <a:solidFill>
                <a:srgbClr val="FF0000"/>
              </a:solidFill>
            </a:endParaRP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Konvergencija</a:t>
            </a:r>
          </a:p>
          <a:p>
            <a:pPr lvl="1"/>
            <a:r>
              <a:rPr lang="hr-HR" dirty="0"/>
              <a:t>Uvijek konvergira</a:t>
            </a:r>
          </a:p>
          <a:p>
            <a:pPr lvl="1"/>
            <a:r>
              <a:rPr lang="hr-HR" dirty="0"/>
              <a:t>Isti rezultat</a:t>
            </a:r>
          </a:p>
          <a:p>
            <a:endParaRPr lang="hr-HR" dirty="0"/>
          </a:p>
          <a:p>
            <a:r>
              <a:rPr lang="hr-HR" dirty="0"/>
              <a:t>Početne vrijednosti </a:t>
            </a:r>
          </a:p>
          <a:p>
            <a:endParaRPr lang="hr-HR" dirty="0"/>
          </a:p>
          <a:p>
            <a:r>
              <a:rPr lang="hr-HR" dirty="0"/>
              <a:t>Broj iteracija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9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516959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Evaluacija učenika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Koriste se naučene težine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10</a:t>
            </a:fld>
            <a:endParaRPr lang="hr-HR" dirty="0"/>
          </a:p>
        </p:txBody>
      </p:sp>
      <p:pic>
        <p:nvPicPr>
          <p:cNvPr id="8" name="Slika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202" y="2906424"/>
            <a:ext cx="5984991" cy="163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99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Vizualizacija profila učenika</a:t>
            </a:r>
          </a:p>
        </p:txBody>
      </p:sp>
      <p:pic>
        <p:nvPicPr>
          <p:cNvPr id="6" name="Rezervirano mjesto sadržaja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718" y="1905000"/>
            <a:ext cx="3268253" cy="3268253"/>
          </a:xfrm>
        </p:spPr>
      </p:pic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11</a:t>
            </a:fld>
            <a:endParaRPr lang="hr-HR" dirty="0"/>
          </a:p>
        </p:txBody>
      </p:sp>
      <p:pic>
        <p:nvPicPr>
          <p:cNvPr id="8" name="Slika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954" y="1905000"/>
            <a:ext cx="3761133" cy="376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428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Predikcija 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232476"/>
          </a:xfrm>
        </p:spPr>
        <p:txBody>
          <a:bodyPr>
            <a:normAutofit/>
          </a:bodyPr>
          <a:lstStyle/>
          <a:p>
            <a:r>
              <a:rPr lang="hr-HR" dirty="0"/>
              <a:t>Nelinearna regresija</a:t>
            </a:r>
          </a:p>
          <a:p>
            <a:pPr lvl="1"/>
            <a:r>
              <a:rPr lang="hr-HR" dirty="0"/>
              <a:t>Problem aproksimacije funkcije</a:t>
            </a:r>
          </a:p>
          <a:p>
            <a:pPr lvl="1"/>
            <a:r>
              <a:rPr lang="hr-HR" dirty="0" err="1"/>
              <a:t>Stanford</a:t>
            </a:r>
            <a:r>
              <a:rPr lang="hr-HR" dirty="0"/>
              <a:t>-B model</a:t>
            </a:r>
          </a:p>
          <a:p>
            <a:pPr lvl="1"/>
            <a:endParaRPr lang="hr-HR" dirty="0"/>
          </a:p>
          <a:p>
            <a:pPr lvl="1"/>
            <a:r>
              <a:rPr lang="hr-HR" dirty="0"/>
              <a:t>Parametri koje model uči:</a:t>
            </a:r>
          </a:p>
          <a:p>
            <a:pPr lvl="1"/>
            <a:endParaRPr lang="hr-HR" dirty="0"/>
          </a:p>
          <a:p>
            <a:pPr lvl="1"/>
            <a:endParaRPr lang="hr-HR" dirty="0"/>
          </a:p>
          <a:p>
            <a:pPr marL="457200" lvl="1" indent="0">
              <a:buNone/>
            </a:pPr>
            <a:endParaRPr lang="hr-HR" dirty="0"/>
          </a:p>
          <a:p>
            <a:pPr lvl="1"/>
            <a:r>
              <a:rPr lang="hr-HR" dirty="0"/>
              <a:t>Gradijentni spust </a:t>
            </a:r>
          </a:p>
          <a:p>
            <a:pPr lvl="1"/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12</a:t>
            </a:fld>
            <a:endParaRPr lang="hr-HR" dirty="0"/>
          </a:p>
        </p:txBody>
      </p:sp>
      <p:sp>
        <p:nvSpPr>
          <p:cNvPr id="6" name="Pravokutnik 5"/>
          <p:cNvSpPr/>
          <p:nvPr/>
        </p:nvSpPr>
        <p:spPr>
          <a:xfrm>
            <a:off x="3778613" y="4082757"/>
            <a:ext cx="1847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hr-H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ravokutnik 6"/>
              <p:cNvSpPr/>
              <p:nvPr/>
            </p:nvSpPr>
            <p:spPr>
              <a:xfrm>
                <a:off x="3778613" y="4003685"/>
                <a:ext cx="214263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r-HR" sz="16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hr-HR" sz="1600" dirty="0"/>
                  <a:t> – iskustvo učenika</a:t>
                </a:r>
              </a:p>
            </p:txBody>
          </p:sp>
        </mc:Choice>
        <mc:Fallback xmlns="">
          <p:sp>
            <p:nvSpPr>
              <p:cNvPr id="7" name="Pravokutni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613" y="4003685"/>
                <a:ext cx="2142638" cy="338554"/>
              </a:xfrm>
              <a:prstGeom prst="rect">
                <a:avLst/>
              </a:prstGeom>
              <a:blipFill>
                <a:blip r:embed="rId4"/>
                <a:stretch>
                  <a:fillRect t="-5455" r="-285" b="-23636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Pravokutnik 7"/>
              <p:cNvSpPr/>
              <p:nvPr/>
            </p:nvSpPr>
            <p:spPr>
              <a:xfrm>
                <a:off x="3778612" y="4361883"/>
                <a:ext cx="4928660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hr-HR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hr-HR" sz="16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hr-HR" sz="1600" b="0" i="0" smtClean="0">
                          <a:latin typeface="Cambria Math" panose="02040503050406030204" pitchFamily="18" charset="0"/>
                        </a:rPr>
                        <m:t>vrijeme</m:t>
                      </m:r>
                      <m:r>
                        <a:rPr lang="hr-H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r-HR" sz="1600" b="0" i="0" smtClean="0">
                          <a:latin typeface="Cambria Math" panose="02040503050406030204" pitchFamily="18" charset="0"/>
                        </a:rPr>
                        <m:t>rije</m:t>
                      </m:r>
                      <m:r>
                        <a:rPr lang="hr-HR" sz="1600" b="0" i="0" smtClean="0">
                          <a:latin typeface="Cambria Math" panose="02040503050406030204" pitchFamily="18" charset="0"/>
                        </a:rPr>
                        <m:t>š</m:t>
                      </m:r>
                      <m:r>
                        <m:rPr>
                          <m:sty m:val="p"/>
                        </m:rPr>
                        <a:rPr lang="hr-HR" sz="1600" b="0" i="0" smtClean="0">
                          <a:latin typeface="Cambria Math" panose="02040503050406030204" pitchFamily="18" charset="0"/>
                        </a:rPr>
                        <m:t>avanja</m:t>
                      </m:r>
                      <m:r>
                        <a:rPr lang="hr-H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r-HR" sz="1600" b="0" i="0" smtClean="0">
                          <a:latin typeface="Cambria Math" panose="02040503050406030204" pitchFamily="18" charset="0"/>
                        </a:rPr>
                        <m:t>prvog</m:t>
                      </m:r>
                      <m:r>
                        <a:rPr lang="hr-HR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hr-HR" sz="1600" b="0" i="0" smtClean="0">
                          <a:latin typeface="Cambria Math" panose="02040503050406030204" pitchFamily="18" charset="0"/>
                        </a:rPr>
                        <m:t>zadatka</m:t>
                      </m:r>
                    </m:oMath>
                  </m:oMathPara>
                </a14:m>
                <a:endParaRPr lang="hr-HR" sz="1600" dirty="0">
                  <a:latin typeface="Century Gothic (tijelo)"/>
                </a:endParaRPr>
              </a:p>
            </p:txBody>
          </p:sp>
        </mc:Choice>
        <mc:Fallback xmlns="">
          <p:sp>
            <p:nvSpPr>
              <p:cNvPr id="8" name="Pravokutni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612" y="4361883"/>
                <a:ext cx="4928660" cy="338554"/>
              </a:xfrm>
              <a:prstGeom prst="rect">
                <a:avLst/>
              </a:prstGeom>
              <a:blipFill>
                <a:blip r:embed="rId5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Pravokutnik 8"/>
              <p:cNvSpPr/>
              <p:nvPr/>
            </p:nvSpPr>
            <p:spPr>
              <a:xfrm>
                <a:off x="3778613" y="4723124"/>
                <a:ext cx="183062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r-HR" sz="16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hr-HR" sz="1600" dirty="0"/>
                  <a:t> – stopa učenja</a:t>
                </a:r>
              </a:p>
            </p:txBody>
          </p:sp>
        </mc:Choice>
        <mc:Fallback xmlns="">
          <p:sp>
            <p:nvSpPr>
              <p:cNvPr id="9" name="Pravokutnik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613" y="4723124"/>
                <a:ext cx="1830629" cy="338554"/>
              </a:xfrm>
              <a:prstGeom prst="rect">
                <a:avLst/>
              </a:prstGeom>
              <a:blipFill>
                <a:blip r:embed="rId6"/>
                <a:stretch>
                  <a:fillRect t="-5455" r="-333" b="-23636"/>
                </a:stretch>
              </a:blipFill>
            </p:spPr>
            <p:txBody>
              <a:bodyPr/>
              <a:lstStyle/>
              <a:p>
                <a:r>
                  <a:rPr lang="hr-H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Slika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11222" y="3281362"/>
            <a:ext cx="2770053" cy="464171"/>
          </a:xfrm>
          <a:prstGeom prst="rect">
            <a:avLst/>
          </a:prstGeom>
        </p:spPr>
      </p:pic>
      <p:pic>
        <p:nvPicPr>
          <p:cNvPr id="12" name="Slika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78611" y="5554716"/>
            <a:ext cx="2819147" cy="58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101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Vizualizacija </a:t>
            </a:r>
            <a:r>
              <a:rPr lang="hr-HR" dirty="0" err="1"/>
              <a:t>predickije</a:t>
            </a:r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13</a:t>
            </a:fld>
            <a:endParaRPr lang="hr-HR" dirty="0"/>
          </a:p>
        </p:txBody>
      </p:sp>
      <p:pic>
        <p:nvPicPr>
          <p:cNvPr id="5" name="Slika 4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2686" y="2071869"/>
            <a:ext cx="5124868" cy="364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649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Rezultati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06222"/>
          </a:xfrm>
        </p:spPr>
        <p:txBody>
          <a:bodyPr>
            <a:normAutofit/>
          </a:bodyPr>
          <a:lstStyle/>
          <a:p>
            <a:r>
              <a:rPr lang="hr-HR" dirty="0"/>
              <a:t>Podaci skupljeni nad 3 razreda unutar jedne akademske godine</a:t>
            </a:r>
          </a:p>
          <a:p>
            <a:endParaRPr lang="hr-HR" dirty="0"/>
          </a:p>
          <a:p>
            <a:r>
              <a:rPr lang="hr-HR" dirty="0"/>
              <a:t>Nema korelacije između pozadine učenika s rezultatima nad lekcijama</a:t>
            </a:r>
          </a:p>
          <a:p>
            <a:endParaRPr lang="hr-HR" dirty="0"/>
          </a:p>
          <a:p>
            <a:r>
              <a:rPr lang="hr-HR" dirty="0"/>
              <a:t>Negativna korelacija između kompetitivnih i kolaborativnih lekcija</a:t>
            </a:r>
          </a:p>
          <a:p>
            <a:endParaRPr lang="hr-HR" dirty="0"/>
          </a:p>
          <a:p>
            <a:r>
              <a:rPr lang="hr-HR" dirty="0"/>
              <a:t>Pozitivna korelacija između kompetitivnih lekcija s lekcija proširene stvarnosti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14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5249569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Pitanja?</a:t>
            </a:r>
          </a:p>
        </p:txBody>
      </p:sp>
      <p:sp>
        <p:nvSpPr>
          <p:cNvPr id="3" name="Rezervirano mjesto sadržaja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04B74-08D3-4235-B2EE-FA9FC8104C24}" type="slidenum">
              <a:rPr lang="hr-HR" smtClean="0"/>
              <a:pPr/>
              <a:t>15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249962305"/>
      </p:ext>
    </p:extLst>
  </p:cSld>
  <p:clrMapOvr>
    <a:masterClrMapping/>
  </p:clrMapOvr>
</p:sld>
</file>

<file path=ppt/theme/theme1.xml><?xml version="1.0" encoding="utf-8"?>
<a:theme xmlns:a="http://schemas.openxmlformats.org/drawingml/2006/main" name="Pramen">
  <a:themeElements>
    <a:clrScheme name="Prame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Prame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rame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765</TotalTime>
  <Words>505</Words>
  <Application>Microsoft Office PowerPoint</Application>
  <PresentationFormat>Široki zaslon</PresentationFormat>
  <Paragraphs>140</Paragraphs>
  <Slides>15</Slides>
  <Notes>15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 Math</vt:lpstr>
      <vt:lpstr>Century Gothic</vt:lpstr>
      <vt:lpstr>Century Gothic (tijelo)</vt:lpstr>
      <vt:lpstr>Wingdings 3</vt:lpstr>
      <vt:lpstr>Pramen</vt:lpstr>
      <vt:lpstr>Izrada aplikacije za analitiku i predviđanje rezultata učenja temeljene na inteligentnim algoritmima</vt:lpstr>
      <vt:lpstr>Sadržaj obrane</vt:lpstr>
      <vt:lpstr>Širi kontekst aplikacije</vt:lpstr>
      <vt:lpstr>Lekcije </vt:lpstr>
      <vt:lpstr>Arhitektura aplikacije</vt:lpstr>
      <vt:lpstr>Učenje težina zadataka </vt:lpstr>
      <vt:lpstr>Učenje težina (2)</vt:lpstr>
      <vt:lpstr>Učenje težina (3)</vt:lpstr>
      <vt:lpstr>Učenje težina (4)</vt:lpstr>
      <vt:lpstr>Evaluacija učenika</vt:lpstr>
      <vt:lpstr>Vizualizacija profila učenika</vt:lpstr>
      <vt:lpstr>Predikcija </vt:lpstr>
      <vt:lpstr>Vizualizacija predickije</vt:lpstr>
      <vt:lpstr>Rezultati</vt:lpstr>
      <vt:lpstr>Pitanja?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Izrada aplikacije za analitiku i predviđanje rezultata učenja temeljene na inteligentnim algoritmima</dc:title>
  <dc:creator>Roko Krstulovic</dc:creator>
  <cp:lastModifiedBy>Roko Krstulovic</cp:lastModifiedBy>
  <cp:revision>55</cp:revision>
  <dcterms:created xsi:type="dcterms:W3CDTF">2017-07-09T12:11:58Z</dcterms:created>
  <dcterms:modified xsi:type="dcterms:W3CDTF">2017-07-12T21:02:18Z</dcterms:modified>
</cp:coreProperties>
</file>