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60" r:id="rId1"/>
  </p:sldMasterIdLst>
  <p:notesMasterIdLst>
    <p:notesMasterId r:id="rId17"/>
  </p:notesMasterIdLst>
  <p:handoutMasterIdLst>
    <p:handoutMasterId r:id="rId18"/>
  </p:handoutMasterIdLst>
  <p:sldIdLst>
    <p:sldId id="256" r:id="rId2"/>
    <p:sldId id="257" r:id="rId3"/>
    <p:sldId id="258" r:id="rId4"/>
    <p:sldId id="259" r:id="rId5"/>
    <p:sldId id="260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1" r:id="rId1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rednji stil 2 - Isticanj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4" autoAdjust="0"/>
    <p:restoredTop sz="79525" autoAdjust="0"/>
  </p:normalViewPr>
  <p:slideViewPr>
    <p:cSldViewPr snapToGrid="0">
      <p:cViewPr varScale="1">
        <p:scale>
          <a:sx n="72" d="100"/>
          <a:sy n="72" d="100"/>
        </p:scale>
        <p:origin x="696" y="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69" d="100"/>
          <a:sy n="69" d="100"/>
        </p:scale>
        <p:origin x="3264" y="54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handoutMaster" Target="handoutMasters/handout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zervirano mjesto zaglavlja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hr-HR"/>
          </a:p>
        </p:txBody>
      </p:sp>
      <p:sp>
        <p:nvSpPr>
          <p:cNvPr id="3" name="Rezervirano mjesto datuma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746A12B-06E1-47C6-A125-3FB910654273}" type="datetimeFigureOut">
              <a:rPr lang="hr-HR" smtClean="0"/>
              <a:t>11.7.2017.</a:t>
            </a:fld>
            <a:endParaRPr lang="hr-HR"/>
          </a:p>
        </p:txBody>
      </p:sp>
      <p:sp>
        <p:nvSpPr>
          <p:cNvPr id="4" name="Rezervirano mjesto podnožja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hr-HR"/>
          </a:p>
        </p:txBody>
      </p:sp>
      <p:sp>
        <p:nvSpPr>
          <p:cNvPr id="5" name="Rezervirano mjesto broja slajda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44F5421-EB5A-4BDF-9068-22A3D693F639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2365252684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zervirano mjesto zaglavlja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hr-HR"/>
          </a:p>
        </p:txBody>
      </p:sp>
      <p:sp>
        <p:nvSpPr>
          <p:cNvPr id="3" name="Rezervirano mjesto datum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DF09DF9-2331-40B1-8AF0-8418F3307473}" type="datetimeFigureOut">
              <a:rPr lang="hr-HR" smtClean="0"/>
              <a:t>11.7.2017.</a:t>
            </a:fld>
            <a:endParaRPr lang="hr-HR"/>
          </a:p>
        </p:txBody>
      </p:sp>
      <p:sp>
        <p:nvSpPr>
          <p:cNvPr id="4" name="Rezervirano mjesto slike slajd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hr-HR"/>
          </a:p>
        </p:txBody>
      </p:sp>
      <p:sp>
        <p:nvSpPr>
          <p:cNvPr id="5" name="Rezervirano mjesto bilježaka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hr-HR"/>
              <a:t>Uredite stilove teksta matrice</a:t>
            </a:r>
          </a:p>
          <a:p>
            <a:pPr lvl="1"/>
            <a:r>
              <a:rPr lang="hr-HR"/>
              <a:t>Druga razina</a:t>
            </a:r>
          </a:p>
          <a:p>
            <a:pPr lvl="2"/>
            <a:r>
              <a:rPr lang="hr-HR"/>
              <a:t>Treća razina</a:t>
            </a:r>
          </a:p>
          <a:p>
            <a:pPr lvl="3"/>
            <a:r>
              <a:rPr lang="hr-HR"/>
              <a:t>Četvrta razina</a:t>
            </a:r>
          </a:p>
          <a:p>
            <a:pPr lvl="4"/>
            <a:r>
              <a:rPr lang="hr-HR"/>
              <a:t>Peta razina</a:t>
            </a:r>
          </a:p>
        </p:txBody>
      </p:sp>
      <p:sp>
        <p:nvSpPr>
          <p:cNvPr id="6" name="Rezervirano mjesto podnožj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hr-HR"/>
          </a:p>
        </p:txBody>
      </p:sp>
      <p:sp>
        <p:nvSpPr>
          <p:cNvPr id="7" name="Rezervirano mjesto broja slajd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1116CC2-0CB1-4D77-989D-B367874660F1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287511250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zervirano mjesto slike slajd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Rezervirano mjesto bilježaka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r-HR" dirty="0"/>
          </a:p>
        </p:txBody>
      </p:sp>
      <p:sp>
        <p:nvSpPr>
          <p:cNvPr id="4" name="Rezervirano mjesto broja slajda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1116CC2-0CB1-4D77-989D-B367874660F1}" type="slidenum">
              <a:rPr lang="hr-HR" smtClean="0"/>
              <a:t>1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323684296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zervirano mjesto slike slajd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Rezervirano mjesto bilježaka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r-HR" dirty="0"/>
              <a:t>Stavit</a:t>
            </a:r>
            <a:r>
              <a:rPr lang="hr-HR" baseline="0" dirty="0"/>
              <a:t> aplikaciju u širi kontekst</a:t>
            </a:r>
          </a:p>
          <a:p>
            <a:endParaRPr lang="hr-HR" baseline="0" dirty="0"/>
          </a:p>
          <a:p>
            <a:r>
              <a:rPr lang="hr-HR" baseline="0"/>
              <a:t>Srž su korišteni algoritmi</a:t>
            </a:r>
            <a:endParaRPr lang="hr-HR" baseline="0" dirty="0"/>
          </a:p>
          <a:p>
            <a:endParaRPr lang="hr-HR" baseline="0" dirty="0"/>
          </a:p>
          <a:p>
            <a:r>
              <a:rPr lang="hr-HR" baseline="0" dirty="0"/>
              <a:t>Komentirati rezultate</a:t>
            </a:r>
            <a:endParaRPr lang="hr-HR" dirty="0"/>
          </a:p>
        </p:txBody>
      </p:sp>
      <p:sp>
        <p:nvSpPr>
          <p:cNvPr id="4" name="Rezervirano mjesto broja slajda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1116CC2-0CB1-4D77-989D-B367874660F1}" type="slidenum">
              <a:rPr lang="hr-HR" smtClean="0"/>
              <a:t>2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12905736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zervirano mjesto slike slajd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Rezervirano mjesto bilježaka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r-HR" dirty="0"/>
              <a:t>Da bi se</a:t>
            </a:r>
            <a:r>
              <a:rPr lang="hr-HR" baseline="0" dirty="0"/>
              <a:t> ova aplikacija mogla koristiti potrebno je da učitelj ili </a:t>
            </a:r>
            <a:r>
              <a:rPr lang="hr-HR" baseline="0" dirty="0" err="1"/>
              <a:t>bilokoja</a:t>
            </a:r>
            <a:r>
              <a:rPr lang="hr-HR" baseline="0" dirty="0"/>
              <a:t> osoba koristeći …</a:t>
            </a:r>
          </a:p>
          <a:p>
            <a:endParaRPr lang="hr-HR" dirty="0"/>
          </a:p>
          <a:p>
            <a:r>
              <a:rPr lang="hr-HR" dirty="0"/>
              <a:t>Autor</a:t>
            </a:r>
            <a:r>
              <a:rPr lang="hr-HR" baseline="0" dirty="0"/>
              <a:t> omogućuje gradnju lekcije preko slajdova i </a:t>
            </a:r>
            <a:r>
              <a:rPr lang="hr-HR" baseline="0" dirty="0" err="1"/>
              <a:t>importanjem</a:t>
            </a:r>
            <a:r>
              <a:rPr lang="hr-HR" baseline="0" dirty="0"/>
              <a:t> vanjskih aplikacija. </a:t>
            </a:r>
          </a:p>
          <a:p>
            <a:endParaRPr lang="hr-HR" dirty="0"/>
          </a:p>
          <a:p>
            <a:r>
              <a:rPr lang="hr-HR" dirty="0"/>
              <a:t>Nekonvencionalni</a:t>
            </a:r>
            <a:r>
              <a:rPr lang="hr-HR" baseline="0" dirty="0"/>
              <a:t> uvid prilikom rješavanja virtualnih lekcija.</a:t>
            </a:r>
          </a:p>
          <a:p>
            <a:endParaRPr lang="hr-HR" baseline="0" dirty="0"/>
          </a:p>
          <a:p>
            <a:r>
              <a:rPr lang="hr-HR" baseline="0" dirty="0"/>
              <a:t>Obraditi podatke i prikazati u čovjeku </a:t>
            </a:r>
            <a:r>
              <a:rPr lang="hr-HR" b="1" baseline="0" dirty="0"/>
              <a:t>razumljivom </a:t>
            </a:r>
            <a:r>
              <a:rPr lang="hr-HR" b="0" baseline="0" dirty="0"/>
              <a:t>obliku.</a:t>
            </a:r>
          </a:p>
          <a:p>
            <a:endParaRPr lang="hr-HR" b="0" baseline="0" dirty="0"/>
          </a:p>
          <a:p>
            <a:r>
              <a:rPr lang="hr-HR" b="0" baseline="0" dirty="0"/>
              <a:t>Učitelji na </a:t>
            </a:r>
            <a:r>
              <a:rPr lang="hr-HR" b="1" baseline="0" dirty="0">
                <a:solidFill>
                  <a:srgbClr val="FF0000"/>
                </a:solidFill>
              </a:rPr>
              <a:t>zamjeni</a:t>
            </a:r>
            <a:endParaRPr lang="hr-HR" dirty="0">
              <a:solidFill>
                <a:srgbClr val="FF0000"/>
              </a:solidFill>
            </a:endParaRPr>
          </a:p>
        </p:txBody>
      </p:sp>
      <p:sp>
        <p:nvSpPr>
          <p:cNvPr id="4" name="Rezervirano mjesto broja slajda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1116CC2-0CB1-4D77-989D-B367874660F1}" type="slidenum">
              <a:rPr lang="hr-HR" smtClean="0"/>
              <a:t>3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284650911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zervirano mjesto slike slajd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Rezervirano mjesto bilježaka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r-HR" dirty="0"/>
              <a:t>Učenici</a:t>
            </a:r>
            <a:r>
              <a:rPr lang="hr-HR" baseline="0" dirty="0"/>
              <a:t> se stavljaju u stresnu situaciju, u kojoj je potrebna brzina i preciznost.</a:t>
            </a:r>
          </a:p>
          <a:p>
            <a:endParaRPr lang="hr-HR" baseline="0" dirty="0"/>
          </a:p>
          <a:p>
            <a:r>
              <a:rPr lang="hr-HR" baseline="0" dirty="0"/>
              <a:t>Rad u timu.</a:t>
            </a:r>
          </a:p>
          <a:p>
            <a:endParaRPr lang="hr-HR" baseline="0" dirty="0"/>
          </a:p>
          <a:p>
            <a:r>
              <a:rPr lang="hr-HR" dirty="0"/>
              <a:t>Neuobičajen</a:t>
            </a:r>
            <a:r>
              <a:rPr lang="hr-HR" baseline="0" dirty="0"/>
              <a:t> način rješavanja</a:t>
            </a:r>
          </a:p>
          <a:p>
            <a:endParaRPr lang="hr-HR" dirty="0"/>
          </a:p>
          <a:p>
            <a:r>
              <a:rPr lang="hr-HR" baseline="0" dirty="0"/>
              <a:t>Bilo bi zanimljivo vidjeti postoji li </a:t>
            </a:r>
            <a:r>
              <a:rPr lang="hr-HR" b="1" baseline="0" dirty="0"/>
              <a:t>korelacija</a:t>
            </a:r>
            <a:r>
              <a:rPr lang="hr-HR" baseline="0" dirty="0"/>
              <a:t> među tipovima lekcija i sa pozadinskim podacima učenika poput akademskog uspjeha, poticaja obitelji, radnih navika i drugih.</a:t>
            </a:r>
            <a:endParaRPr lang="hr-HR" dirty="0"/>
          </a:p>
        </p:txBody>
      </p:sp>
      <p:sp>
        <p:nvSpPr>
          <p:cNvPr id="4" name="Rezervirano mjesto broja slajda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1116CC2-0CB1-4D77-989D-B367874660F1}" type="slidenum">
              <a:rPr lang="hr-HR" smtClean="0"/>
              <a:t>4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120136370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zervirano mjesto slike slajd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Rezervirano mjesto bilježaka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r-HR" baseline="0" dirty="0"/>
              <a:t>Pod učenje težina smatra se </a:t>
            </a:r>
            <a:r>
              <a:rPr lang="hr-HR" b="1" baseline="0" dirty="0"/>
              <a:t>dodjeljivanje realnog broja </a:t>
            </a:r>
            <a:r>
              <a:rPr lang="hr-HR" baseline="0" dirty="0"/>
              <a:t>zadacima koji predstavlja težinu, ili lakoću zadatka i na taj način omogućuje nekonvencionalno ocjenjivanje učenika</a:t>
            </a:r>
            <a:r>
              <a:rPr lang="hr-HR" baseline="0"/>
              <a:t>. Više o tome će biti na sljedećem slajdu. Pod evaluacijom učenika smatra se dodjeljivanje realnog broja učeniku koji predstavlja uspješnost ili dobrotu učenika u rješavanju lekcija. Kao što ćemo vidjeti, evaluacija učenika jedio učenja težina.</a:t>
            </a:r>
            <a:endParaRPr lang="hr-HR" dirty="0"/>
          </a:p>
        </p:txBody>
      </p:sp>
      <p:sp>
        <p:nvSpPr>
          <p:cNvPr id="4" name="Rezervirano mjesto broja slajda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1116CC2-0CB1-4D77-989D-B367874660F1}" type="slidenum">
              <a:rPr lang="hr-HR" smtClean="0"/>
              <a:t>5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401778477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zervirano mjesto slike slajd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Rezervirano mjesto bilježaka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r-HR" dirty="0"/>
              <a:t>Težine</a:t>
            </a:r>
            <a:r>
              <a:rPr lang="hr-HR" baseline="0" dirty="0"/>
              <a:t> su iz raspona 0, 1</a:t>
            </a:r>
          </a:p>
          <a:p>
            <a:endParaRPr lang="hr-HR" dirty="0"/>
          </a:p>
        </p:txBody>
      </p:sp>
      <p:sp>
        <p:nvSpPr>
          <p:cNvPr id="4" name="Rezervirano mjesto broja slajda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1116CC2-0CB1-4D77-989D-B367874660F1}" type="slidenum">
              <a:rPr lang="hr-HR" smtClean="0"/>
              <a:t>6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342986172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zervirano mjesto slike slajd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Rezervirano mjesto bilježaka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r-HR" dirty="0"/>
              <a:t>Stvarno računanje bodova na ispitu</a:t>
            </a:r>
          </a:p>
        </p:txBody>
      </p:sp>
      <p:sp>
        <p:nvSpPr>
          <p:cNvPr id="4" name="Rezervirano mjesto broja slajda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1116CC2-0CB1-4D77-989D-B367874660F1}" type="slidenum">
              <a:rPr lang="hr-HR" smtClean="0"/>
              <a:t>7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360340578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zervirano mjesto slike slajd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Rezervirano mjesto bilježaka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r-HR" baseline="0" dirty="0"/>
              <a:t>  </a:t>
            </a:r>
            <a:r>
              <a:rPr lang="hr-HR" b="1" baseline="0" dirty="0"/>
              <a:t>Dobrote</a:t>
            </a:r>
            <a:r>
              <a:rPr lang="hr-HR" baseline="0" dirty="0"/>
              <a:t> na isti </a:t>
            </a:r>
            <a:r>
              <a:rPr lang="hr-HR" baseline="0" dirty="0" err="1"/>
              <a:t>naćin</a:t>
            </a:r>
            <a:endParaRPr lang="hr-HR" dirty="0"/>
          </a:p>
        </p:txBody>
      </p:sp>
      <p:sp>
        <p:nvSpPr>
          <p:cNvPr id="4" name="Rezervirano mjesto broja slajda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1116CC2-0CB1-4D77-989D-B367874660F1}" type="slidenum">
              <a:rPr lang="hr-HR" smtClean="0"/>
              <a:t>8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346372064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zervirano mjesto slike slajd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Rezervirano mjesto bilježaka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r-HR" dirty="0"/>
          </a:p>
        </p:txBody>
      </p:sp>
      <p:sp>
        <p:nvSpPr>
          <p:cNvPr id="4" name="Rezervirano mjesto broja slajda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1116CC2-0CB1-4D77-989D-B367874660F1}" type="slidenum">
              <a:rPr lang="hr-HR" smtClean="0"/>
              <a:t>9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109373969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zervirano mjesto slike slajd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Rezervirano mjesto bilježaka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r-HR" dirty="0"/>
              <a:t>Gotovi smo s učenjem težina.</a:t>
            </a:r>
            <a:r>
              <a:rPr lang="hr-HR" baseline="0" dirty="0"/>
              <a:t> Jednom kad imamo težine zadataka, dobrote učenika se sada i u budućnosti računaju s već prikazanim izrazom.</a:t>
            </a:r>
            <a:endParaRPr lang="hr-HR" dirty="0"/>
          </a:p>
        </p:txBody>
      </p:sp>
      <p:sp>
        <p:nvSpPr>
          <p:cNvPr id="4" name="Rezervirano mjesto broja slajda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1116CC2-0CB1-4D77-989D-B367874660F1}" type="slidenum">
              <a:rPr lang="hr-HR" smtClean="0"/>
              <a:t>10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111090521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zervirano mjesto slike slajd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Rezervirano mjesto bilježaka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r-HR" dirty="0"/>
          </a:p>
        </p:txBody>
      </p:sp>
      <p:sp>
        <p:nvSpPr>
          <p:cNvPr id="4" name="Rezervirano mjesto broja slajda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1116CC2-0CB1-4D77-989D-B367874660F1}" type="slidenum">
              <a:rPr lang="hr-HR" smtClean="0"/>
              <a:t>11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13986975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zervirano mjesto slike slajd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Rezervirano mjesto bilježaka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r-HR" dirty="0"/>
          </a:p>
        </p:txBody>
      </p:sp>
      <p:sp>
        <p:nvSpPr>
          <p:cNvPr id="4" name="Rezervirano mjesto broja slajda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1116CC2-0CB1-4D77-989D-B367874660F1}" type="slidenum">
              <a:rPr lang="hr-HR" smtClean="0"/>
              <a:t>12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156194562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zervirano mjesto slike slajd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Rezervirano mjesto bilježaka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r-HR" dirty="0"/>
          </a:p>
        </p:txBody>
      </p:sp>
      <p:sp>
        <p:nvSpPr>
          <p:cNvPr id="4" name="Rezervirano mjesto broja slajda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1116CC2-0CB1-4D77-989D-B367874660F1}" type="slidenum">
              <a:rPr lang="hr-HR" smtClean="0"/>
              <a:t>13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355636159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zervirano mjesto slike slajd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Rezervirano mjesto bilježaka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r-HR" dirty="0"/>
          </a:p>
        </p:txBody>
      </p:sp>
      <p:sp>
        <p:nvSpPr>
          <p:cNvPr id="4" name="Rezervirano mjesto broja slajda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1116CC2-0CB1-4D77-989D-B367874660F1}" type="slidenum">
              <a:rPr lang="hr-HR" smtClean="0"/>
              <a:t>14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291417725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zervirano mjesto slike slajd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Rezervirano mjesto bilježaka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r-HR" dirty="0"/>
          </a:p>
        </p:txBody>
      </p:sp>
      <p:sp>
        <p:nvSpPr>
          <p:cNvPr id="4" name="Rezervirano mjesto broja slajda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1116CC2-0CB1-4D77-989D-B367874660F1}" type="slidenum">
              <a:rPr lang="hr-HR" smtClean="0"/>
              <a:t>15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16581262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Naslovni slaj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589213" y="2514600"/>
            <a:ext cx="8915399" cy="2262781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hr-HR"/>
              <a:t>Uredite stil naslova matrice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89213" y="4777379"/>
            <a:ext cx="8915399" cy="1126283"/>
          </a:xfrm>
        </p:spPr>
        <p:txBody>
          <a:bodyPr anchor="t"/>
          <a:lstStyle>
            <a:lvl1pPr marL="0" indent="0" algn="l">
              <a:buNone/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hr-HR"/>
              <a:t>Kliknite da biste uredili stil podnaslova matrice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4500A0-63A4-4CC8-93F8-0B876C651E4B}" type="datetime1">
              <a:rPr lang="hr-HR" smtClean="0"/>
              <a:t>11.7.2017.</a:t>
            </a:fld>
            <a:endParaRPr lang="hr-H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7" name="Freeform 6"/>
          <p:cNvSpPr/>
          <p:nvPr/>
        </p:nvSpPr>
        <p:spPr bwMode="auto">
          <a:xfrm>
            <a:off x="0" y="4323810"/>
            <a:ext cx="1744652" cy="778589"/>
          </a:xfrm>
          <a:custGeom>
            <a:avLst/>
            <a:gdLst/>
            <a:ahLst/>
            <a:cxnLst/>
            <a:rect l="0" t="0" r="r" b="b"/>
            <a:pathLst>
              <a:path w="372" h="166">
                <a:moveTo>
                  <a:pt x="287" y="166"/>
                </a:moveTo>
                <a:cubicBezTo>
                  <a:pt x="290" y="166"/>
                  <a:pt x="292" y="165"/>
                  <a:pt x="293" y="164"/>
                </a:cubicBezTo>
                <a:cubicBezTo>
                  <a:pt x="293" y="163"/>
                  <a:pt x="294" y="163"/>
                  <a:pt x="294" y="163"/>
                </a:cubicBezTo>
                <a:cubicBezTo>
                  <a:pt x="370" y="87"/>
                  <a:pt x="370" y="87"/>
                  <a:pt x="370" y="87"/>
                </a:cubicBezTo>
                <a:cubicBezTo>
                  <a:pt x="372" y="85"/>
                  <a:pt x="372" y="81"/>
                  <a:pt x="370" y="78"/>
                </a:cubicBezTo>
                <a:cubicBezTo>
                  <a:pt x="294" y="3"/>
                  <a:pt x="294" y="3"/>
                  <a:pt x="294" y="3"/>
                </a:cubicBezTo>
                <a:cubicBezTo>
                  <a:pt x="294" y="2"/>
                  <a:pt x="293" y="2"/>
                  <a:pt x="293" y="2"/>
                </a:cubicBezTo>
                <a:cubicBezTo>
                  <a:pt x="292" y="1"/>
                  <a:pt x="290" y="0"/>
                  <a:pt x="287" y="0"/>
                </a:cubicBezTo>
                <a:cubicBezTo>
                  <a:pt x="0" y="0"/>
                  <a:pt x="0" y="0"/>
                  <a:pt x="0" y="0"/>
                </a:cubicBezTo>
                <a:cubicBezTo>
                  <a:pt x="0" y="166"/>
                  <a:pt x="0" y="166"/>
                  <a:pt x="0" y="166"/>
                </a:cubicBezTo>
                <a:lnTo>
                  <a:pt x="287" y="166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4529540"/>
            <a:ext cx="779767" cy="365125"/>
          </a:xfrm>
        </p:spPr>
        <p:txBody>
          <a:bodyPr/>
          <a:lstStyle/>
          <a:p>
            <a:fld id="{B9A04B74-08D3-4235-B2EE-FA9FC8104C24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33519658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Naslov i sadržaj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92925" y="624110"/>
            <a:ext cx="8911687" cy="1280890"/>
          </a:xfrm>
        </p:spPr>
        <p:txBody>
          <a:bodyPr/>
          <a:lstStyle/>
          <a:p>
            <a:r>
              <a:rPr lang="hr-HR"/>
              <a:t>Uredite stil naslova matrice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89212" y="2133600"/>
            <a:ext cx="8915400" cy="3777622"/>
          </a:xfrm>
        </p:spPr>
        <p:txBody>
          <a:bodyPr/>
          <a:lstStyle/>
          <a:p>
            <a:pPr lvl="0"/>
            <a:r>
              <a:rPr lang="hr-HR" dirty="0"/>
              <a:t>Uredite stilove teksta matrice</a:t>
            </a:r>
          </a:p>
          <a:p>
            <a:pPr lvl="1"/>
            <a:r>
              <a:rPr lang="hr-HR" dirty="0"/>
              <a:t>Druga razina</a:t>
            </a:r>
          </a:p>
          <a:p>
            <a:pPr lvl="2"/>
            <a:r>
              <a:rPr lang="hr-HR" dirty="0"/>
              <a:t>Treća razina</a:t>
            </a:r>
          </a:p>
          <a:p>
            <a:pPr lvl="3"/>
            <a:r>
              <a:rPr lang="hr-HR" dirty="0"/>
              <a:t>Četvrta razina</a:t>
            </a:r>
          </a:p>
          <a:p>
            <a:pPr lvl="4"/>
            <a:r>
              <a:rPr lang="hr-HR" dirty="0"/>
              <a:t>Peta razina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89212" y="6130537"/>
            <a:ext cx="1146283" cy="370396"/>
          </a:xfrm>
        </p:spPr>
        <p:txBody>
          <a:bodyPr/>
          <a:lstStyle/>
          <a:p>
            <a:fld id="{5158170C-DB7D-4464-BDA2-88D287F6C038}" type="datetime1">
              <a:rPr lang="hr-HR" smtClean="0"/>
              <a:t>11.7.2017.</a:t>
            </a:fld>
            <a:endParaRPr lang="hr-HR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930869" y="6135808"/>
            <a:ext cx="6278342" cy="365125"/>
          </a:xfrm>
        </p:spPr>
        <p:txBody>
          <a:bodyPr/>
          <a:lstStyle/>
          <a:p>
            <a:endParaRPr lang="hr-HR" dirty="0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361612" y="6139822"/>
            <a:ext cx="642719" cy="365125"/>
          </a:xfrm>
        </p:spPr>
        <p:txBody>
          <a:bodyPr/>
          <a:lstStyle>
            <a:lvl1pPr>
              <a:defRPr sz="1800">
                <a:solidFill>
                  <a:schemeClr val="tx1"/>
                </a:solidFill>
              </a:defRPr>
            </a:lvl1pPr>
          </a:lstStyle>
          <a:p>
            <a:fld id="{B9A04B74-08D3-4235-B2EE-FA9FC8104C24}" type="slidenum">
              <a:rPr lang="hr-HR" smtClean="0"/>
              <a:pPr/>
              <a:t>‹#›</a:t>
            </a:fld>
            <a:endParaRPr lang="hr-HR" dirty="0"/>
          </a:p>
        </p:txBody>
      </p:sp>
      <p:sp>
        <p:nvSpPr>
          <p:cNvPr id="7" name="TekstniOkvir 6"/>
          <p:cNvSpPr txBox="1"/>
          <p:nvPr userDrawn="1"/>
        </p:nvSpPr>
        <p:spPr>
          <a:xfrm>
            <a:off x="10878207" y="6130537"/>
            <a:ext cx="66215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r-HR" dirty="0"/>
              <a:t>/ 15</a:t>
            </a:r>
          </a:p>
        </p:txBody>
      </p:sp>
    </p:spTree>
    <p:extLst>
      <p:ext uri="{BB962C8B-B14F-4D97-AF65-F5344CB8AC3E}">
        <p14:creationId xmlns:p14="http://schemas.microsoft.com/office/powerpoint/2010/main" val="20724449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Zaglavlje sekcij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2058750"/>
            <a:ext cx="8915399" cy="146880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hr-HR"/>
              <a:t>Uredite stil naslova matrice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3530129"/>
            <a:ext cx="8915399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r-HR"/>
              <a:t>Uredite stilove teksta matrice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8F65CF-71B7-4583-B176-AF82EF7E1259}" type="datetime1">
              <a:rPr lang="hr-HR" smtClean="0"/>
              <a:t>11.7.2017.</a:t>
            </a:fld>
            <a:endParaRPr lang="hr-H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B9A04B74-08D3-4235-B2EE-FA9FC8104C24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323498266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va sadržaj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/>
              <a:t>Uredite stil naslova matrice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589212" y="2133600"/>
            <a:ext cx="4313864" cy="3777622"/>
          </a:xfrm>
        </p:spPr>
        <p:txBody>
          <a:bodyPr>
            <a:normAutofit/>
          </a:bodyPr>
          <a:lstStyle/>
          <a:p>
            <a:pPr lvl="0"/>
            <a:r>
              <a:rPr lang="hr-HR"/>
              <a:t>Uredite stilove teksta matrice</a:t>
            </a:r>
          </a:p>
          <a:p>
            <a:pPr lvl="1"/>
            <a:r>
              <a:rPr lang="hr-HR"/>
              <a:t>Druga razina</a:t>
            </a:r>
          </a:p>
          <a:p>
            <a:pPr lvl="2"/>
            <a:r>
              <a:rPr lang="hr-HR"/>
              <a:t>Treća razina</a:t>
            </a:r>
          </a:p>
          <a:p>
            <a:pPr lvl="3"/>
            <a:r>
              <a:rPr lang="hr-HR"/>
              <a:t>Četvrta razina</a:t>
            </a:r>
          </a:p>
          <a:p>
            <a:pPr lvl="4"/>
            <a:r>
              <a:rPr lang="hr-HR"/>
              <a:t>Peta razina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190747" y="2126222"/>
            <a:ext cx="4313864" cy="3777622"/>
          </a:xfrm>
        </p:spPr>
        <p:txBody>
          <a:bodyPr>
            <a:normAutofit/>
          </a:bodyPr>
          <a:lstStyle/>
          <a:p>
            <a:pPr lvl="0"/>
            <a:r>
              <a:rPr lang="hr-HR"/>
              <a:t>Uredite stilove teksta matrice</a:t>
            </a:r>
          </a:p>
          <a:p>
            <a:pPr lvl="1"/>
            <a:r>
              <a:rPr lang="hr-HR"/>
              <a:t>Druga razina</a:t>
            </a:r>
          </a:p>
          <a:p>
            <a:pPr lvl="2"/>
            <a:r>
              <a:rPr lang="hr-HR"/>
              <a:t>Treća razina</a:t>
            </a:r>
          </a:p>
          <a:p>
            <a:pPr lvl="3"/>
            <a:r>
              <a:rPr lang="hr-HR"/>
              <a:t>Četvrta razina</a:t>
            </a:r>
          </a:p>
          <a:p>
            <a:pPr lvl="4"/>
            <a:r>
              <a:rPr lang="hr-HR"/>
              <a:t>Peta razina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256983-4060-4392-A540-9478F4DD306D}" type="datetime1">
              <a:rPr lang="hr-HR" smtClean="0"/>
              <a:t>11.7.2017.</a:t>
            </a:fld>
            <a:endParaRPr lang="hr-H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10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1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787782"/>
            <a:ext cx="779767" cy="365125"/>
          </a:xfrm>
        </p:spPr>
        <p:txBody>
          <a:bodyPr/>
          <a:lstStyle/>
          <a:p>
            <a:fld id="{B9A04B74-08D3-4235-B2EE-FA9FC8104C24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25546250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Usporedb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/>
              <a:t>Uredite stil naslova matrice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939373" y="1972703"/>
            <a:ext cx="3992732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r-HR"/>
              <a:t>Uredite stilove teksta matrice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589212" y="2548966"/>
            <a:ext cx="4342893" cy="3354060"/>
          </a:xfrm>
        </p:spPr>
        <p:txBody>
          <a:bodyPr>
            <a:normAutofit/>
          </a:bodyPr>
          <a:lstStyle/>
          <a:p>
            <a:pPr lvl="0"/>
            <a:r>
              <a:rPr lang="hr-HR"/>
              <a:t>Uredite stilove teksta matrice</a:t>
            </a:r>
          </a:p>
          <a:p>
            <a:pPr lvl="1"/>
            <a:r>
              <a:rPr lang="hr-HR"/>
              <a:t>Druga razina</a:t>
            </a:r>
          </a:p>
          <a:p>
            <a:pPr lvl="2"/>
            <a:r>
              <a:rPr lang="hr-HR"/>
              <a:t>Treća razina</a:t>
            </a:r>
          </a:p>
          <a:p>
            <a:pPr lvl="3"/>
            <a:r>
              <a:rPr lang="hr-HR"/>
              <a:t>Četvrta razina</a:t>
            </a:r>
          </a:p>
          <a:p>
            <a:pPr lvl="4"/>
            <a:r>
              <a:rPr lang="hr-HR"/>
              <a:t>Peta razina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506629" y="1969475"/>
            <a:ext cx="399900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r-HR"/>
              <a:t>Uredite stilove teksta matrice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166957" y="2545738"/>
            <a:ext cx="4338674" cy="3354060"/>
          </a:xfrm>
        </p:spPr>
        <p:txBody>
          <a:bodyPr>
            <a:normAutofit/>
          </a:bodyPr>
          <a:lstStyle/>
          <a:p>
            <a:pPr lvl="0"/>
            <a:r>
              <a:rPr lang="hr-HR"/>
              <a:t>Uredite stilove teksta matrice</a:t>
            </a:r>
          </a:p>
          <a:p>
            <a:pPr lvl="1"/>
            <a:r>
              <a:rPr lang="hr-HR"/>
              <a:t>Druga razina</a:t>
            </a:r>
          </a:p>
          <a:p>
            <a:pPr lvl="2"/>
            <a:r>
              <a:rPr lang="hr-HR"/>
              <a:t>Treća razina</a:t>
            </a:r>
          </a:p>
          <a:p>
            <a:pPr lvl="3"/>
            <a:r>
              <a:rPr lang="hr-HR"/>
              <a:t>Četvrta razina</a:t>
            </a:r>
          </a:p>
          <a:p>
            <a:pPr lvl="4"/>
            <a:r>
              <a:rPr lang="hr-HR"/>
              <a:t>Peta razina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ADAAD3-2C3B-409B-9D21-BA737B90EF98}" type="datetime1">
              <a:rPr lang="hr-HR" smtClean="0"/>
              <a:t>11.7.2017.</a:t>
            </a:fld>
            <a:endParaRPr lang="hr-H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12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3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787782"/>
            <a:ext cx="779767" cy="365125"/>
          </a:xfrm>
        </p:spPr>
        <p:txBody>
          <a:bodyPr/>
          <a:lstStyle/>
          <a:p>
            <a:fld id="{B9A04B74-08D3-4235-B2EE-FA9FC8104C24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358581579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amo naslov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/>
              <a:t>Uredite stil naslova matrice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EACC6F-1094-4B8B-A68B-9BFB61F23A41}" type="datetime1">
              <a:rPr lang="hr-HR" smtClean="0"/>
              <a:t>11.7.2017.</a:t>
            </a:fld>
            <a:endParaRPr lang="hr-H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7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A04B74-08D3-4235-B2EE-FA9FC8104C24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14706523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Prazn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415696-C074-4A9F-84DB-F58D64942585}" type="datetime1">
              <a:rPr lang="hr-HR" smtClean="0"/>
              <a:t>11.7.2017.</a:t>
            </a:fld>
            <a:endParaRPr lang="hr-HR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6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A04B74-08D3-4235-B2EE-FA9FC8104C24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376126014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Sadržaj s opis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446088"/>
            <a:ext cx="3505199" cy="976312"/>
          </a:xfrm>
        </p:spPr>
        <p:txBody>
          <a:bodyPr anchor="b"/>
          <a:lstStyle>
            <a:lvl1pPr algn="l">
              <a:defRPr sz="2000" b="0"/>
            </a:lvl1pPr>
          </a:lstStyle>
          <a:p>
            <a:r>
              <a:rPr lang="hr-HR"/>
              <a:t>Uredite stil naslova matrice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323012" y="446088"/>
            <a:ext cx="5181600" cy="5414963"/>
          </a:xfrm>
        </p:spPr>
        <p:txBody>
          <a:bodyPr anchor="ctr">
            <a:normAutofit/>
          </a:bodyPr>
          <a:lstStyle/>
          <a:p>
            <a:pPr lvl="0"/>
            <a:r>
              <a:rPr lang="hr-HR"/>
              <a:t>Uredite stilove teksta matrice</a:t>
            </a:r>
          </a:p>
          <a:p>
            <a:pPr lvl="1"/>
            <a:r>
              <a:rPr lang="hr-HR"/>
              <a:t>Druga razina</a:t>
            </a:r>
          </a:p>
          <a:p>
            <a:pPr lvl="2"/>
            <a:r>
              <a:rPr lang="hr-HR"/>
              <a:t>Treća razina</a:t>
            </a:r>
          </a:p>
          <a:p>
            <a:pPr lvl="3"/>
            <a:r>
              <a:rPr lang="hr-HR"/>
              <a:t>Četvrta razina</a:t>
            </a:r>
          </a:p>
          <a:p>
            <a:pPr lvl="4"/>
            <a:r>
              <a:rPr lang="hr-HR"/>
              <a:t>Peta razina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2" y="1598613"/>
            <a:ext cx="3505199" cy="4262436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r-HR"/>
              <a:t>Uredite stilove teksta matrice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5CFC5F-B82A-44E0-A124-339A05F87481}" type="datetime1">
              <a:rPr lang="hr-HR" smtClean="0"/>
              <a:t>11.7.2017.</a:t>
            </a:fld>
            <a:endParaRPr lang="hr-H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A04B74-08D3-4235-B2EE-FA9FC8104C24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115066599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Slika s opis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3" y="4800600"/>
            <a:ext cx="8915400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hr-HR"/>
              <a:t>Uredite stil naslova matrice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589212" y="634965"/>
            <a:ext cx="8915400" cy="3854970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hr-HR"/>
              <a:t>Kliknite ikonu da biste dodali  sliku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367338"/>
            <a:ext cx="8915400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r-HR"/>
              <a:t>Uredite stilove teksta matrice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223EFC-6F79-4E4A-B0B4-8D6D925BDABE}" type="datetime1">
              <a:rPr lang="hr-HR" smtClean="0"/>
              <a:t>11.7.2017.</a:t>
            </a:fld>
            <a:endParaRPr lang="hr-H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B9A04B74-08D3-4235-B2EE-FA9FC8104C24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224390210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slov i op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609600"/>
            <a:ext cx="8915399" cy="311704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hr-HR"/>
              <a:t>Uredite stil naslova matrice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4354046"/>
            <a:ext cx="8915399" cy="1555864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r-HR"/>
              <a:t>Uredite stilove teksta matrice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FCFD3D-24D6-4348-A483-AE8C4B356E77}" type="datetime1">
              <a:rPr lang="hr-HR" smtClean="0"/>
              <a:t>11.7.2017.</a:t>
            </a:fld>
            <a:endParaRPr lang="hr-H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B9A04B74-08D3-4235-B2EE-FA9FC8104C24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376861968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t s opis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9949" y="609600"/>
            <a:ext cx="8393926" cy="289560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hr-HR"/>
              <a:t>Uredite stil naslova matrice</a:t>
            </a:r>
            <a:endParaRPr lang="en-US" dirty="0"/>
          </a:p>
        </p:txBody>
      </p:sp>
      <p:sp>
        <p:nvSpPr>
          <p:cNvPr id="1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3275012" y="3505200"/>
            <a:ext cx="753655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hr-HR"/>
              <a:t>Uredite stilove teksta matrice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4354046"/>
            <a:ext cx="8915399" cy="1555864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r-HR"/>
              <a:t>Uredite stilove teksta matrice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697BD7-E284-4CBB-B127-12A84F631B69}" type="datetime1">
              <a:rPr lang="hr-HR" smtClean="0"/>
              <a:t>11.7.2017.</a:t>
            </a:fld>
            <a:endParaRPr lang="hr-H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11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B9A04B74-08D3-4235-B2EE-FA9FC8104C24}" type="slidenum">
              <a:rPr lang="hr-HR" smtClean="0"/>
              <a:t>‹#›</a:t>
            </a:fld>
            <a:endParaRPr lang="hr-HR"/>
          </a:p>
        </p:txBody>
      </p:sp>
      <p:sp>
        <p:nvSpPr>
          <p:cNvPr id="14" name="TextBox 13"/>
          <p:cNvSpPr txBox="1"/>
          <p:nvPr/>
        </p:nvSpPr>
        <p:spPr>
          <a:xfrm>
            <a:off x="2467652" y="648005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14852" y="290530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38789934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Kartica s naziv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3" y="2438400"/>
            <a:ext cx="8915400" cy="2724845"/>
          </a:xfrm>
        </p:spPr>
        <p:txBody>
          <a:bodyPr anchor="b">
            <a:normAutofit/>
          </a:bodyPr>
          <a:lstStyle>
            <a:lvl1pPr algn="l">
              <a:defRPr sz="4800" b="0"/>
            </a:lvl1pPr>
          </a:lstStyle>
          <a:p>
            <a:r>
              <a:rPr lang="hr-HR"/>
              <a:t>Uredite stil naslova matrice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hr-HR"/>
              <a:t>Uredite stilove teksta matrice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B38E6C-04F9-4B9E-9CC9-E48F19EE57A6}" type="datetime1">
              <a:rPr lang="hr-HR" smtClean="0"/>
              <a:t>11.7.2017.</a:t>
            </a:fld>
            <a:endParaRPr lang="hr-H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B9A04B74-08D3-4235-B2EE-FA9FC8104C24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89779359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Kartica s nazivom cita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2849949" y="609600"/>
            <a:ext cx="8393926" cy="289560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hr-HR"/>
              <a:t>Uredite stil naslova matrice</a:t>
            </a:r>
            <a:endParaRPr lang="en-US" dirty="0"/>
          </a:p>
        </p:txBody>
      </p:sp>
      <p:sp>
        <p:nvSpPr>
          <p:cNvPr id="21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589212" y="4343400"/>
            <a:ext cx="8915400" cy="838200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hr-HR"/>
              <a:t>Uredite stilove teksta matrice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hr-HR"/>
              <a:t>Uredite stilove teksta matrice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2E183C-602E-4A0C-BD44-DF8CDBCFE4DB}" type="datetime1">
              <a:rPr lang="hr-HR" smtClean="0"/>
              <a:t>11.7.2017.</a:t>
            </a:fld>
            <a:endParaRPr lang="hr-H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11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B9A04B74-08D3-4235-B2EE-FA9FC8104C24}" type="slidenum">
              <a:rPr lang="hr-HR" smtClean="0"/>
              <a:t>‹#›</a:t>
            </a:fld>
            <a:endParaRPr lang="hr-HR"/>
          </a:p>
        </p:txBody>
      </p:sp>
      <p:sp>
        <p:nvSpPr>
          <p:cNvPr id="17" name="TextBox 16"/>
          <p:cNvSpPr txBox="1"/>
          <p:nvPr/>
        </p:nvSpPr>
        <p:spPr>
          <a:xfrm>
            <a:off x="2467652" y="648005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14852" y="290530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56423764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ili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627407"/>
            <a:ext cx="8915399" cy="2880020"/>
          </a:xfrm>
        </p:spPr>
        <p:txBody>
          <a:bodyPr anchor="ctr">
            <a:normAutofit/>
          </a:bodyPr>
          <a:lstStyle>
            <a:lvl1pPr algn="l">
              <a:defRPr sz="4800" b="0"/>
            </a:lvl1pPr>
          </a:lstStyle>
          <a:p>
            <a:r>
              <a:rPr lang="hr-HR"/>
              <a:t>Uredite stil naslova matrice</a:t>
            </a:r>
            <a:endParaRPr lang="en-US" dirty="0"/>
          </a:p>
        </p:txBody>
      </p:sp>
      <p:sp>
        <p:nvSpPr>
          <p:cNvPr id="21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589212" y="4343400"/>
            <a:ext cx="8915400" cy="838200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hr-HR"/>
              <a:t>Uredite stilove teksta matrice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hr-HR"/>
              <a:t>Uredite stilove teksta matrice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B7886B-4A1E-4C7B-AAED-FC711FF9DF08}" type="datetime1">
              <a:rPr lang="hr-HR" smtClean="0"/>
              <a:t>11.7.2017.</a:t>
            </a:fld>
            <a:endParaRPr lang="hr-H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B9A04B74-08D3-4235-B2EE-FA9FC8104C24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139630956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Naslov i okomiti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/>
              <a:t>Uredite stil naslova matrice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hr-HR"/>
              <a:t>Uredite stilove teksta matrice</a:t>
            </a:r>
          </a:p>
          <a:p>
            <a:pPr lvl="1"/>
            <a:r>
              <a:rPr lang="hr-HR"/>
              <a:t>Druga razina</a:t>
            </a:r>
          </a:p>
          <a:p>
            <a:pPr lvl="2"/>
            <a:r>
              <a:rPr lang="hr-HR"/>
              <a:t>Treća razina</a:t>
            </a:r>
          </a:p>
          <a:p>
            <a:pPr lvl="3"/>
            <a:r>
              <a:rPr lang="hr-HR"/>
              <a:t>Četvrta razina</a:t>
            </a:r>
          </a:p>
          <a:p>
            <a:pPr lvl="4"/>
            <a:r>
              <a:rPr lang="hr-HR"/>
              <a:t>Peta razina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D0C1B4-DDC9-4C09-AFA6-73E25A3AEF97}" type="datetime1">
              <a:rPr lang="hr-HR" smtClean="0"/>
              <a:t>11.7.2017.</a:t>
            </a:fld>
            <a:endParaRPr lang="hr-H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A04B74-08D3-4235-B2EE-FA9FC8104C24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250521926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Okomiti naslov i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294812" y="627405"/>
            <a:ext cx="2207601" cy="5283817"/>
          </a:xfrm>
        </p:spPr>
        <p:txBody>
          <a:bodyPr vert="eaVert" anchor="ctr"/>
          <a:lstStyle/>
          <a:p>
            <a:r>
              <a:rPr lang="hr-HR"/>
              <a:t>Uredite stil naslova matrice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589212" y="627405"/>
            <a:ext cx="6477000" cy="5283817"/>
          </a:xfrm>
        </p:spPr>
        <p:txBody>
          <a:bodyPr vert="eaVert"/>
          <a:lstStyle/>
          <a:p>
            <a:pPr lvl="0"/>
            <a:r>
              <a:rPr lang="hr-HR"/>
              <a:t>Uredite stilove teksta matrice</a:t>
            </a:r>
          </a:p>
          <a:p>
            <a:pPr lvl="1"/>
            <a:r>
              <a:rPr lang="hr-HR"/>
              <a:t>Druga razina</a:t>
            </a:r>
          </a:p>
          <a:p>
            <a:pPr lvl="2"/>
            <a:r>
              <a:rPr lang="hr-HR"/>
              <a:t>Treća razina</a:t>
            </a:r>
          </a:p>
          <a:p>
            <a:pPr lvl="3"/>
            <a:r>
              <a:rPr lang="hr-HR"/>
              <a:t>Četvrta razina</a:t>
            </a:r>
          </a:p>
          <a:p>
            <a:pPr lvl="4"/>
            <a:r>
              <a:rPr lang="hr-HR"/>
              <a:t>Peta razina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981FF4-2098-4BCA-AC8D-2FFA66FD0092}" type="datetime1">
              <a:rPr lang="hr-HR" smtClean="0"/>
              <a:t>11.7.2017.</a:t>
            </a:fld>
            <a:endParaRPr lang="hr-H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A04B74-08D3-4235-B2EE-FA9FC8104C24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20840498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Group 22"/>
          <p:cNvGrpSpPr/>
          <p:nvPr/>
        </p:nvGrpSpPr>
        <p:grpSpPr>
          <a:xfrm>
            <a:off x="1" y="228600"/>
            <a:ext cx="2851516" cy="6638628"/>
            <a:chOff x="2487613" y="285750"/>
            <a:chExt cx="2428875" cy="5654676"/>
          </a:xfrm>
        </p:grpSpPr>
        <p:sp>
          <p:nvSpPr>
            <p:cNvPr id="24" name="Freeform 11"/>
            <p:cNvSpPr/>
            <p:nvPr/>
          </p:nvSpPr>
          <p:spPr bwMode="auto">
            <a:xfrm>
              <a:off x="2487613" y="2284413"/>
              <a:ext cx="85725" cy="533400"/>
            </a:xfrm>
            <a:custGeom>
              <a:avLst/>
              <a:gdLst/>
              <a:ahLst/>
              <a:cxnLst/>
              <a:rect l="0" t="0" r="r" b="b"/>
              <a:pathLst>
                <a:path w="22" h="136">
                  <a:moveTo>
                    <a:pt x="22" y="136"/>
                  </a:moveTo>
                  <a:cubicBezTo>
                    <a:pt x="20" y="117"/>
                    <a:pt x="19" y="99"/>
                    <a:pt x="17" y="80"/>
                  </a:cubicBezTo>
                  <a:cubicBezTo>
                    <a:pt x="11" y="54"/>
                    <a:pt x="6" y="27"/>
                    <a:pt x="0" y="0"/>
                  </a:cubicBezTo>
                  <a:cubicBezTo>
                    <a:pt x="0" y="35"/>
                    <a:pt x="0" y="35"/>
                    <a:pt x="0" y="35"/>
                  </a:cubicBezTo>
                  <a:cubicBezTo>
                    <a:pt x="6" y="64"/>
                    <a:pt x="13" y="94"/>
                    <a:pt x="20" y="124"/>
                  </a:cubicBezTo>
                  <a:cubicBezTo>
                    <a:pt x="20" y="128"/>
                    <a:pt x="21" y="132"/>
                    <a:pt x="22" y="136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5" name="Freeform 12"/>
            <p:cNvSpPr/>
            <p:nvPr/>
          </p:nvSpPr>
          <p:spPr bwMode="auto">
            <a:xfrm>
              <a:off x="2597151" y="2779713"/>
              <a:ext cx="550863" cy="1978025"/>
            </a:xfrm>
            <a:custGeom>
              <a:avLst/>
              <a:gdLst/>
              <a:ahLst/>
              <a:cxnLst/>
              <a:rect l="0" t="0" r="r" b="b"/>
              <a:pathLst>
                <a:path w="140" h="504">
                  <a:moveTo>
                    <a:pt x="86" y="350"/>
                  </a:moveTo>
                  <a:cubicBezTo>
                    <a:pt x="103" y="402"/>
                    <a:pt x="120" y="453"/>
                    <a:pt x="139" y="504"/>
                  </a:cubicBezTo>
                  <a:cubicBezTo>
                    <a:pt x="139" y="495"/>
                    <a:pt x="139" y="487"/>
                    <a:pt x="140" y="478"/>
                  </a:cubicBezTo>
                  <a:cubicBezTo>
                    <a:pt x="124" y="435"/>
                    <a:pt x="109" y="391"/>
                    <a:pt x="95" y="347"/>
                  </a:cubicBezTo>
                  <a:cubicBezTo>
                    <a:pt x="58" y="233"/>
                    <a:pt x="27" y="117"/>
                    <a:pt x="0" y="0"/>
                  </a:cubicBezTo>
                  <a:cubicBezTo>
                    <a:pt x="2" y="20"/>
                    <a:pt x="4" y="41"/>
                    <a:pt x="6" y="61"/>
                  </a:cubicBezTo>
                  <a:cubicBezTo>
                    <a:pt x="30" y="158"/>
                    <a:pt x="56" y="255"/>
                    <a:pt x="86" y="35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6" name="Freeform 13"/>
            <p:cNvSpPr/>
            <p:nvPr/>
          </p:nvSpPr>
          <p:spPr bwMode="auto">
            <a:xfrm>
              <a:off x="3175001" y="4730750"/>
              <a:ext cx="519113" cy="1209675"/>
            </a:xfrm>
            <a:custGeom>
              <a:avLst/>
              <a:gdLst/>
              <a:ahLst/>
              <a:cxnLst/>
              <a:rect l="0" t="0" r="r" b="b"/>
              <a:pathLst>
                <a:path w="132" h="308">
                  <a:moveTo>
                    <a:pt x="8" y="22"/>
                  </a:moveTo>
                  <a:cubicBezTo>
                    <a:pt x="5" y="15"/>
                    <a:pt x="2" y="8"/>
                    <a:pt x="0" y="0"/>
                  </a:cubicBezTo>
                  <a:cubicBezTo>
                    <a:pt x="0" y="10"/>
                    <a:pt x="0" y="19"/>
                    <a:pt x="0" y="29"/>
                  </a:cubicBezTo>
                  <a:cubicBezTo>
                    <a:pt x="21" y="85"/>
                    <a:pt x="44" y="140"/>
                    <a:pt x="68" y="194"/>
                  </a:cubicBezTo>
                  <a:cubicBezTo>
                    <a:pt x="85" y="232"/>
                    <a:pt x="104" y="270"/>
                    <a:pt x="123" y="308"/>
                  </a:cubicBezTo>
                  <a:cubicBezTo>
                    <a:pt x="132" y="308"/>
                    <a:pt x="132" y="308"/>
                    <a:pt x="132" y="308"/>
                  </a:cubicBezTo>
                  <a:cubicBezTo>
                    <a:pt x="113" y="269"/>
                    <a:pt x="94" y="230"/>
                    <a:pt x="77" y="190"/>
                  </a:cubicBezTo>
                  <a:cubicBezTo>
                    <a:pt x="52" y="135"/>
                    <a:pt x="29" y="79"/>
                    <a:pt x="8" y="22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7" name="Freeform 14"/>
            <p:cNvSpPr/>
            <p:nvPr/>
          </p:nvSpPr>
          <p:spPr bwMode="auto">
            <a:xfrm>
              <a:off x="3305176" y="5630863"/>
              <a:ext cx="146050" cy="309563"/>
            </a:xfrm>
            <a:custGeom>
              <a:avLst/>
              <a:gdLst/>
              <a:ahLst/>
              <a:cxnLst/>
              <a:rect l="0" t="0" r="r" b="b"/>
              <a:pathLst>
                <a:path w="37" h="79">
                  <a:moveTo>
                    <a:pt x="28" y="79"/>
                  </a:moveTo>
                  <a:cubicBezTo>
                    <a:pt x="37" y="79"/>
                    <a:pt x="37" y="79"/>
                    <a:pt x="37" y="79"/>
                  </a:cubicBezTo>
                  <a:cubicBezTo>
                    <a:pt x="24" y="53"/>
                    <a:pt x="12" y="27"/>
                    <a:pt x="0" y="0"/>
                  </a:cubicBezTo>
                  <a:cubicBezTo>
                    <a:pt x="8" y="27"/>
                    <a:pt x="17" y="53"/>
                    <a:pt x="28" y="79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8" name="Freeform 15"/>
            <p:cNvSpPr/>
            <p:nvPr/>
          </p:nvSpPr>
          <p:spPr bwMode="auto">
            <a:xfrm>
              <a:off x="2573338" y="2817813"/>
              <a:ext cx="700088" cy="2835275"/>
            </a:xfrm>
            <a:custGeom>
              <a:avLst/>
              <a:gdLst/>
              <a:ahLst/>
              <a:cxnLst/>
              <a:rect l="0" t="0" r="r" b="b"/>
              <a:pathLst>
                <a:path w="178" h="722">
                  <a:moveTo>
                    <a:pt x="162" y="660"/>
                  </a:moveTo>
                  <a:cubicBezTo>
                    <a:pt x="145" y="618"/>
                    <a:pt x="130" y="576"/>
                    <a:pt x="116" y="534"/>
                  </a:cubicBezTo>
                  <a:cubicBezTo>
                    <a:pt x="84" y="437"/>
                    <a:pt x="59" y="337"/>
                    <a:pt x="40" y="236"/>
                  </a:cubicBezTo>
                  <a:cubicBezTo>
                    <a:pt x="29" y="175"/>
                    <a:pt x="20" y="113"/>
                    <a:pt x="12" y="51"/>
                  </a:cubicBezTo>
                  <a:cubicBezTo>
                    <a:pt x="8" y="34"/>
                    <a:pt x="4" y="17"/>
                    <a:pt x="0" y="0"/>
                  </a:cubicBezTo>
                  <a:cubicBezTo>
                    <a:pt x="8" y="79"/>
                    <a:pt x="19" y="159"/>
                    <a:pt x="33" y="237"/>
                  </a:cubicBezTo>
                  <a:cubicBezTo>
                    <a:pt x="51" y="339"/>
                    <a:pt x="76" y="439"/>
                    <a:pt x="107" y="537"/>
                  </a:cubicBezTo>
                  <a:cubicBezTo>
                    <a:pt x="123" y="586"/>
                    <a:pt x="141" y="634"/>
                    <a:pt x="160" y="681"/>
                  </a:cubicBezTo>
                  <a:cubicBezTo>
                    <a:pt x="166" y="695"/>
                    <a:pt x="172" y="708"/>
                    <a:pt x="178" y="722"/>
                  </a:cubicBezTo>
                  <a:cubicBezTo>
                    <a:pt x="176" y="717"/>
                    <a:pt x="175" y="713"/>
                    <a:pt x="174" y="708"/>
                  </a:cubicBezTo>
                  <a:cubicBezTo>
                    <a:pt x="169" y="692"/>
                    <a:pt x="165" y="676"/>
                    <a:pt x="162" y="66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9" name="Freeform 16"/>
            <p:cNvSpPr/>
            <p:nvPr/>
          </p:nvSpPr>
          <p:spPr bwMode="auto">
            <a:xfrm>
              <a:off x="2506663" y="285750"/>
              <a:ext cx="90488" cy="2493963"/>
            </a:xfrm>
            <a:custGeom>
              <a:avLst/>
              <a:gdLst/>
              <a:ahLst/>
              <a:cxnLst/>
              <a:rect l="0" t="0" r="r" b="b"/>
              <a:pathLst>
                <a:path w="23" h="635">
                  <a:moveTo>
                    <a:pt x="11" y="577"/>
                  </a:moveTo>
                  <a:cubicBezTo>
                    <a:pt x="12" y="581"/>
                    <a:pt x="12" y="585"/>
                    <a:pt x="12" y="589"/>
                  </a:cubicBezTo>
                  <a:cubicBezTo>
                    <a:pt x="15" y="603"/>
                    <a:pt x="19" y="617"/>
                    <a:pt x="22" y="632"/>
                  </a:cubicBezTo>
                  <a:cubicBezTo>
                    <a:pt x="22" y="633"/>
                    <a:pt x="22" y="634"/>
                    <a:pt x="23" y="635"/>
                  </a:cubicBezTo>
                  <a:cubicBezTo>
                    <a:pt x="21" y="615"/>
                    <a:pt x="19" y="596"/>
                    <a:pt x="17" y="576"/>
                  </a:cubicBezTo>
                  <a:cubicBezTo>
                    <a:pt x="9" y="474"/>
                    <a:pt x="5" y="372"/>
                    <a:pt x="5" y="269"/>
                  </a:cubicBezTo>
                  <a:cubicBezTo>
                    <a:pt x="6" y="179"/>
                    <a:pt x="9" y="90"/>
                    <a:pt x="15" y="0"/>
                  </a:cubicBezTo>
                  <a:cubicBezTo>
                    <a:pt x="12" y="0"/>
                    <a:pt x="12" y="0"/>
                    <a:pt x="12" y="0"/>
                  </a:cubicBezTo>
                  <a:cubicBezTo>
                    <a:pt x="5" y="89"/>
                    <a:pt x="2" y="179"/>
                    <a:pt x="1" y="269"/>
                  </a:cubicBezTo>
                  <a:cubicBezTo>
                    <a:pt x="0" y="372"/>
                    <a:pt x="3" y="474"/>
                    <a:pt x="11" y="577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0" name="Freeform 17"/>
            <p:cNvSpPr/>
            <p:nvPr/>
          </p:nvSpPr>
          <p:spPr bwMode="auto">
            <a:xfrm>
              <a:off x="2554288" y="2598738"/>
              <a:ext cx="66675" cy="420688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0" y="0"/>
                  </a:moveTo>
                  <a:cubicBezTo>
                    <a:pt x="2" y="19"/>
                    <a:pt x="3" y="37"/>
                    <a:pt x="5" y="56"/>
                  </a:cubicBezTo>
                  <a:cubicBezTo>
                    <a:pt x="9" y="73"/>
                    <a:pt x="13" y="90"/>
                    <a:pt x="17" y="107"/>
                  </a:cubicBezTo>
                  <a:cubicBezTo>
                    <a:pt x="15" y="87"/>
                    <a:pt x="13" y="66"/>
                    <a:pt x="11" y="46"/>
                  </a:cubicBezTo>
                  <a:cubicBezTo>
                    <a:pt x="10" y="45"/>
                    <a:pt x="10" y="44"/>
                    <a:pt x="10" y="43"/>
                  </a:cubicBezTo>
                  <a:cubicBezTo>
                    <a:pt x="7" y="28"/>
                    <a:pt x="3" y="1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1" name="Freeform 18"/>
            <p:cNvSpPr/>
            <p:nvPr/>
          </p:nvSpPr>
          <p:spPr bwMode="auto">
            <a:xfrm>
              <a:off x="3143251" y="4757738"/>
              <a:ext cx="161925" cy="873125"/>
            </a:xfrm>
            <a:custGeom>
              <a:avLst/>
              <a:gdLst/>
              <a:ahLst/>
              <a:cxnLst/>
              <a:rect l="0" t="0" r="r" b="b"/>
              <a:pathLst>
                <a:path w="41" h="222">
                  <a:moveTo>
                    <a:pt x="0" y="0"/>
                  </a:moveTo>
                  <a:cubicBezTo>
                    <a:pt x="0" y="31"/>
                    <a:pt x="2" y="62"/>
                    <a:pt x="5" y="93"/>
                  </a:cubicBezTo>
                  <a:cubicBezTo>
                    <a:pt x="8" y="117"/>
                    <a:pt x="12" y="142"/>
                    <a:pt x="17" y="166"/>
                  </a:cubicBezTo>
                  <a:cubicBezTo>
                    <a:pt x="19" y="172"/>
                    <a:pt x="22" y="178"/>
                    <a:pt x="24" y="184"/>
                  </a:cubicBezTo>
                  <a:cubicBezTo>
                    <a:pt x="30" y="197"/>
                    <a:pt x="35" y="209"/>
                    <a:pt x="41" y="222"/>
                  </a:cubicBezTo>
                  <a:cubicBezTo>
                    <a:pt x="40" y="219"/>
                    <a:pt x="39" y="215"/>
                    <a:pt x="38" y="212"/>
                  </a:cubicBezTo>
                  <a:cubicBezTo>
                    <a:pt x="26" y="172"/>
                    <a:pt x="18" y="132"/>
                    <a:pt x="13" y="92"/>
                  </a:cubicBezTo>
                  <a:cubicBezTo>
                    <a:pt x="11" y="68"/>
                    <a:pt x="9" y="45"/>
                    <a:pt x="8" y="22"/>
                  </a:cubicBezTo>
                  <a:cubicBezTo>
                    <a:pt x="8" y="21"/>
                    <a:pt x="7" y="20"/>
                    <a:pt x="7" y="18"/>
                  </a:cubicBezTo>
                  <a:cubicBezTo>
                    <a:pt x="5" y="12"/>
                    <a:pt x="2" y="6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2" name="Freeform 19"/>
            <p:cNvSpPr/>
            <p:nvPr/>
          </p:nvSpPr>
          <p:spPr bwMode="auto">
            <a:xfrm>
              <a:off x="3148013" y="1282700"/>
              <a:ext cx="1768475" cy="3448050"/>
            </a:xfrm>
            <a:custGeom>
              <a:avLst/>
              <a:gdLst/>
              <a:ahLst/>
              <a:cxnLst/>
              <a:rect l="0" t="0" r="r" b="b"/>
              <a:pathLst>
                <a:path w="450" h="878">
                  <a:moveTo>
                    <a:pt x="7" y="854"/>
                  </a:moveTo>
                  <a:cubicBezTo>
                    <a:pt x="10" y="772"/>
                    <a:pt x="26" y="691"/>
                    <a:pt x="50" y="613"/>
                  </a:cubicBezTo>
                  <a:cubicBezTo>
                    <a:pt x="75" y="535"/>
                    <a:pt x="109" y="460"/>
                    <a:pt x="149" y="388"/>
                  </a:cubicBezTo>
                  <a:cubicBezTo>
                    <a:pt x="189" y="316"/>
                    <a:pt x="235" y="248"/>
                    <a:pt x="285" y="183"/>
                  </a:cubicBezTo>
                  <a:cubicBezTo>
                    <a:pt x="310" y="151"/>
                    <a:pt x="337" y="119"/>
                    <a:pt x="364" y="89"/>
                  </a:cubicBezTo>
                  <a:cubicBezTo>
                    <a:pt x="378" y="74"/>
                    <a:pt x="392" y="58"/>
                    <a:pt x="406" y="44"/>
                  </a:cubicBezTo>
                  <a:cubicBezTo>
                    <a:pt x="421" y="29"/>
                    <a:pt x="435" y="15"/>
                    <a:pt x="450" y="1"/>
                  </a:cubicBezTo>
                  <a:cubicBezTo>
                    <a:pt x="450" y="0"/>
                    <a:pt x="450" y="0"/>
                    <a:pt x="450" y="0"/>
                  </a:cubicBezTo>
                  <a:cubicBezTo>
                    <a:pt x="434" y="14"/>
                    <a:pt x="420" y="28"/>
                    <a:pt x="405" y="43"/>
                  </a:cubicBezTo>
                  <a:cubicBezTo>
                    <a:pt x="391" y="57"/>
                    <a:pt x="377" y="72"/>
                    <a:pt x="363" y="88"/>
                  </a:cubicBezTo>
                  <a:cubicBezTo>
                    <a:pt x="335" y="118"/>
                    <a:pt x="308" y="149"/>
                    <a:pt x="283" y="181"/>
                  </a:cubicBezTo>
                  <a:cubicBezTo>
                    <a:pt x="232" y="246"/>
                    <a:pt x="185" y="314"/>
                    <a:pt x="145" y="386"/>
                  </a:cubicBezTo>
                  <a:cubicBezTo>
                    <a:pt x="104" y="457"/>
                    <a:pt x="70" y="533"/>
                    <a:pt x="45" y="611"/>
                  </a:cubicBezTo>
                  <a:cubicBezTo>
                    <a:pt x="19" y="690"/>
                    <a:pt x="3" y="771"/>
                    <a:pt x="0" y="854"/>
                  </a:cubicBezTo>
                  <a:cubicBezTo>
                    <a:pt x="0" y="856"/>
                    <a:pt x="0" y="857"/>
                    <a:pt x="0" y="859"/>
                  </a:cubicBezTo>
                  <a:cubicBezTo>
                    <a:pt x="2" y="865"/>
                    <a:pt x="4" y="872"/>
                    <a:pt x="7" y="878"/>
                  </a:cubicBezTo>
                  <a:cubicBezTo>
                    <a:pt x="7" y="870"/>
                    <a:pt x="7" y="862"/>
                    <a:pt x="7" y="85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3" name="Freeform 20"/>
            <p:cNvSpPr/>
            <p:nvPr/>
          </p:nvSpPr>
          <p:spPr bwMode="auto">
            <a:xfrm>
              <a:off x="3273426" y="5653088"/>
              <a:ext cx="138113" cy="287338"/>
            </a:xfrm>
            <a:custGeom>
              <a:avLst/>
              <a:gdLst/>
              <a:ahLst/>
              <a:cxnLst/>
              <a:rect l="0" t="0" r="r" b="b"/>
              <a:pathLst>
                <a:path w="35" h="73">
                  <a:moveTo>
                    <a:pt x="0" y="0"/>
                  </a:moveTo>
                  <a:cubicBezTo>
                    <a:pt x="7" y="24"/>
                    <a:pt x="16" y="49"/>
                    <a:pt x="26" y="73"/>
                  </a:cubicBezTo>
                  <a:cubicBezTo>
                    <a:pt x="35" y="73"/>
                    <a:pt x="35" y="73"/>
                    <a:pt x="35" y="73"/>
                  </a:cubicBezTo>
                  <a:cubicBezTo>
                    <a:pt x="23" y="49"/>
                    <a:pt x="11" y="2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4" name="Freeform 21"/>
            <p:cNvSpPr/>
            <p:nvPr/>
          </p:nvSpPr>
          <p:spPr bwMode="auto">
            <a:xfrm>
              <a:off x="3143251" y="4656138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7" y="44"/>
                  </a:moveTo>
                  <a:cubicBezTo>
                    <a:pt x="7" y="46"/>
                    <a:pt x="8" y="47"/>
                    <a:pt x="8" y="48"/>
                  </a:cubicBezTo>
                  <a:cubicBezTo>
                    <a:pt x="8" y="38"/>
                    <a:pt x="8" y="29"/>
                    <a:pt x="8" y="19"/>
                  </a:cubicBezTo>
                  <a:cubicBezTo>
                    <a:pt x="5" y="13"/>
                    <a:pt x="3" y="6"/>
                    <a:pt x="1" y="0"/>
                  </a:cubicBezTo>
                  <a:cubicBezTo>
                    <a:pt x="0" y="9"/>
                    <a:pt x="0" y="17"/>
                    <a:pt x="0" y="26"/>
                  </a:cubicBezTo>
                  <a:cubicBezTo>
                    <a:pt x="2" y="32"/>
                    <a:pt x="5" y="38"/>
                    <a:pt x="7" y="4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5" name="Freeform 22"/>
            <p:cNvSpPr/>
            <p:nvPr/>
          </p:nvSpPr>
          <p:spPr bwMode="auto">
            <a:xfrm>
              <a:off x="3211513" y="5410200"/>
              <a:ext cx="203200" cy="530225"/>
            </a:xfrm>
            <a:custGeom>
              <a:avLst/>
              <a:gdLst/>
              <a:ahLst/>
              <a:cxnLst/>
              <a:rect l="0" t="0" r="r" b="b"/>
              <a:pathLst>
                <a:path w="52" h="135">
                  <a:moveTo>
                    <a:pt x="7" y="18"/>
                  </a:moveTo>
                  <a:cubicBezTo>
                    <a:pt x="5" y="12"/>
                    <a:pt x="2" y="6"/>
                    <a:pt x="0" y="0"/>
                  </a:cubicBezTo>
                  <a:cubicBezTo>
                    <a:pt x="3" y="16"/>
                    <a:pt x="7" y="32"/>
                    <a:pt x="12" y="48"/>
                  </a:cubicBezTo>
                  <a:cubicBezTo>
                    <a:pt x="13" y="53"/>
                    <a:pt x="14" y="57"/>
                    <a:pt x="16" y="62"/>
                  </a:cubicBezTo>
                  <a:cubicBezTo>
                    <a:pt x="27" y="86"/>
                    <a:pt x="39" y="111"/>
                    <a:pt x="51" y="135"/>
                  </a:cubicBezTo>
                  <a:cubicBezTo>
                    <a:pt x="52" y="135"/>
                    <a:pt x="52" y="135"/>
                    <a:pt x="52" y="135"/>
                  </a:cubicBezTo>
                  <a:cubicBezTo>
                    <a:pt x="41" y="109"/>
                    <a:pt x="32" y="83"/>
                    <a:pt x="24" y="56"/>
                  </a:cubicBezTo>
                  <a:cubicBezTo>
                    <a:pt x="18" y="43"/>
                    <a:pt x="13" y="31"/>
                    <a:pt x="7" y="18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</p:grpSp>
      <p:grpSp>
        <p:nvGrpSpPr>
          <p:cNvPr id="10" name="Group 9"/>
          <p:cNvGrpSpPr/>
          <p:nvPr/>
        </p:nvGrpSpPr>
        <p:grpSpPr>
          <a:xfrm>
            <a:off x="27221" y="-786"/>
            <a:ext cx="2356674" cy="6854039"/>
            <a:chOff x="6627813" y="194833"/>
            <a:chExt cx="1952625" cy="5678918"/>
          </a:xfrm>
        </p:grpSpPr>
        <p:sp>
          <p:nvSpPr>
            <p:cNvPr id="11" name="Freeform 27"/>
            <p:cNvSpPr/>
            <p:nvPr/>
          </p:nvSpPr>
          <p:spPr bwMode="auto">
            <a:xfrm>
              <a:off x="6627813" y="194833"/>
              <a:ext cx="409575" cy="3646488"/>
            </a:xfrm>
            <a:custGeom>
              <a:avLst/>
              <a:gdLst/>
              <a:ahLst/>
              <a:cxnLst/>
              <a:rect l="0" t="0" r="r" b="b"/>
              <a:pathLst>
                <a:path w="103" h="920">
                  <a:moveTo>
                    <a:pt x="7" y="210"/>
                  </a:moveTo>
                  <a:cubicBezTo>
                    <a:pt x="11" y="288"/>
                    <a:pt x="17" y="367"/>
                    <a:pt x="26" y="445"/>
                  </a:cubicBezTo>
                  <a:cubicBezTo>
                    <a:pt x="34" y="523"/>
                    <a:pt x="44" y="601"/>
                    <a:pt x="57" y="679"/>
                  </a:cubicBezTo>
                  <a:cubicBezTo>
                    <a:pt x="69" y="757"/>
                    <a:pt x="84" y="834"/>
                    <a:pt x="101" y="911"/>
                  </a:cubicBezTo>
                  <a:cubicBezTo>
                    <a:pt x="102" y="914"/>
                    <a:pt x="103" y="917"/>
                    <a:pt x="103" y="920"/>
                  </a:cubicBezTo>
                  <a:cubicBezTo>
                    <a:pt x="102" y="905"/>
                    <a:pt x="100" y="889"/>
                    <a:pt x="99" y="874"/>
                  </a:cubicBezTo>
                  <a:cubicBezTo>
                    <a:pt x="99" y="871"/>
                    <a:pt x="99" y="868"/>
                    <a:pt x="99" y="866"/>
                  </a:cubicBezTo>
                  <a:cubicBezTo>
                    <a:pt x="85" y="803"/>
                    <a:pt x="73" y="741"/>
                    <a:pt x="63" y="678"/>
                  </a:cubicBezTo>
                  <a:cubicBezTo>
                    <a:pt x="50" y="600"/>
                    <a:pt x="39" y="523"/>
                    <a:pt x="30" y="444"/>
                  </a:cubicBezTo>
                  <a:cubicBezTo>
                    <a:pt x="21" y="366"/>
                    <a:pt x="14" y="288"/>
                    <a:pt x="9" y="209"/>
                  </a:cubicBezTo>
                  <a:cubicBezTo>
                    <a:pt x="7" y="170"/>
                    <a:pt x="5" y="131"/>
                    <a:pt x="3" y="92"/>
                  </a:cubicBezTo>
                  <a:cubicBezTo>
                    <a:pt x="2" y="61"/>
                    <a:pt x="1" y="31"/>
                    <a:pt x="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31"/>
                    <a:pt x="1" y="61"/>
                    <a:pt x="1" y="92"/>
                  </a:cubicBezTo>
                  <a:cubicBezTo>
                    <a:pt x="3" y="131"/>
                    <a:pt x="4" y="170"/>
                    <a:pt x="7" y="21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2" name="Freeform 28"/>
            <p:cNvSpPr/>
            <p:nvPr/>
          </p:nvSpPr>
          <p:spPr bwMode="auto">
            <a:xfrm>
              <a:off x="7061201" y="3771900"/>
              <a:ext cx="350838" cy="1309688"/>
            </a:xfrm>
            <a:custGeom>
              <a:avLst/>
              <a:gdLst/>
              <a:ahLst/>
              <a:cxnLst/>
              <a:rect l="0" t="0" r="r" b="b"/>
              <a:pathLst>
                <a:path w="88" h="330">
                  <a:moveTo>
                    <a:pt x="53" y="229"/>
                  </a:moveTo>
                  <a:cubicBezTo>
                    <a:pt x="64" y="263"/>
                    <a:pt x="75" y="297"/>
                    <a:pt x="88" y="330"/>
                  </a:cubicBezTo>
                  <a:cubicBezTo>
                    <a:pt x="88" y="323"/>
                    <a:pt x="88" y="315"/>
                    <a:pt x="88" y="308"/>
                  </a:cubicBezTo>
                  <a:cubicBezTo>
                    <a:pt x="88" y="307"/>
                    <a:pt x="88" y="305"/>
                    <a:pt x="88" y="304"/>
                  </a:cubicBezTo>
                  <a:cubicBezTo>
                    <a:pt x="79" y="278"/>
                    <a:pt x="70" y="252"/>
                    <a:pt x="62" y="226"/>
                  </a:cubicBezTo>
                  <a:cubicBezTo>
                    <a:pt x="38" y="152"/>
                    <a:pt x="17" y="76"/>
                    <a:pt x="0" y="0"/>
                  </a:cubicBezTo>
                  <a:cubicBezTo>
                    <a:pt x="2" y="21"/>
                    <a:pt x="4" y="42"/>
                    <a:pt x="7" y="63"/>
                  </a:cubicBezTo>
                  <a:cubicBezTo>
                    <a:pt x="21" y="119"/>
                    <a:pt x="36" y="174"/>
                    <a:pt x="53" y="22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3" name="Freeform 29"/>
            <p:cNvSpPr/>
            <p:nvPr/>
          </p:nvSpPr>
          <p:spPr bwMode="auto">
            <a:xfrm>
              <a:off x="7439026" y="5053013"/>
              <a:ext cx="357188" cy="820738"/>
            </a:xfrm>
            <a:custGeom>
              <a:avLst/>
              <a:gdLst/>
              <a:ahLst/>
              <a:cxnLst/>
              <a:rect l="0" t="0" r="r" b="b"/>
              <a:pathLst>
                <a:path w="90" h="207">
                  <a:moveTo>
                    <a:pt x="6" y="15"/>
                  </a:moveTo>
                  <a:cubicBezTo>
                    <a:pt x="4" y="10"/>
                    <a:pt x="2" y="5"/>
                    <a:pt x="0" y="0"/>
                  </a:cubicBezTo>
                  <a:cubicBezTo>
                    <a:pt x="0" y="9"/>
                    <a:pt x="0" y="19"/>
                    <a:pt x="1" y="29"/>
                  </a:cubicBezTo>
                  <a:cubicBezTo>
                    <a:pt x="14" y="62"/>
                    <a:pt x="27" y="95"/>
                    <a:pt x="42" y="127"/>
                  </a:cubicBezTo>
                  <a:cubicBezTo>
                    <a:pt x="54" y="154"/>
                    <a:pt x="67" y="181"/>
                    <a:pt x="80" y="207"/>
                  </a:cubicBezTo>
                  <a:cubicBezTo>
                    <a:pt x="90" y="207"/>
                    <a:pt x="90" y="207"/>
                    <a:pt x="90" y="207"/>
                  </a:cubicBezTo>
                  <a:cubicBezTo>
                    <a:pt x="76" y="180"/>
                    <a:pt x="63" y="152"/>
                    <a:pt x="50" y="123"/>
                  </a:cubicBezTo>
                  <a:cubicBezTo>
                    <a:pt x="34" y="88"/>
                    <a:pt x="20" y="51"/>
                    <a:pt x="6" y="15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4" name="Freeform 30"/>
            <p:cNvSpPr/>
            <p:nvPr/>
          </p:nvSpPr>
          <p:spPr bwMode="auto">
            <a:xfrm>
              <a:off x="7037388" y="3811588"/>
              <a:ext cx="457200" cy="1852613"/>
            </a:xfrm>
            <a:custGeom>
              <a:avLst/>
              <a:gdLst/>
              <a:ahLst/>
              <a:cxnLst/>
              <a:rect l="0" t="0" r="r" b="b"/>
              <a:pathLst>
                <a:path w="115" h="467">
                  <a:moveTo>
                    <a:pt x="101" y="409"/>
                  </a:moveTo>
                  <a:cubicBezTo>
                    <a:pt x="93" y="388"/>
                    <a:pt x="85" y="366"/>
                    <a:pt x="78" y="344"/>
                  </a:cubicBezTo>
                  <a:cubicBezTo>
                    <a:pt x="57" y="281"/>
                    <a:pt x="41" y="216"/>
                    <a:pt x="29" y="151"/>
                  </a:cubicBezTo>
                  <a:cubicBezTo>
                    <a:pt x="22" y="119"/>
                    <a:pt x="17" y="86"/>
                    <a:pt x="13" y="53"/>
                  </a:cubicBezTo>
                  <a:cubicBezTo>
                    <a:pt x="9" y="35"/>
                    <a:pt x="4" y="18"/>
                    <a:pt x="0" y="0"/>
                  </a:cubicBezTo>
                  <a:cubicBezTo>
                    <a:pt x="5" y="51"/>
                    <a:pt x="12" y="102"/>
                    <a:pt x="21" y="152"/>
                  </a:cubicBezTo>
                  <a:cubicBezTo>
                    <a:pt x="33" y="218"/>
                    <a:pt x="49" y="283"/>
                    <a:pt x="69" y="347"/>
                  </a:cubicBezTo>
                  <a:cubicBezTo>
                    <a:pt x="79" y="378"/>
                    <a:pt x="90" y="410"/>
                    <a:pt x="103" y="441"/>
                  </a:cubicBezTo>
                  <a:cubicBezTo>
                    <a:pt x="107" y="449"/>
                    <a:pt x="111" y="458"/>
                    <a:pt x="115" y="467"/>
                  </a:cubicBezTo>
                  <a:cubicBezTo>
                    <a:pt x="114" y="464"/>
                    <a:pt x="113" y="461"/>
                    <a:pt x="112" y="458"/>
                  </a:cubicBezTo>
                  <a:cubicBezTo>
                    <a:pt x="108" y="442"/>
                    <a:pt x="104" y="425"/>
                    <a:pt x="101" y="40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5" name="Freeform 31"/>
            <p:cNvSpPr/>
            <p:nvPr/>
          </p:nvSpPr>
          <p:spPr bwMode="auto">
            <a:xfrm>
              <a:off x="6992938" y="1263650"/>
              <a:ext cx="144463" cy="2508250"/>
            </a:xfrm>
            <a:custGeom>
              <a:avLst/>
              <a:gdLst/>
              <a:ahLst/>
              <a:cxnLst/>
              <a:rect l="0" t="0" r="r" b="b"/>
              <a:pathLst>
                <a:path w="36" h="633">
                  <a:moveTo>
                    <a:pt x="17" y="633"/>
                  </a:moveTo>
                  <a:cubicBezTo>
                    <a:pt x="15" y="621"/>
                    <a:pt x="14" y="609"/>
                    <a:pt x="13" y="597"/>
                  </a:cubicBezTo>
                  <a:cubicBezTo>
                    <a:pt x="8" y="530"/>
                    <a:pt x="5" y="464"/>
                    <a:pt x="5" y="398"/>
                  </a:cubicBezTo>
                  <a:cubicBezTo>
                    <a:pt x="5" y="331"/>
                    <a:pt x="8" y="265"/>
                    <a:pt x="13" y="198"/>
                  </a:cubicBezTo>
                  <a:cubicBezTo>
                    <a:pt x="15" y="165"/>
                    <a:pt x="18" y="132"/>
                    <a:pt x="22" y="99"/>
                  </a:cubicBezTo>
                  <a:cubicBezTo>
                    <a:pt x="26" y="66"/>
                    <a:pt x="30" y="33"/>
                    <a:pt x="36" y="0"/>
                  </a:cubicBezTo>
                  <a:cubicBezTo>
                    <a:pt x="35" y="0"/>
                    <a:pt x="35" y="0"/>
                    <a:pt x="35" y="0"/>
                  </a:cubicBezTo>
                  <a:cubicBezTo>
                    <a:pt x="29" y="33"/>
                    <a:pt x="24" y="66"/>
                    <a:pt x="20" y="99"/>
                  </a:cubicBezTo>
                  <a:cubicBezTo>
                    <a:pt x="16" y="132"/>
                    <a:pt x="13" y="165"/>
                    <a:pt x="10" y="198"/>
                  </a:cubicBezTo>
                  <a:cubicBezTo>
                    <a:pt x="4" y="264"/>
                    <a:pt x="1" y="331"/>
                    <a:pt x="1" y="398"/>
                  </a:cubicBezTo>
                  <a:cubicBezTo>
                    <a:pt x="0" y="461"/>
                    <a:pt x="2" y="525"/>
                    <a:pt x="7" y="589"/>
                  </a:cubicBezTo>
                  <a:cubicBezTo>
                    <a:pt x="10" y="603"/>
                    <a:pt x="13" y="618"/>
                    <a:pt x="16" y="632"/>
                  </a:cubicBezTo>
                  <a:cubicBezTo>
                    <a:pt x="16" y="632"/>
                    <a:pt x="17" y="633"/>
                    <a:pt x="17" y="63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6" name="Freeform 32"/>
            <p:cNvSpPr/>
            <p:nvPr/>
          </p:nvSpPr>
          <p:spPr bwMode="auto">
            <a:xfrm>
              <a:off x="7526338" y="5640388"/>
              <a:ext cx="111125" cy="233363"/>
            </a:xfrm>
            <a:custGeom>
              <a:avLst/>
              <a:gdLst/>
              <a:ahLst/>
              <a:cxnLst/>
              <a:rect l="0" t="0" r="r" b="b"/>
              <a:pathLst>
                <a:path w="28" h="59">
                  <a:moveTo>
                    <a:pt x="22" y="59"/>
                  </a:moveTo>
                  <a:cubicBezTo>
                    <a:pt x="28" y="59"/>
                    <a:pt x="28" y="59"/>
                    <a:pt x="28" y="59"/>
                  </a:cubicBezTo>
                  <a:cubicBezTo>
                    <a:pt x="18" y="40"/>
                    <a:pt x="9" y="20"/>
                    <a:pt x="0" y="0"/>
                  </a:cubicBezTo>
                  <a:cubicBezTo>
                    <a:pt x="6" y="20"/>
                    <a:pt x="13" y="40"/>
                    <a:pt x="22" y="5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7" name="Freeform 33"/>
            <p:cNvSpPr/>
            <p:nvPr/>
          </p:nvSpPr>
          <p:spPr bwMode="auto">
            <a:xfrm>
              <a:off x="7021513" y="3598863"/>
              <a:ext cx="68263" cy="423863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4" y="54"/>
                  </a:moveTo>
                  <a:cubicBezTo>
                    <a:pt x="8" y="72"/>
                    <a:pt x="13" y="89"/>
                    <a:pt x="17" y="107"/>
                  </a:cubicBezTo>
                  <a:cubicBezTo>
                    <a:pt x="14" y="86"/>
                    <a:pt x="12" y="65"/>
                    <a:pt x="10" y="44"/>
                  </a:cubicBezTo>
                  <a:cubicBezTo>
                    <a:pt x="10" y="44"/>
                    <a:pt x="9" y="43"/>
                    <a:pt x="9" y="43"/>
                  </a:cubicBezTo>
                  <a:cubicBezTo>
                    <a:pt x="6" y="29"/>
                    <a:pt x="3" y="14"/>
                    <a:pt x="0" y="0"/>
                  </a:cubicBezTo>
                  <a:cubicBezTo>
                    <a:pt x="0" y="2"/>
                    <a:pt x="0" y="5"/>
                    <a:pt x="0" y="8"/>
                  </a:cubicBezTo>
                  <a:cubicBezTo>
                    <a:pt x="1" y="23"/>
                    <a:pt x="3" y="39"/>
                    <a:pt x="4" y="54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8" name="Freeform 34"/>
            <p:cNvSpPr/>
            <p:nvPr/>
          </p:nvSpPr>
          <p:spPr bwMode="auto">
            <a:xfrm>
              <a:off x="7412038" y="2801938"/>
              <a:ext cx="1168400" cy="2251075"/>
            </a:xfrm>
            <a:custGeom>
              <a:avLst/>
              <a:gdLst/>
              <a:ahLst/>
              <a:cxnLst/>
              <a:rect l="0" t="0" r="r" b="b"/>
              <a:pathLst>
                <a:path w="294" h="568">
                  <a:moveTo>
                    <a:pt x="8" y="553"/>
                  </a:moveTo>
                  <a:cubicBezTo>
                    <a:pt x="9" y="501"/>
                    <a:pt x="19" y="448"/>
                    <a:pt x="35" y="397"/>
                  </a:cubicBezTo>
                  <a:cubicBezTo>
                    <a:pt x="51" y="347"/>
                    <a:pt x="73" y="298"/>
                    <a:pt x="99" y="252"/>
                  </a:cubicBezTo>
                  <a:cubicBezTo>
                    <a:pt x="124" y="205"/>
                    <a:pt x="154" y="161"/>
                    <a:pt x="187" y="119"/>
                  </a:cubicBezTo>
                  <a:cubicBezTo>
                    <a:pt x="203" y="98"/>
                    <a:pt x="220" y="77"/>
                    <a:pt x="238" y="58"/>
                  </a:cubicBezTo>
                  <a:cubicBezTo>
                    <a:pt x="247" y="48"/>
                    <a:pt x="256" y="38"/>
                    <a:pt x="265" y="28"/>
                  </a:cubicBezTo>
                  <a:cubicBezTo>
                    <a:pt x="274" y="19"/>
                    <a:pt x="284" y="9"/>
                    <a:pt x="294" y="0"/>
                  </a:cubicBezTo>
                  <a:cubicBezTo>
                    <a:pt x="293" y="0"/>
                    <a:pt x="293" y="0"/>
                    <a:pt x="293" y="0"/>
                  </a:cubicBezTo>
                  <a:cubicBezTo>
                    <a:pt x="283" y="9"/>
                    <a:pt x="273" y="18"/>
                    <a:pt x="264" y="27"/>
                  </a:cubicBezTo>
                  <a:cubicBezTo>
                    <a:pt x="255" y="37"/>
                    <a:pt x="246" y="47"/>
                    <a:pt x="237" y="56"/>
                  </a:cubicBezTo>
                  <a:cubicBezTo>
                    <a:pt x="218" y="76"/>
                    <a:pt x="201" y="96"/>
                    <a:pt x="185" y="117"/>
                  </a:cubicBezTo>
                  <a:cubicBezTo>
                    <a:pt x="151" y="159"/>
                    <a:pt x="121" y="203"/>
                    <a:pt x="95" y="249"/>
                  </a:cubicBezTo>
                  <a:cubicBezTo>
                    <a:pt x="68" y="296"/>
                    <a:pt x="46" y="345"/>
                    <a:pt x="30" y="396"/>
                  </a:cubicBezTo>
                  <a:cubicBezTo>
                    <a:pt x="13" y="445"/>
                    <a:pt x="3" y="497"/>
                    <a:pt x="0" y="549"/>
                  </a:cubicBezTo>
                  <a:cubicBezTo>
                    <a:pt x="3" y="555"/>
                    <a:pt x="5" y="561"/>
                    <a:pt x="7" y="568"/>
                  </a:cubicBezTo>
                  <a:cubicBezTo>
                    <a:pt x="7" y="563"/>
                    <a:pt x="7" y="558"/>
                    <a:pt x="8" y="55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9" name="Freeform 35"/>
            <p:cNvSpPr/>
            <p:nvPr/>
          </p:nvSpPr>
          <p:spPr bwMode="auto">
            <a:xfrm>
              <a:off x="7494588" y="5664200"/>
              <a:ext cx="100013" cy="209550"/>
            </a:xfrm>
            <a:custGeom>
              <a:avLst/>
              <a:gdLst/>
              <a:ahLst/>
              <a:cxnLst/>
              <a:rect l="0" t="0" r="r" b="b"/>
              <a:pathLst>
                <a:path w="25" h="53">
                  <a:moveTo>
                    <a:pt x="0" y="0"/>
                  </a:moveTo>
                  <a:cubicBezTo>
                    <a:pt x="5" y="18"/>
                    <a:pt x="12" y="36"/>
                    <a:pt x="19" y="53"/>
                  </a:cubicBezTo>
                  <a:cubicBezTo>
                    <a:pt x="25" y="53"/>
                    <a:pt x="25" y="53"/>
                    <a:pt x="25" y="53"/>
                  </a:cubicBezTo>
                  <a:cubicBezTo>
                    <a:pt x="16" y="36"/>
                    <a:pt x="8" y="18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20" name="Freeform 36"/>
            <p:cNvSpPr/>
            <p:nvPr/>
          </p:nvSpPr>
          <p:spPr bwMode="auto">
            <a:xfrm>
              <a:off x="7412038" y="5081588"/>
              <a:ext cx="114300" cy="558800"/>
            </a:xfrm>
            <a:custGeom>
              <a:avLst/>
              <a:gdLst/>
              <a:ahLst/>
              <a:cxnLst/>
              <a:rect l="0" t="0" r="r" b="b"/>
              <a:pathLst>
                <a:path w="29" h="141">
                  <a:moveTo>
                    <a:pt x="0" y="0"/>
                  </a:moveTo>
                  <a:cubicBezTo>
                    <a:pt x="0" y="30"/>
                    <a:pt x="2" y="60"/>
                    <a:pt x="7" y="89"/>
                  </a:cubicBezTo>
                  <a:cubicBezTo>
                    <a:pt x="11" y="98"/>
                    <a:pt x="14" y="108"/>
                    <a:pt x="18" y="117"/>
                  </a:cubicBezTo>
                  <a:cubicBezTo>
                    <a:pt x="22" y="125"/>
                    <a:pt x="25" y="133"/>
                    <a:pt x="29" y="141"/>
                  </a:cubicBezTo>
                  <a:cubicBezTo>
                    <a:pt x="28" y="139"/>
                    <a:pt x="28" y="137"/>
                    <a:pt x="27" y="135"/>
                  </a:cubicBezTo>
                  <a:cubicBezTo>
                    <a:pt x="16" y="98"/>
                    <a:pt x="10" y="60"/>
                    <a:pt x="8" y="22"/>
                  </a:cubicBezTo>
                  <a:cubicBezTo>
                    <a:pt x="7" y="18"/>
                    <a:pt x="5" y="15"/>
                    <a:pt x="4" y="11"/>
                  </a:cubicBezTo>
                  <a:cubicBezTo>
                    <a:pt x="2" y="7"/>
                    <a:pt x="1" y="3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21" name="Freeform 37"/>
            <p:cNvSpPr/>
            <p:nvPr/>
          </p:nvSpPr>
          <p:spPr bwMode="auto">
            <a:xfrm>
              <a:off x="7412038" y="4978400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0" y="26"/>
                  </a:moveTo>
                  <a:cubicBezTo>
                    <a:pt x="1" y="29"/>
                    <a:pt x="2" y="33"/>
                    <a:pt x="4" y="37"/>
                  </a:cubicBezTo>
                  <a:cubicBezTo>
                    <a:pt x="5" y="41"/>
                    <a:pt x="7" y="44"/>
                    <a:pt x="8" y="48"/>
                  </a:cubicBezTo>
                  <a:cubicBezTo>
                    <a:pt x="7" y="38"/>
                    <a:pt x="7" y="28"/>
                    <a:pt x="7" y="19"/>
                  </a:cubicBezTo>
                  <a:cubicBezTo>
                    <a:pt x="5" y="12"/>
                    <a:pt x="3" y="6"/>
                    <a:pt x="0" y="0"/>
                  </a:cubicBezTo>
                  <a:cubicBezTo>
                    <a:pt x="0" y="1"/>
                    <a:pt x="0" y="3"/>
                    <a:pt x="0" y="4"/>
                  </a:cubicBezTo>
                  <a:cubicBezTo>
                    <a:pt x="0" y="11"/>
                    <a:pt x="0" y="19"/>
                    <a:pt x="0" y="26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22" name="Freeform 38"/>
            <p:cNvSpPr/>
            <p:nvPr/>
          </p:nvSpPr>
          <p:spPr bwMode="auto">
            <a:xfrm>
              <a:off x="7439026" y="5434013"/>
              <a:ext cx="174625" cy="439738"/>
            </a:xfrm>
            <a:custGeom>
              <a:avLst/>
              <a:gdLst/>
              <a:ahLst/>
              <a:cxnLst/>
              <a:rect l="0" t="0" r="r" b="b"/>
              <a:pathLst>
                <a:path w="44" h="111">
                  <a:moveTo>
                    <a:pt x="11" y="28"/>
                  </a:moveTo>
                  <a:cubicBezTo>
                    <a:pt x="7" y="19"/>
                    <a:pt x="4" y="9"/>
                    <a:pt x="0" y="0"/>
                  </a:cubicBezTo>
                  <a:cubicBezTo>
                    <a:pt x="3" y="16"/>
                    <a:pt x="7" y="33"/>
                    <a:pt x="11" y="49"/>
                  </a:cubicBezTo>
                  <a:cubicBezTo>
                    <a:pt x="12" y="52"/>
                    <a:pt x="13" y="55"/>
                    <a:pt x="14" y="58"/>
                  </a:cubicBezTo>
                  <a:cubicBezTo>
                    <a:pt x="22" y="76"/>
                    <a:pt x="30" y="94"/>
                    <a:pt x="39" y="111"/>
                  </a:cubicBezTo>
                  <a:cubicBezTo>
                    <a:pt x="44" y="111"/>
                    <a:pt x="44" y="111"/>
                    <a:pt x="44" y="111"/>
                  </a:cubicBezTo>
                  <a:cubicBezTo>
                    <a:pt x="35" y="92"/>
                    <a:pt x="28" y="72"/>
                    <a:pt x="22" y="52"/>
                  </a:cubicBezTo>
                  <a:cubicBezTo>
                    <a:pt x="18" y="44"/>
                    <a:pt x="15" y="36"/>
                    <a:pt x="11" y="28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</p:grpSp>
      <p:sp>
        <p:nvSpPr>
          <p:cNvPr id="7" name="Rectangle 6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592924" y="624110"/>
            <a:ext cx="8911687" cy="128089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hr-HR"/>
              <a:t>Uredite stil naslova matrice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2133600"/>
            <a:ext cx="8915400" cy="38862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hr-HR"/>
              <a:t>Uredite stilove teksta matrice</a:t>
            </a:r>
          </a:p>
          <a:p>
            <a:pPr lvl="1"/>
            <a:r>
              <a:rPr lang="hr-HR"/>
              <a:t>Druga razina</a:t>
            </a:r>
          </a:p>
          <a:p>
            <a:pPr lvl="2"/>
            <a:r>
              <a:rPr lang="hr-HR"/>
              <a:t>Treća razina</a:t>
            </a:r>
          </a:p>
          <a:p>
            <a:pPr lvl="3"/>
            <a:r>
              <a:rPr lang="hr-HR"/>
              <a:t>Četvrta razina</a:t>
            </a:r>
          </a:p>
          <a:p>
            <a:pPr lvl="4"/>
            <a:r>
              <a:rPr lang="hr-HR"/>
              <a:t>Peta razina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361612" y="6130437"/>
            <a:ext cx="1146283" cy="3703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4B92A9A-7312-4095-80CF-AA2E329C9CEB}" type="datetime1">
              <a:rPr lang="hr-HR" smtClean="0"/>
              <a:t>11.7.2017.</a:t>
            </a:fld>
            <a:endParaRPr lang="hr-H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89212" y="6135808"/>
            <a:ext cx="76199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hr-H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531812" y="787782"/>
            <a:ext cx="77976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000">
                <a:solidFill>
                  <a:srgbClr val="FEFFFF"/>
                </a:solidFill>
              </a:defRPr>
            </a:lvl1pPr>
          </a:lstStyle>
          <a:p>
            <a:fld id="{B9A04B74-08D3-4235-B2EE-FA9FC8104C24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27650398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</p:sldLayoutIdLst>
  <p:hf hdr="0" ftr="0" dt="0"/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tx1">
              <a:lumMod val="85000"/>
              <a:lumOff val="15000"/>
            </a:schemeClr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jp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9.png"/><Relationship Id="rId7" Type="http://schemas.openxmlformats.org/officeDocument/2006/relationships/image" Target="../media/image1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10" Type="http://schemas.openxmlformats.org/officeDocument/2006/relationships/image" Target="../media/image16.png"/><Relationship Id="rId4" Type="http://schemas.openxmlformats.org/officeDocument/2006/relationships/image" Target="../media/image10.png"/><Relationship Id="rId9" Type="http://schemas.openxmlformats.org/officeDocument/2006/relationships/image" Target="../media/image1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7" Type="http://schemas.openxmlformats.org/officeDocument/2006/relationships/image" Target="../media/image2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12" Type="http://schemas.openxmlformats.org/officeDocument/2006/relationships/image" Target="../media/image2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11" Type="http://schemas.openxmlformats.org/officeDocument/2006/relationships/image" Target="../media/image24.png"/><Relationship Id="rId10" Type="http://schemas.openxmlformats.org/officeDocument/2006/relationships/image" Target="../media/image23.png"/><Relationship Id="rId4" Type="http://schemas.openxmlformats.org/officeDocument/2006/relationships/image" Target="../media/image22.png"/><Relationship Id="rId9" Type="http://schemas.openxmlformats.org/officeDocument/2006/relationships/image" Target="../media/image37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8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png"/><Relationship Id="rId7" Type="http://schemas.openxmlformats.org/officeDocument/2006/relationships/image" Target="../media/image29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5.png"/><Relationship Id="rId5" Type="http://schemas.openxmlformats.org/officeDocument/2006/relationships/image" Target="../media/image44.png"/><Relationship Id="rId4" Type="http://schemas.openxmlformats.org/officeDocument/2006/relationships/image" Target="../media/image4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/>
          <p:cNvSpPr>
            <a:spLocks noGrp="1"/>
          </p:cNvSpPr>
          <p:nvPr>
            <p:ph type="ctrTitle"/>
          </p:nvPr>
        </p:nvSpPr>
        <p:spPr>
          <a:xfrm>
            <a:off x="2589213" y="1674628"/>
            <a:ext cx="9202294" cy="2262781"/>
          </a:xfrm>
        </p:spPr>
        <p:txBody>
          <a:bodyPr>
            <a:noAutofit/>
          </a:bodyPr>
          <a:lstStyle/>
          <a:p>
            <a:r>
              <a:rPr lang="hr-HR" sz="3800" dirty="0"/>
              <a:t>Izrada aplikacije za analitiku i predviđanje rezultata učenja temeljene na inteligentnim algoritmima</a:t>
            </a:r>
          </a:p>
        </p:txBody>
      </p:sp>
      <p:sp>
        <p:nvSpPr>
          <p:cNvPr id="3" name="Podnaslov 2"/>
          <p:cNvSpPr>
            <a:spLocks noGrp="1"/>
          </p:cNvSpPr>
          <p:nvPr>
            <p:ph type="subTitle" idx="1"/>
          </p:nvPr>
        </p:nvSpPr>
        <p:spPr>
          <a:xfrm>
            <a:off x="2589213" y="5160151"/>
            <a:ext cx="8915399" cy="1126283"/>
          </a:xfrm>
        </p:spPr>
        <p:txBody>
          <a:bodyPr/>
          <a:lstStyle/>
          <a:p>
            <a:r>
              <a:rPr lang="hr-HR" dirty="0"/>
              <a:t>Student: Roko Krstulović</a:t>
            </a:r>
          </a:p>
          <a:p>
            <a:r>
              <a:rPr lang="hr-HR" dirty="0"/>
              <a:t>Mentor: doc. sr. Sc Ivica </a:t>
            </a:r>
            <a:r>
              <a:rPr lang="hr-HR" dirty="0" err="1"/>
              <a:t>Botički</a:t>
            </a:r>
            <a:endParaRPr lang="hr-HR" dirty="0"/>
          </a:p>
        </p:txBody>
      </p:sp>
    </p:spTree>
    <p:extLst>
      <p:ext uri="{BB962C8B-B14F-4D97-AF65-F5344CB8AC3E}">
        <p14:creationId xmlns:p14="http://schemas.microsoft.com/office/powerpoint/2010/main" val="272048406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dirty="0"/>
              <a:t>Sadržaj obrane</a:t>
            </a:r>
          </a:p>
        </p:txBody>
      </p:sp>
      <p:sp>
        <p:nvSpPr>
          <p:cNvPr id="3" name="Rezervirano mjesto sadržaja 2"/>
          <p:cNvSpPr>
            <a:spLocks noGrp="1"/>
          </p:cNvSpPr>
          <p:nvPr>
            <p:ph idx="1"/>
          </p:nvPr>
        </p:nvSpPr>
        <p:spPr>
          <a:xfrm>
            <a:off x="2589212" y="2133600"/>
            <a:ext cx="8915400" cy="2982410"/>
          </a:xfrm>
        </p:spPr>
        <p:txBody>
          <a:bodyPr/>
          <a:lstStyle/>
          <a:p>
            <a:r>
              <a:rPr lang="hr-HR" dirty="0"/>
              <a:t>Pozadina i širi kontekst aplikacije</a:t>
            </a:r>
          </a:p>
          <a:p>
            <a:r>
              <a:rPr lang="hr-HR" dirty="0"/>
              <a:t>Arhitektura aplikacije</a:t>
            </a:r>
          </a:p>
          <a:p>
            <a:r>
              <a:rPr lang="hr-HR" dirty="0"/>
              <a:t>Korišteni algoritmi</a:t>
            </a:r>
          </a:p>
          <a:p>
            <a:r>
              <a:rPr lang="hr-HR" dirty="0"/>
              <a:t>Vizualizacije rezultata</a:t>
            </a:r>
          </a:p>
          <a:p>
            <a:r>
              <a:rPr lang="hr-HR" dirty="0"/>
              <a:t>Rezultati</a:t>
            </a:r>
          </a:p>
          <a:p>
            <a:r>
              <a:rPr lang="hr-HR" dirty="0"/>
              <a:t>Pitanja</a:t>
            </a:r>
          </a:p>
          <a:p>
            <a:endParaRPr lang="hr-HR" dirty="0"/>
          </a:p>
        </p:txBody>
      </p:sp>
      <p:sp>
        <p:nvSpPr>
          <p:cNvPr id="8" name="Rezervirano mjesto broja slajda 7"/>
          <p:cNvSpPr>
            <a:spLocks noGrp="1"/>
          </p:cNvSpPr>
          <p:nvPr>
            <p:ph type="sldNum" sz="quarter" idx="12"/>
          </p:nvPr>
        </p:nvSpPr>
        <p:spPr>
          <a:xfrm>
            <a:off x="9956498" y="6139823"/>
            <a:ext cx="1047123" cy="365125"/>
          </a:xfrm>
        </p:spPr>
        <p:txBody>
          <a:bodyPr/>
          <a:lstStyle/>
          <a:p>
            <a:fld id="{B9A04B74-08D3-4235-B2EE-FA9FC8104C24}" type="slidenum">
              <a:rPr lang="hr-HR" smtClean="0">
                <a:solidFill>
                  <a:schemeClr val="tx1"/>
                </a:solidFill>
              </a:rPr>
              <a:t>2</a:t>
            </a:fld>
            <a:endParaRPr lang="hr-HR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3614399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dirty="0"/>
              <a:t>Širi kontekst aplikacije</a:t>
            </a:r>
          </a:p>
        </p:txBody>
      </p:sp>
      <p:sp>
        <p:nvSpPr>
          <p:cNvPr id="4" name="Rezervirano mjesto broja slajda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A04B74-08D3-4235-B2EE-FA9FC8104C24}" type="slidenum">
              <a:rPr lang="hr-HR" smtClean="0"/>
              <a:pPr/>
              <a:t>3</a:t>
            </a:fld>
            <a:endParaRPr lang="hr-HR" dirty="0"/>
          </a:p>
        </p:txBody>
      </p:sp>
      <p:pic>
        <p:nvPicPr>
          <p:cNvPr id="5" name="Slika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44822" y="2727929"/>
            <a:ext cx="1968540" cy="1428463"/>
          </a:xfrm>
          <a:prstGeom prst="rect">
            <a:avLst/>
          </a:prstGeom>
        </p:spPr>
      </p:pic>
      <p:pic>
        <p:nvPicPr>
          <p:cNvPr id="27" name="Slika 2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61330" y="2965815"/>
            <a:ext cx="2031174" cy="1030072"/>
          </a:xfrm>
          <a:prstGeom prst="rect">
            <a:avLst/>
          </a:prstGeom>
        </p:spPr>
      </p:pic>
      <p:pic>
        <p:nvPicPr>
          <p:cNvPr id="28" name="Slika 27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42981" y="2479670"/>
            <a:ext cx="1711321" cy="2002362"/>
          </a:xfrm>
          <a:prstGeom prst="rect">
            <a:avLst/>
          </a:prstGeom>
        </p:spPr>
      </p:pic>
      <p:sp>
        <p:nvSpPr>
          <p:cNvPr id="29" name="TekstniOkvir 28"/>
          <p:cNvSpPr txBox="1"/>
          <p:nvPr/>
        </p:nvSpPr>
        <p:spPr>
          <a:xfrm>
            <a:off x="1398055" y="4892326"/>
            <a:ext cx="15625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r-HR" dirty="0" err="1"/>
              <a:t>Author</a:t>
            </a:r>
            <a:endParaRPr lang="hr-HR" dirty="0"/>
          </a:p>
        </p:txBody>
      </p:sp>
      <p:sp>
        <p:nvSpPr>
          <p:cNvPr id="30" name="TekstniOkvir 29"/>
          <p:cNvSpPr txBox="1"/>
          <p:nvPr/>
        </p:nvSpPr>
        <p:spPr>
          <a:xfrm>
            <a:off x="3939898" y="4892326"/>
            <a:ext cx="17712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r-HR" dirty="0"/>
              <a:t>Eksperiment</a:t>
            </a:r>
          </a:p>
        </p:txBody>
      </p:sp>
      <p:sp>
        <p:nvSpPr>
          <p:cNvPr id="32" name="TekstniOkvir 31"/>
          <p:cNvSpPr txBox="1"/>
          <p:nvPr/>
        </p:nvSpPr>
        <p:spPr>
          <a:xfrm>
            <a:off x="6763390" y="4892326"/>
            <a:ext cx="111589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r-HR" dirty="0"/>
              <a:t>Podaci</a:t>
            </a:r>
          </a:p>
        </p:txBody>
      </p:sp>
      <p:pic>
        <p:nvPicPr>
          <p:cNvPr id="35" name="Slika 3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829318" y="1656595"/>
            <a:ext cx="2321781" cy="3648513"/>
          </a:xfrm>
          <a:prstGeom prst="rect">
            <a:avLst/>
          </a:prstGeom>
        </p:spPr>
      </p:pic>
      <p:sp>
        <p:nvSpPr>
          <p:cNvPr id="36" name="TekstniOkvir 35"/>
          <p:cNvSpPr txBox="1"/>
          <p:nvPr/>
        </p:nvSpPr>
        <p:spPr>
          <a:xfrm>
            <a:off x="9081714" y="4892326"/>
            <a:ext cx="18169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r-HR" dirty="0"/>
              <a:t>Vizualni prikaz</a:t>
            </a:r>
          </a:p>
        </p:txBody>
      </p:sp>
      <p:cxnSp>
        <p:nvCxnSpPr>
          <p:cNvPr id="38" name="Ravni poveznik sa strelicom 37"/>
          <p:cNvCxnSpPr/>
          <p:nvPr/>
        </p:nvCxnSpPr>
        <p:spPr>
          <a:xfrm flipV="1">
            <a:off x="3325869" y="3480851"/>
            <a:ext cx="382772" cy="1063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Ravni poveznik sa strelicom 38"/>
          <p:cNvCxnSpPr/>
          <p:nvPr/>
        </p:nvCxnSpPr>
        <p:spPr>
          <a:xfrm flipV="1">
            <a:off x="6036785" y="3442160"/>
            <a:ext cx="382772" cy="1063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Ravni poveznik sa strelicom 39"/>
          <p:cNvCxnSpPr/>
          <p:nvPr/>
        </p:nvCxnSpPr>
        <p:spPr>
          <a:xfrm flipV="1">
            <a:off x="8433165" y="3442160"/>
            <a:ext cx="382772" cy="1063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Elipsa 41"/>
          <p:cNvSpPr/>
          <p:nvPr/>
        </p:nvSpPr>
        <p:spPr>
          <a:xfrm>
            <a:off x="8354303" y="3274828"/>
            <a:ext cx="540000" cy="372140"/>
          </a:xfrm>
          <a:prstGeom prst="ellipse">
            <a:avLst/>
          </a:prstGeom>
          <a:noFill/>
          <a:ln w="254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r-HR" dirty="0"/>
          </a:p>
        </p:txBody>
      </p:sp>
    </p:spTree>
    <p:extLst>
      <p:ext uri="{BB962C8B-B14F-4D97-AF65-F5344CB8AC3E}">
        <p14:creationId xmlns:p14="http://schemas.microsoft.com/office/powerpoint/2010/main" val="30578449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2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dirty="0"/>
              <a:t>Lekcije </a:t>
            </a:r>
          </a:p>
        </p:txBody>
      </p:sp>
      <p:sp>
        <p:nvSpPr>
          <p:cNvPr id="3" name="Rezervirano mjesto sadržaja 2"/>
          <p:cNvSpPr>
            <a:spLocks noGrp="1"/>
          </p:cNvSpPr>
          <p:nvPr>
            <p:ph idx="1"/>
          </p:nvPr>
        </p:nvSpPr>
        <p:spPr>
          <a:xfrm>
            <a:off x="2196878" y="2137975"/>
            <a:ext cx="3302303" cy="366532"/>
          </a:xfrm>
        </p:spPr>
        <p:txBody>
          <a:bodyPr>
            <a:normAutofit/>
          </a:bodyPr>
          <a:lstStyle/>
          <a:p>
            <a:r>
              <a:rPr lang="hr-HR" dirty="0"/>
              <a:t>Kompetitivne lekcije</a:t>
            </a:r>
          </a:p>
        </p:txBody>
      </p:sp>
      <p:sp>
        <p:nvSpPr>
          <p:cNvPr id="4" name="Rezervirano mjesto broja slajda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A04B74-08D3-4235-B2EE-FA9FC8104C24}" type="slidenum">
              <a:rPr lang="hr-HR" smtClean="0"/>
              <a:pPr/>
              <a:t>4</a:t>
            </a:fld>
            <a:endParaRPr lang="hr-HR" dirty="0"/>
          </a:p>
        </p:txBody>
      </p:sp>
      <p:sp>
        <p:nvSpPr>
          <p:cNvPr id="6" name="Rezervirano mjesto sadržaja 2"/>
          <p:cNvSpPr txBox="1">
            <a:spLocks/>
          </p:cNvSpPr>
          <p:nvPr/>
        </p:nvSpPr>
        <p:spPr>
          <a:xfrm>
            <a:off x="2196877" y="2682988"/>
            <a:ext cx="3302304" cy="36653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hr-HR" dirty="0"/>
              <a:t>Kolaborativne lekcije</a:t>
            </a:r>
          </a:p>
        </p:txBody>
      </p:sp>
      <p:sp>
        <p:nvSpPr>
          <p:cNvPr id="7" name="Rezervirano mjesto sadržaja 2"/>
          <p:cNvSpPr txBox="1">
            <a:spLocks/>
          </p:cNvSpPr>
          <p:nvPr/>
        </p:nvSpPr>
        <p:spPr>
          <a:xfrm>
            <a:off x="2203215" y="3273232"/>
            <a:ext cx="3468379" cy="36653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hr-HR" dirty="0">
                <a:latin typeface="Century Gothic (tijelo)"/>
              </a:rPr>
              <a:t>Lekcije proširene stvarnosti</a:t>
            </a:r>
          </a:p>
        </p:txBody>
      </p:sp>
      <p:pic>
        <p:nvPicPr>
          <p:cNvPr id="9" name="Slika 8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67478" y="1713375"/>
            <a:ext cx="5137133" cy="3855259"/>
          </a:xfrm>
          <a:prstGeom prst="rect">
            <a:avLst/>
          </a:prstGeom>
        </p:spPr>
      </p:pic>
      <p:pic>
        <p:nvPicPr>
          <p:cNvPr id="11" name="Slika 10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9458" y="1847622"/>
            <a:ext cx="6005034" cy="3002517"/>
          </a:xfrm>
          <a:prstGeom prst="rect">
            <a:avLst/>
          </a:prstGeom>
        </p:spPr>
      </p:pic>
      <p:pic>
        <p:nvPicPr>
          <p:cNvPr id="13" name="Slika 12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50185" y="1841434"/>
            <a:ext cx="5903580" cy="3299857"/>
          </a:xfrm>
          <a:prstGeom prst="rect">
            <a:avLst/>
          </a:prstGeom>
        </p:spPr>
      </p:pic>
      <p:sp>
        <p:nvSpPr>
          <p:cNvPr id="15" name="TekstniOkvir 14"/>
          <p:cNvSpPr txBox="1"/>
          <p:nvPr/>
        </p:nvSpPr>
        <p:spPr>
          <a:xfrm>
            <a:off x="1724628" y="1574157"/>
            <a:ext cx="2129742" cy="3821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r-HR" b="1" dirty="0"/>
              <a:t>Vrste lekcija:</a:t>
            </a:r>
          </a:p>
        </p:txBody>
      </p:sp>
      <p:sp>
        <p:nvSpPr>
          <p:cNvPr id="16" name="TekstniOkvir 15"/>
          <p:cNvSpPr txBox="1"/>
          <p:nvPr/>
        </p:nvSpPr>
        <p:spPr>
          <a:xfrm>
            <a:off x="1724628" y="4406202"/>
            <a:ext cx="18982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r-HR" b="1" dirty="0"/>
              <a:t>Zabilješke:</a:t>
            </a:r>
          </a:p>
        </p:txBody>
      </p:sp>
      <p:sp>
        <p:nvSpPr>
          <p:cNvPr id="17" name="Rezervirano mjesto sadržaja 2"/>
          <p:cNvSpPr txBox="1">
            <a:spLocks/>
          </p:cNvSpPr>
          <p:nvPr/>
        </p:nvSpPr>
        <p:spPr>
          <a:xfrm>
            <a:off x="2203218" y="4775534"/>
            <a:ext cx="3468377" cy="36653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hr-HR" dirty="0"/>
              <a:t>Posebne za svaku lekciju</a:t>
            </a:r>
          </a:p>
        </p:txBody>
      </p:sp>
      <p:sp>
        <p:nvSpPr>
          <p:cNvPr id="18" name="Rezervirano mjesto sadržaja 2"/>
          <p:cNvSpPr txBox="1">
            <a:spLocks/>
          </p:cNvSpPr>
          <p:nvPr/>
        </p:nvSpPr>
        <p:spPr>
          <a:xfrm>
            <a:off x="2203217" y="5311797"/>
            <a:ext cx="3584125" cy="366532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hr-HR" dirty="0"/>
              <a:t>Pohranjeni u bazi podataka</a:t>
            </a:r>
          </a:p>
        </p:txBody>
      </p:sp>
      <p:sp>
        <p:nvSpPr>
          <p:cNvPr id="19" name="Rezervirano mjesto sadržaja 2"/>
          <p:cNvSpPr txBox="1">
            <a:spLocks/>
          </p:cNvSpPr>
          <p:nvPr/>
        </p:nvSpPr>
        <p:spPr>
          <a:xfrm>
            <a:off x="2203217" y="5798474"/>
            <a:ext cx="3302303" cy="36653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hr-HR" dirty="0"/>
              <a:t>JSON</a:t>
            </a:r>
          </a:p>
        </p:txBody>
      </p:sp>
      <p:pic>
        <p:nvPicPr>
          <p:cNvPr id="20" name="Slika 19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46449" y="1905000"/>
            <a:ext cx="6140362" cy="35102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948497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6" grpId="0"/>
      <p:bldP spid="7" grpId="0"/>
      <p:bldP spid="16" grpId="0"/>
      <p:bldP spid="17" grpId="0"/>
      <p:bldP spid="18" grpId="0"/>
      <p:bldP spid="19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dirty="0"/>
              <a:t>Arhitektura aplikacije</a:t>
            </a:r>
          </a:p>
        </p:txBody>
      </p:sp>
      <p:sp>
        <p:nvSpPr>
          <p:cNvPr id="4" name="Rezervirano mjesto broja slajda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A04B74-08D3-4235-B2EE-FA9FC8104C24}" type="slidenum">
              <a:rPr lang="hr-HR" smtClean="0"/>
              <a:pPr/>
              <a:t>5</a:t>
            </a:fld>
            <a:endParaRPr lang="hr-HR" dirty="0"/>
          </a:p>
        </p:txBody>
      </p:sp>
      <p:pic>
        <p:nvPicPr>
          <p:cNvPr id="5" name="Slika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98523" y="2542734"/>
            <a:ext cx="1968540" cy="1428463"/>
          </a:xfrm>
          <a:prstGeom prst="rect">
            <a:avLst/>
          </a:prstGeom>
        </p:spPr>
      </p:pic>
      <p:pic>
        <p:nvPicPr>
          <p:cNvPr id="6" name="Slika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15031" y="2780620"/>
            <a:ext cx="2031174" cy="1030072"/>
          </a:xfrm>
          <a:prstGeom prst="rect">
            <a:avLst/>
          </a:prstGeom>
        </p:spPr>
      </p:pic>
      <p:pic>
        <p:nvPicPr>
          <p:cNvPr id="7" name="Slika 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96682" y="2294475"/>
            <a:ext cx="1711321" cy="2002362"/>
          </a:xfrm>
          <a:prstGeom prst="rect">
            <a:avLst/>
          </a:prstGeom>
        </p:spPr>
      </p:pic>
      <p:sp>
        <p:nvSpPr>
          <p:cNvPr id="8" name="TekstniOkvir 7"/>
          <p:cNvSpPr txBox="1"/>
          <p:nvPr/>
        </p:nvSpPr>
        <p:spPr>
          <a:xfrm>
            <a:off x="1351756" y="4707131"/>
            <a:ext cx="15625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r-HR" dirty="0" err="1"/>
              <a:t>Author</a:t>
            </a:r>
            <a:endParaRPr lang="hr-HR" dirty="0"/>
          </a:p>
        </p:txBody>
      </p:sp>
      <p:sp>
        <p:nvSpPr>
          <p:cNvPr id="9" name="TekstniOkvir 8"/>
          <p:cNvSpPr txBox="1"/>
          <p:nvPr/>
        </p:nvSpPr>
        <p:spPr>
          <a:xfrm>
            <a:off x="3893599" y="4707131"/>
            <a:ext cx="17712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r-HR" dirty="0"/>
              <a:t>Eksperiment</a:t>
            </a:r>
          </a:p>
        </p:txBody>
      </p:sp>
      <p:sp>
        <p:nvSpPr>
          <p:cNvPr id="10" name="TekstniOkvir 9"/>
          <p:cNvSpPr txBox="1"/>
          <p:nvPr/>
        </p:nvSpPr>
        <p:spPr>
          <a:xfrm>
            <a:off x="6717091" y="4707131"/>
            <a:ext cx="111589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r-HR" dirty="0"/>
              <a:t>Podaci</a:t>
            </a:r>
          </a:p>
        </p:txBody>
      </p:sp>
      <p:pic>
        <p:nvPicPr>
          <p:cNvPr id="11" name="Slika 10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83019" y="1471400"/>
            <a:ext cx="2321781" cy="3648513"/>
          </a:xfrm>
          <a:prstGeom prst="rect">
            <a:avLst/>
          </a:prstGeom>
        </p:spPr>
      </p:pic>
      <p:sp>
        <p:nvSpPr>
          <p:cNvPr id="12" name="TekstniOkvir 11"/>
          <p:cNvSpPr txBox="1"/>
          <p:nvPr/>
        </p:nvSpPr>
        <p:spPr>
          <a:xfrm>
            <a:off x="9035415" y="4707131"/>
            <a:ext cx="18169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r-HR" dirty="0"/>
              <a:t>Vizualni prikaz</a:t>
            </a:r>
          </a:p>
        </p:txBody>
      </p:sp>
      <p:cxnSp>
        <p:nvCxnSpPr>
          <p:cNvPr id="13" name="Ravni poveznik sa strelicom 12"/>
          <p:cNvCxnSpPr/>
          <p:nvPr/>
        </p:nvCxnSpPr>
        <p:spPr>
          <a:xfrm flipV="1">
            <a:off x="3279570" y="3295656"/>
            <a:ext cx="382772" cy="1063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Ravni poveznik sa strelicom 13"/>
          <p:cNvCxnSpPr/>
          <p:nvPr/>
        </p:nvCxnSpPr>
        <p:spPr>
          <a:xfrm flipV="1">
            <a:off x="5990486" y="3256965"/>
            <a:ext cx="382772" cy="1063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Ravni poveznik sa strelicom 14"/>
          <p:cNvCxnSpPr/>
          <p:nvPr/>
        </p:nvCxnSpPr>
        <p:spPr>
          <a:xfrm flipV="1">
            <a:off x="8386866" y="3256965"/>
            <a:ext cx="382772" cy="1063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Elipsa 16"/>
          <p:cNvSpPr/>
          <p:nvPr/>
        </p:nvSpPr>
        <p:spPr>
          <a:xfrm>
            <a:off x="1181121" y="2179320"/>
            <a:ext cx="1098052" cy="66072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r-HR" dirty="0">
                <a:solidFill>
                  <a:schemeClr val="tx1"/>
                </a:solidFill>
              </a:rPr>
              <a:t>Start</a:t>
            </a:r>
          </a:p>
        </p:txBody>
      </p:sp>
      <p:sp>
        <p:nvSpPr>
          <p:cNvPr id="18" name="Pravokutnik 17"/>
          <p:cNvSpPr/>
          <p:nvPr/>
        </p:nvSpPr>
        <p:spPr>
          <a:xfrm>
            <a:off x="2873533" y="2136301"/>
            <a:ext cx="1569720" cy="746760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r-HR" dirty="0">
                <a:solidFill>
                  <a:schemeClr val="tx1"/>
                </a:solidFill>
              </a:rPr>
              <a:t>Preuzimanje</a:t>
            </a:r>
          </a:p>
        </p:txBody>
      </p:sp>
      <p:sp>
        <p:nvSpPr>
          <p:cNvPr id="19" name="Pravokutnik 18"/>
          <p:cNvSpPr/>
          <p:nvPr/>
        </p:nvSpPr>
        <p:spPr>
          <a:xfrm>
            <a:off x="5037613" y="2103120"/>
            <a:ext cx="1752600" cy="746760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r-HR" dirty="0">
                <a:solidFill>
                  <a:schemeClr val="tx1"/>
                </a:solidFill>
              </a:rPr>
              <a:t>Pred-obrada podataka</a:t>
            </a:r>
          </a:p>
        </p:txBody>
      </p:sp>
      <p:sp>
        <p:nvSpPr>
          <p:cNvPr id="20" name="Pravokutnik 19"/>
          <p:cNvSpPr/>
          <p:nvPr/>
        </p:nvSpPr>
        <p:spPr>
          <a:xfrm>
            <a:off x="7384573" y="2103120"/>
            <a:ext cx="1752600" cy="746760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r-HR" dirty="0">
                <a:solidFill>
                  <a:schemeClr val="tx1"/>
                </a:solidFill>
              </a:rPr>
              <a:t>Obrada podataka</a:t>
            </a:r>
          </a:p>
        </p:txBody>
      </p:sp>
      <p:sp>
        <p:nvSpPr>
          <p:cNvPr id="21" name="Elipsa 20"/>
          <p:cNvSpPr/>
          <p:nvPr/>
        </p:nvSpPr>
        <p:spPr>
          <a:xfrm>
            <a:off x="9731533" y="2057400"/>
            <a:ext cx="1902876" cy="838200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r-HR" dirty="0">
                <a:solidFill>
                  <a:schemeClr val="tx1"/>
                </a:solidFill>
              </a:rPr>
              <a:t>Prikaz podataka</a:t>
            </a:r>
          </a:p>
        </p:txBody>
      </p:sp>
      <p:cxnSp>
        <p:nvCxnSpPr>
          <p:cNvPr id="22" name="Ravni poveznik sa strelicom 21"/>
          <p:cNvCxnSpPr/>
          <p:nvPr/>
        </p:nvCxnSpPr>
        <p:spPr>
          <a:xfrm flipV="1">
            <a:off x="2401539" y="2509681"/>
            <a:ext cx="382772" cy="1063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Ravni poveznik sa strelicom 22"/>
          <p:cNvCxnSpPr/>
          <p:nvPr/>
        </p:nvCxnSpPr>
        <p:spPr>
          <a:xfrm flipV="1">
            <a:off x="4549047" y="2520313"/>
            <a:ext cx="382772" cy="1063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Ravni poveznik sa strelicom 23"/>
          <p:cNvCxnSpPr/>
          <p:nvPr/>
        </p:nvCxnSpPr>
        <p:spPr>
          <a:xfrm flipV="1">
            <a:off x="6896007" y="2530945"/>
            <a:ext cx="382772" cy="1063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Ravni poveznik sa strelicom 24"/>
          <p:cNvCxnSpPr/>
          <p:nvPr/>
        </p:nvCxnSpPr>
        <p:spPr>
          <a:xfrm flipV="1">
            <a:off x="9242967" y="2499049"/>
            <a:ext cx="382772" cy="1063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Pravokutnik 25"/>
          <p:cNvSpPr/>
          <p:nvPr/>
        </p:nvSpPr>
        <p:spPr>
          <a:xfrm>
            <a:off x="2576706" y="4450080"/>
            <a:ext cx="2841468" cy="96012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r-HR" dirty="0">
                <a:solidFill>
                  <a:schemeClr val="tx1"/>
                </a:solidFill>
              </a:rPr>
              <a:t>Učenje težina lekcija</a:t>
            </a:r>
          </a:p>
        </p:txBody>
      </p:sp>
      <p:sp>
        <p:nvSpPr>
          <p:cNvPr id="27" name="Pravokutnik 26"/>
          <p:cNvSpPr/>
          <p:nvPr/>
        </p:nvSpPr>
        <p:spPr>
          <a:xfrm>
            <a:off x="6013765" y="4450080"/>
            <a:ext cx="2841468" cy="96012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r-HR" dirty="0">
                <a:solidFill>
                  <a:schemeClr val="tx1"/>
                </a:solidFill>
              </a:rPr>
              <a:t>Evaluacija učenika</a:t>
            </a:r>
          </a:p>
        </p:txBody>
      </p:sp>
      <p:sp>
        <p:nvSpPr>
          <p:cNvPr id="28" name="Pravokutnik 27"/>
          <p:cNvSpPr/>
          <p:nvPr/>
        </p:nvSpPr>
        <p:spPr>
          <a:xfrm>
            <a:off x="2118361" y="4236720"/>
            <a:ext cx="7345680" cy="1386840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r-HR" dirty="0">
              <a:solidFill>
                <a:schemeClr val="tx1"/>
              </a:solidFill>
            </a:endParaRPr>
          </a:p>
        </p:txBody>
      </p:sp>
      <p:sp>
        <p:nvSpPr>
          <p:cNvPr id="29" name="Strelica: lijevo-desno 28"/>
          <p:cNvSpPr/>
          <p:nvPr/>
        </p:nvSpPr>
        <p:spPr>
          <a:xfrm rot="19595316">
            <a:off x="6423049" y="3228421"/>
            <a:ext cx="1772859" cy="716280"/>
          </a:xfrm>
          <a:prstGeom prst="leftRightArrow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r-HR"/>
          </a:p>
        </p:txBody>
      </p:sp>
      <p:sp>
        <p:nvSpPr>
          <p:cNvPr id="30" name="Elipsa 29"/>
          <p:cNvSpPr/>
          <p:nvPr/>
        </p:nvSpPr>
        <p:spPr>
          <a:xfrm>
            <a:off x="8312173" y="3089838"/>
            <a:ext cx="540000" cy="372140"/>
          </a:xfrm>
          <a:prstGeom prst="ellipse">
            <a:avLst/>
          </a:prstGeom>
          <a:noFill/>
          <a:ln w="254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r-HR" dirty="0"/>
          </a:p>
        </p:txBody>
      </p:sp>
    </p:spTree>
    <p:extLst>
      <p:ext uri="{BB962C8B-B14F-4D97-AF65-F5344CB8AC3E}">
        <p14:creationId xmlns:p14="http://schemas.microsoft.com/office/powerpoint/2010/main" val="32075098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4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3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8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2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4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8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2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4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2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0" grpId="0"/>
      <p:bldP spid="12" grpId="0"/>
      <p:bldP spid="17" grpId="0" animBg="1"/>
      <p:bldP spid="18" grpId="0" animBg="1"/>
      <p:bldP spid="19" grpId="0" animBg="1"/>
      <p:bldP spid="20" grpId="0" animBg="1"/>
      <p:bldP spid="21" grpId="0" animBg="1"/>
      <p:bldP spid="26" grpId="0" animBg="1"/>
      <p:bldP spid="27" grpId="0" animBg="1"/>
      <p:bldP spid="28" grpId="0" animBg="1"/>
      <p:bldP spid="29" grpId="0" animBg="1"/>
      <p:bldP spid="30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dirty="0"/>
              <a:t>Učenje težina zadataka </a:t>
            </a:r>
          </a:p>
        </p:txBody>
      </p:sp>
      <p:sp>
        <p:nvSpPr>
          <p:cNvPr id="4" name="Rezervirano mjesto broja slajda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A04B74-08D3-4235-B2EE-FA9FC8104C24}" type="slidenum">
              <a:rPr lang="hr-HR" smtClean="0"/>
              <a:pPr/>
              <a:t>6</a:t>
            </a:fld>
            <a:endParaRPr lang="hr-HR" dirty="0"/>
          </a:p>
        </p:txBody>
      </p:sp>
      <p:sp>
        <p:nvSpPr>
          <p:cNvPr id="6" name="Rezervirano mjesto sadržaja 2"/>
          <p:cNvSpPr>
            <a:spLocks noGrp="1"/>
          </p:cNvSpPr>
          <p:nvPr>
            <p:ph idx="1"/>
          </p:nvPr>
        </p:nvSpPr>
        <p:spPr>
          <a:xfrm>
            <a:off x="1918650" y="2669324"/>
            <a:ext cx="3302303" cy="366532"/>
          </a:xfrm>
        </p:spPr>
        <p:txBody>
          <a:bodyPr>
            <a:normAutofit/>
          </a:bodyPr>
          <a:lstStyle/>
          <a:p>
            <a:r>
              <a:rPr lang="hr-HR" dirty="0"/>
              <a:t>Ciklička ovisnost</a:t>
            </a:r>
          </a:p>
        </p:txBody>
      </p:sp>
      <p:sp>
        <p:nvSpPr>
          <p:cNvPr id="8" name="Rezervirano mjesto sadržaja 2"/>
          <p:cNvSpPr txBox="1">
            <a:spLocks/>
          </p:cNvSpPr>
          <p:nvPr/>
        </p:nvSpPr>
        <p:spPr>
          <a:xfrm>
            <a:off x="1918651" y="3519049"/>
            <a:ext cx="4332024" cy="36653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hr-HR" dirty="0"/>
              <a:t>Metoda iterativne konvergencije</a:t>
            </a:r>
          </a:p>
        </p:txBody>
      </p:sp>
      <p:sp>
        <p:nvSpPr>
          <p:cNvPr id="14" name="Rezervirano mjesto sadržaja 2"/>
          <p:cNvSpPr txBox="1">
            <a:spLocks/>
          </p:cNvSpPr>
          <p:nvPr/>
        </p:nvSpPr>
        <p:spPr>
          <a:xfrm>
            <a:off x="6417839" y="1461268"/>
            <a:ext cx="3302303" cy="36653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hr-HR" dirty="0"/>
              <a:t>Riješenost</a:t>
            </a:r>
          </a:p>
        </p:txBody>
      </p:sp>
      <p:sp>
        <p:nvSpPr>
          <p:cNvPr id="16" name="Rezervirano mjesto sadržaja 2"/>
          <p:cNvSpPr txBox="1">
            <a:spLocks/>
          </p:cNvSpPr>
          <p:nvPr/>
        </p:nvSpPr>
        <p:spPr>
          <a:xfrm>
            <a:off x="6417839" y="3087723"/>
            <a:ext cx="5428418" cy="36653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hr-HR" dirty="0"/>
              <a:t>Preciznost riješenosti (vrijeme rješavanja, …)</a:t>
            </a:r>
          </a:p>
        </p:txBody>
      </p:sp>
      <p:sp>
        <p:nvSpPr>
          <p:cNvPr id="23" name="Rezervirano mjesto sadržaja 2"/>
          <p:cNvSpPr txBox="1">
            <a:spLocks/>
          </p:cNvSpPr>
          <p:nvPr/>
        </p:nvSpPr>
        <p:spPr>
          <a:xfrm>
            <a:off x="1918651" y="1461268"/>
            <a:ext cx="3302303" cy="36653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hr-HR" dirty="0"/>
              <a:t>Težina zadatka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4" name="Pravokutnik 23"/>
              <p:cNvSpPr/>
              <p:nvPr/>
            </p:nvSpPr>
            <p:spPr>
              <a:xfrm>
                <a:off x="2447027" y="1868552"/>
                <a:ext cx="2575349" cy="369332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hr-HR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hr-HR" i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hr-HR" i="1" smtClean="0"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hr-HR" b="0" i="1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hr-HR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hr-HR" b="0" i="1" smtClean="0">
                          <a:latin typeface="Cambria Math" panose="02040503050406030204" pitchFamily="18" charset="0"/>
                        </a:rPr>
                        <m:t>𝑟𝑎𝑠𝑝𝑜𝑛𝑎</m:t>
                      </m:r>
                      <m:r>
                        <a:rPr lang="hr-HR" b="0" i="1" smtClean="0">
                          <a:latin typeface="Cambria Math" panose="02040503050406030204" pitchFamily="18" charset="0"/>
                        </a:rPr>
                        <m:t> [0, 1]</m:t>
                      </m:r>
                    </m:oMath>
                  </m:oMathPara>
                </a14:m>
                <a:endParaRPr lang="hr-HR" dirty="0"/>
              </a:p>
            </p:txBody>
          </p:sp>
        </mc:Choice>
        <mc:Fallback>
          <p:sp>
            <p:nvSpPr>
              <p:cNvPr id="24" name="Pravokutnik 2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47027" y="1868552"/>
                <a:ext cx="2575349" cy="369332"/>
              </a:xfrm>
              <a:prstGeom prst="rect">
                <a:avLst/>
              </a:prstGeom>
              <a:blipFill>
                <a:blip r:embed="rId3"/>
                <a:stretch>
                  <a:fillRect b="-20000"/>
                </a:stretch>
              </a:blipFill>
            </p:spPr>
            <p:txBody>
              <a:bodyPr/>
              <a:lstStyle/>
              <a:p>
                <a:r>
                  <a:rPr lang="hr-H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5" name="Pravokutnik 24"/>
              <p:cNvSpPr/>
              <p:nvPr/>
            </p:nvSpPr>
            <p:spPr>
              <a:xfrm>
                <a:off x="2460997" y="2265267"/>
                <a:ext cx="2759956" cy="369332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hr-HR" i="1" smtClean="0"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hr-HR" b="0" i="1" smtClean="0">
                          <a:latin typeface="Cambria Math" panose="02040503050406030204" pitchFamily="18" charset="0"/>
                        </a:rPr>
                        <m:t> −</m:t>
                      </m:r>
                      <m:r>
                        <a:rPr lang="hr-HR" b="0" i="1" smtClean="0">
                          <a:latin typeface="Cambria Math" panose="02040503050406030204" pitchFamily="18" charset="0"/>
                        </a:rPr>
                        <m:t>𝑙𝑎𝑔𝑎𝑛</m:t>
                      </m:r>
                      <m:r>
                        <a:rPr lang="hr-HR" b="0" i="1" smtClean="0">
                          <a:latin typeface="Cambria Math" panose="02040503050406030204" pitchFamily="18" charset="0"/>
                        </a:rPr>
                        <m:t>, 0 −</m:t>
                      </m:r>
                      <m:r>
                        <a:rPr lang="hr-HR" b="0" i="1" smtClean="0">
                          <a:latin typeface="Cambria Math" panose="02040503050406030204" pitchFamily="18" charset="0"/>
                        </a:rPr>
                        <m:t>𝑡𝑒</m:t>
                      </m:r>
                      <m:r>
                        <a:rPr lang="hr-HR" b="0" i="1" smtClean="0">
                          <a:latin typeface="Cambria Math" panose="02040503050406030204" pitchFamily="18" charset="0"/>
                        </a:rPr>
                        <m:t>ž</m:t>
                      </m:r>
                      <m:r>
                        <a:rPr lang="hr-HR" b="0" i="1" smtClean="0">
                          <a:latin typeface="Cambria Math" panose="02040503050406030204" pitchFamily="18" charset="0"/>
                        </a:rPr>
                        <m:t>𝑎𝑘</m:t>
                      </m:r>
                    </m:oMath>
                  </m:oMathPara>
                </a14:m>
                <a:endParaRPr lang="hr-HR" dirty="0"/>
              </a:p>
            </p:txBody>
          </p:sp>
        </mc:Choice>
        <mc:Fallback>
          <p:sp>
            <p:nvSpPr>
              <p:cNvPr id="25" name="Pravokutnik 2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60997" y="2265267"/>
                <a:ext cx="2759956" cy="369332"/>
              </a:xfrm>
              <a:prstGeom prst="rect">
                <a:avLst/>
              </a:prstGeom>
              <a:blipFill>
                <a:blip r:embed="rId4"/>
                <a:stretch>
                  <a:fillRect b="-16667"/>
                </a:stretch>
              </a:blipFill>
            </p:spPr>
            <p:txBody>
              <a:bodyPr/>
              <a:lstStyle/>
              <a:p>
                <a:r>
                  <a:rPr lang="hr-H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Slika 2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60996" y="4060117"/>
            <a:ext cx="3186771" cy="1525869"/>
          </a:xfrm>
          <a:prstGeom prst="rect">
            <a:avLst/>
          </a:prstGeom>
        </p:spPr>
      </p:pic>
      <p:pic>
        <p:nvPicPr>
          <p:cNvPr id="7" name="Slika 6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20661" y="1767723"/>
            <a:ext cx="5376723" cy="1209434"/>
          </a:xfrm>
          <a:prstGeom prst="rect">
            <a:avLst/>
          </a:prstGeom>
        </p:spPr>
      </p:pic>
      <p:pic>
        <p:nvPicPr>
          <p:cNvPr id="9" name="Slika 8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15896" y="4408916"/>
            <a:ext cx="4430361" cy="1588730"/>
          </a:xfrm>
          <a:prstGeom prst="rect">
            <a:avLst/>
          </a:prstGeom>
        </p:spPr>
      </p:pic>
      <p:pic>
        <p:nvPicPr>
          <p:cNvPr id="13" name="Slika 12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415896" y="5997646"/>
            <a:ext cx="1987412" cy="367535"/>
          </a:xfrm>
          <a:prstGeom prst="rect">
            <a:avLst/>
          </a:prstGeom>
        </p:spPr>
      </p:pic>
      <p:pic>
        <p:nvPicPr>
          <p:cNvPr id="26" name="Slika 25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924950" y="3627018"/>
            <a:ext cx="4701794" cy="781898"/>
          </a:xfrm>
          <a:prstGeom prst="rect">
            <a:avLst/>
          </a:prstGeom>
        </p:spPr>
      </p:pic>
      <p:pic>
        <p:nvPicPr>
          <p:cNvPr id="27" name="Slika 26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460996" y="3071112"/>
            <a:ext cx="2386230" cy="4601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15357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build="p"/>
      <p:bldP spid="8" grpId="0"/>
      <p:bldP spid="14" grpId="0"/>
      <p:bldP spid="16" grpId="0"/>
      <p:bldP spid="23" grpId="0"/>
      <p:bldP spid="24" grpId="0"/>
      <p:bldP spid="25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dirty="0"/>
              <a:t>Učenje težina (2)</a:t>
            </a:r>
          </a:p>
        </p:txBody>
      </p:sp>
      <p:sp>
        <p:nvSpPr>
          <p:cNvPr id="4" name="Rezervirano mjesto broja slajda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A04B74-08D3-4235-B2EE-FA9FC8104C24}" type="slidenum">
              <a:rPr lang="hr-HR" smtClean="0"/>
              <a:pPr/>
              <a:t>7</a:t>
            </a:fld>
            <a:endParaRPr lang="hr-HR" dirty="0"/>
          </a:p>
        </p:txBody>
      </p:sp>
      <p:sp>
        <p:nvSpPr>
          <p:cNvPr id="7" name="Rezervirano mjesto sadržaja 2"/>
          <p:cNvSpPr txBox="1">
            <a:spLocks/>
          </p:cNvSpPr>
          <p:nvPr/>
        </p:nvSpPr>
        <p:spPr>
          <a:xfrm>
            <a:off x="1618567" y="1475308"/>
            <a:ext cx="4725990" cy="36653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hr-HR" dirty="0"/>
              <a:t>Metoda iterativne konvergencije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2" name="Rezervirano mjesto sadržaja 2"/>
              <p:cNvSpPr txBox="1">
                <a:spLocks/>
              </p:cNvSpPr>
              <p:nvPr/>
            </p:nvSpPr>
            <p:spPr>
              <a:xfrm>
                <a:off x="7643706" y="1475308"/>
                <a:ext cx="3360625" cy="366532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342900" indent="-342900" algn="l" defTabSz="457200" rtl="0" eaLnBrk="1" latinLnBrk="0" hangingPunct="1">
                  <a:spcBef>
                    <a:spcPts val="1000"/>
                  </a:spcBef>
                  <a:spcAft>
                    <a:spcPts val="0"/>
                  </a:spcAft>
                  <a:buClr>
                    <a:schemeClr val="accent1"/>
                  </a:buClr>
                  <a:buFont typeface="Wingdings 3" charset="2"/>
                  <a:buChar char=""/>
                  <a:defRPr sz="18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1pPr>
                <a:lvl2pPr marL="742950" indent="-285750" algn="l" defTabSz="457200" rtl="0" eaLnBrk="1" latinLnBrk="0" hangingPunct="1">
                  <a:spcBef>
                    <a:spcPts val="1000"/>
                  </a:spcBef>
                  <a:spcAft>
                    <a:spcPts val="0"/>
                  </a:spcAft>
                  <a:buClr>
                    <a:schemeClr val="accent1"/>
                  </a:buClr>
                  <a:buFont typeface="Wingdings 3" charset="2"/>
                  <a:buChar char=""/>
                  <a:defRPr sz="16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457200" rtl="0" eaLnBrk="1" latinLnBrk="0" hangingPunct="1">
                  <a:spcBef>
                    <a:spcPts val="1000"/>
                  </a:spcBef>
                  <a:spcAft>
                    <a:spcPts val="0"/>
                  </a:spcAft>
                  <a:buClr>
                    <a:schemeClr val="accent1"/>
                  </a:buClr>
                  <a:buFont typeface="Wingdings 3" charset="2"/>
                  <a:buChar char=""/>
                  <a:defRPr sz="14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457200" rtl="0" eaLnBrk="1" latinLnBrk="0" hangingPunct="1">
                  <a:spcBef>
                    <a:spcPts val="1000"/>
                  </a:spcBef>
                  <a:spcAft>
                    <a:spcPts val="0"/>
                  </a:spcAft>
                  <a:buClr>
                    <a:schemeClr val="accent1"/>
                  </a:buClr>
                  <a:buFont typeface="Wingdings 3" charset="2"/>
                  <a:buChar char=""/>
                  <a:defRPr sz="12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457200" rtl="0" eaLnBrk="1" latinLnBrk="0" hangingPunct="1">
                  <a:spcBef>
                    <a:spcPts val="1000"/>
                  </a:spcBef>
                  <a:spcAft>
                    <a:spcPts val="0"/>
                  </a:spcAft>
                  <a:buClr>
                    <a:schemeClr val="accent1"/>
                  </a:buClr>
                  <a:buFont typeface="Wingdings 3" charset="2"/>
                  <a:buChar char=""/>
                  <a:defRPr sz="12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457200" rtl="0" eaLnBrk="1" latinLnBrk="0" hangingPunct="1">
                  <a:spcBef>
                    <a:spcPts val="1000"/>
                  </a:spcBef>
                  <a:spcAft>
                    <a:spcPts val="0"/>
                  </a:spcAft>
                  <a:buClr>
                    <a:schemeClr val="accent1"/>
                  </a:buClr>
                  <a:buFont typeface="Wingdings 3" charset="2"/>
                  <a:buChar char=""/>
                  <a:defRPr sz="12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457200" rtl="0" eaLnBrk="1" latinLnBrk="0" hangingPunct="1">
                  <a:spcBef>
                    <a:spcPts val="1000"/>
                  </a:spcBef>
                  <a:spcAft>
                    <a:spcPts val="0"/>
                  </a:spcAft>
                  <a:buClr>
                    <a:schemeClr val="accent1"/>
                  </a:buClr>
                  <a:buFont typeface="Wingdings 3" charset="2"/>
                  <a:buChar char=""/>
                  <a:defRPr sz="12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457200" rtl="0" eaLnBrk="1" latinLnBrk="0" hangingPunct="1">
                  <a:spcBef>
                    <a:spcPts val="1000"/>
                  </a:spcBef>
                  <a:spcAft>
                    <a:spcPts val="0"/>
                  </a:spcAft>
                  <a:buClr>
                    <a:schemeClr val="accent1"/>
                  </a:buClr>
                  <a:buFont typeface="Wingdings 3" charset="2"/>
                  <a:buChar char=""/>
                  <a:defRPr sz="12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457200" rtl="0" eaLnBrk="1" latinLnBrk="0" hangingPunct="1">
                  <a:spcBef>
                    <a:spcPts val="1000"/>
                  </a:spcBef>
                  <a:spcAft>
                    <a:spcPts val="0"/>
                  </a:spcAft>
                  <a:buClr>
                    <a:schemeClr val="accent1"/>
                  </a:buClr>
                  <a:buFont typeface="Wingdings 3" charset="2"/>
                  <a:buChar char=""/>
                  <a:defRPr sz="12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hr-HR" dirty="0"/>
                  <a:t>Funkcija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hr-H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hr-HR" i="1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hr-HR" i="1">
                            <a:latin typeface="Cambria Math" panose="02040503050406030204" pitchFamily="18" charset="0"/>
                          </a:rPr>
                          <m:t>𝑎</m:t>
                        </m:r>
                      </m:sub>
                    </m:sSub>
                  </m:oMath>
                </a14:m>
                <a:endParaRPr lang="hr-HR" dirty="0"/>
              </a:p>
            </p:txBody>
          </p:sp>
        </mc:Choice>
        <mc:Fallback>
          <p:sp>
            <p:nvSpPr>
              <p:cNvPr id="12" name="Rezervirano mjesto sadržaja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43706" y="1475308"/>
                <a:ext cx="3360625" cy="366532"/>
              </a:xfrm>
              <a:prstGeom prst="rect">
                <a:avLst/>
              </a:prstGeom>
              <a:blipFill>
                <a:blip r:embed="rId3"/>
                <a:stretch>
                  <a:fillRect l="-1270" t="-8333" b="-26667"/>
                </a:stretch>
              </a:blipFill>
            </p:spPr>
            <p:txBody>
              <a:bodyPr/>
              <a:lstStyle/>
              <a:p>
                <a:r>
                  <a:rPr lang="hr-H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6" name="Rezervirano mjesto sadržaja 2"/>
              <p:cNvSpPr txBox="1">
                <a:spLocks/>
              </p:cNvSpPr>
              <p:nvPr/>
            </p:nvSpPr>
            <p:spPr>
              <a:xfrm>
                <a:off x="7643706" y="3286183"/>
                <a:ext cx="3040585" cy="366532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342900" indent="-342900" algn="l" defTabSz="457200" rtl="0" eaLnBrk="1" latinLnBrk="0" hangingPunct="1">
                  <a:spcBef>
                    <a:spcPts val="1000"/>
                  </a:spcBef>
                  <a:spcAft>
                    <a:spcPts val="0"/>
                  </a:spcAft>
                  <a:buClr>
                    <a:schemeClr val="accent1"/>
                  </a:buClr>
                  <a:buFont typeface="Wingdings 3" charset="2"/>
                  <a:buChar char=""/>
                  <a:defRPr sz="18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1pPr>
                <a:lvl2pPr marL="742950" indent="-285750" algn="l" defTabSz="457200" rtl="0" eaLnBrk="1" latinLnBrk="0" hangingPunct="1">
                  <a:spcBef>
                    <a:spcPts val="1000"/>
                  </a:spcBef>
                  <a:spcAft>
                    <a:spcPts val="0"/>
                  </a:spcAft>
                  <a:buClr>
                    <a:schemeClr val="accent1"/>
                  </a:buClr>
                  <a:buFont typeface="Wingdings 3" charset="2"/>
                  <a:buChar char=""/>
                  <a:defRPr sz="16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457200" rtl="0" eaLnBrk="1" latinLnBrk="0" hangingPunct="1">
                  <a:spcBef>
                    <a:spcPts val="1000"/>
                  </a:spcBef>
                  <a:spcAft>
                    <a:spcPts val="0"/>
                  </a:spcAft>
                  <a:buClr>
                    <a:schemeClr val="accent1"/>
                  </a:buClr>
                  <a:buFont typeface="Wingdings 3" charset="2"/>
                  <a:buChar char=""/>
                  <a:defRPr sz="14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457200" rtl="0" eaLnBrk="1" latinLnBrk="0" hangingPunct="1">
                  <a:spcBef>
                    <a:spcPts val="1000"/>
                  </a:spcBef>
                  <a:spcAft>
                    <a:spcPts val="0"/>
                  </a:spcAft>
                  <a:buClr>
                    <a:schemeClr val="accent1"/>
                  </a:buClr>
                  <a:buFont typeface="Wingdings 3" charset="2"/>
                  <a:buChar char=""/>
                  <a:defRPr sz="12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457200" rtl="0" eaLnBrk="1" latinLnBrk="0" hangingPunct="1">
                  <a:spcBef>
                    <a:spcPts val="1000"/>
                  </a:spcBef>
                  <a:spcAft>
                    <a:spcPts val="0"/>
                  </a:spcAft>
                  <a:buClr>
                    <a:schemeClr val="accent1"/>
                  </a:buClr>
                  <a:buFont typeface="Wingdings 3" charset="2"/>
                  <a:buChar char=""/>
                  <a:defRPr sz="12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457200" rtl="0" eaLnBrk="1" latinLnBrk="0" hangingPunct="1">
                  <a:spcBef>
                    <a:spcPts val="1000"/>
                  </a:spcBef>
                  <a:spcAft>
                    <a:spcPts val="0"/>
                  </a:spcAft>
                  <a:buClr>
                    <a:schemeClr val="accent1"/>
                  </a:buClr>
                  <a:buFont typeface="Wingdings 3" charset="2"/>
                  <a:buChar char=""/>
                  <a:defRPr sz="12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457200" rtl="0" eaLnBrk="1" latinLnBrk="0" hangingPunct="1">
                  <a:spcBef>
                    <a:spcPts val="1000"/>
                  </a:spcBef>
                  <a:spcAft>
                    <a:spcPts val="0"/>
                  </a:spcAft>
                  <a:buClr>
                    <a:schemeClr val="accent1"/>
                  </a:buClr>
                  <a:buFont typeface="Wingdings 3" charset="2"/>
                  <a:buChar char=""/>
                  <a:defRPr sz="12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457200" rtl="0" eaLnBrk="1" latinLnBrk="0" hangingPunct="1">
                  <a:spcBef>
                    <a:spcPts val="1000"/>
                  </a:spcBef>
                  <a:spcAft>
                    <a:spcPts val="0"/>
                  </a:spcAft>
                  <a:buClr>
                    <a:schemeClr val="accent1"/>
                  </a:buClr>
                  <a:buFont typeface="Wingdings 3" charset="2"/>
                  <a:buChar char=""/>
                  <a:defRPr sz="12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457200" rtl="0" eaLnBrk="1" latinLnBrk="0" hangingPunct="1">
                  <a:spcBef>
                    <a:spcPts val="1000"/>
                  </a:spcBef>
                  <a:spcAft>
                    <a:spcPts val="0"/>
                  </a:spcAft>
                  <a:buClr>
                    <a:schemeClr val="accent1"/>
                  </a:buClr>
                  <a:buFont typeface="Wingdings 3" charset="2"/>
                  <a:buChar char=""/>
                  <a:defRPr sz="12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hr-HR" dirty="0"/>
                  <a:t>Funkcija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hr-H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hr-HR" i="1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hr-H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endParaRPr lang="hr-HR" dirty="0"/>
              </a:p>
            </p:txBody>
          </p:sp>
        </mc:Choice>
        <mc:Fallback>
          <p:sp>
            <p:nvSpPr>
              <p:cNvPr id="16" name="Rezervirano mjesto sadržaja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43706" y="3286183"/>
                <a:ext cx="3040585" cy="366532"/>
              </a:xfrm>
              <a:prstGeom prst="rect">
                <a:avLst/>
              </a:prstGeom>
              <a:blipFill>
                <a:blip r:embed="rId4"/>
                <a:stretch>
                  <a:fillRect l="-1403" t="-8333" b="-26667"/>
                </a:stretch>
              </a:blipFill>
            </p:spPr>
            <p:txBody>
              <a:bodyPr/>
              <a:lstStyle/>
              <a:p>
                <a:r>
                  <a:rPr lang="hr-H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Slika 5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67938" y="1940755"/>
            <a:ext cx="3649399" cy="1126832"/>
          </a:xfrm>
          <a:prstGeom prst="rect">
            <a:avLst/>
          </a:prstGeom>
        </p:spPr>
      </p:pic>
      <p:pic>
        <p:nvPicPr>
          <p:cNvPr id="14" name="Slika 13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94642" y="3844414"/>
            <a:ext cx="3546898" cy="1273245"/>
          </a:xfrm>
          <a:prstGeom prst="rect">
            <a:avLst/>
          </a:prstGeom>
        </p:spPr>
      </p:pic>
      <p:pic>
        <p:nvPicPr>
          <p:cNvPr id="25" name="Slika 24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445936" y="1927503"/>
            <a:ext cx="5749994" cy="42424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0863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6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dirty="0"/>
              <a:t>Učenje težina (3)</a:t>
            </a:r>
          </a:p>
        </p:txBody>
      </p:sp>
      <p:sp>
        <p:nvSpPr>
          <p:cNvPr id="4" name="Rezervirano mjesto broja slajda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A04B74-08D3-4235-B2EE-FA9FC8104C24}" type="slidenum">
              <a:rPr lang="hr-HR" smtClean="0"/>
              <a:pPr/>
              <a:t>8</a:t>
            </a:fld>
            <a:endParaRPr lang="hr-HR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zervirano mjesto sadržaja 2"/>
              <p:cNvSpPr txBox="1">
                <a:spLocks/>
              </p:cNvSpPr>
              <p:nvPr/>
            </p:nvSpPr>
            <p:spPr>
              <a:xfrm>
                <a:off x="1577135" y="1721734"/>
                <a:ext cx="4725990" cy="366532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 lnSpcReduction="10000"/>
              </a:bodyPr>
              <a:lstStyle>
                <a:lvl1pPr marL="342900" indent="-342900" algn="l" defTabSz="457200" rtl="0" eaLnBrk="1" latinLnBrk="0" hangingPunct="1">
                  <a:spcBef>
                    <a:spcPts val="1000"/>
                  </a:spcBef>
                  <a:spcAft>
                    <a:spcPts val="0"/>
                  </a:spcAft>
                  <a:buClr>
                    <a:schemeClr val="accent1"/>
                  </a:buClr>
                  <a:buFont typeface="Wingdings 3" charset="2"/>
                  <a:buChar char=""/>
                  <a:defRPr sz="18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1pPr>
                <a:lvl2pPr marL="742950" indent="-285750" algn="l" defTabSz="457200" rtl="0" eaLnBrk="1" latinLnBrk="0" hangingPunct="1">
                  <a:spcBef>
                    <a:spcPts val="1000"/>
                  </a:spcBef>
                  <a:spcAft>
                    <a:spcPts val="0"/>
                  </a:spcAft>
                  <a:buClr>
                    <a:schemeClr val="accent1"/>
                  </a:buClr>
                  <a:buFont typeface="Wingdings 3" charset="2"/>
                  <a:buChar char=""/>
                  <a:defRPr sz="16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457200" rtl="0" eaLnBrk="1" latinLnBrk="0" hangingPunct="1">
                  <a:spcBef>
                    <a:spcPts val="1000"/>
                  </a:spcBef>
                  <a:spcAft>
                    <a:spcPts val="0"/>
                  </a:spcAft>
                  <a:buClr>
                    <a:schemeClr val="accent1"/>
                  </a:buClr>
                  <a:buFont typeface="Wingdings 3" charset="2"/>
                  <a:buChar char=""/>
                  <a:defRPr sz="14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457200" rtl="0" eaLnBrk="1" latinLnBrk="0" hangingPunct="1">
                  <a:spcBef>
                    <a:spcPts val="1000"/>
                  </a:spcBef>
                  <a:spcAft>
                    <a:spcPts val="0"/>
                  </a:spcAft>
                  <a:buClr>
                    <a:schemeClr val="accent1"/>
                  </a:buClr>
                  <a:buFont typeface="Wingdings 3" charset="2"/>
                  <a:buChar char=""/>
                  <a:defRPr sz="12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457200" rtl="0" eaLnBrk="1" latinLnBrk="0" hangingPunct="1">
                  <a:spcBef>
                    <a:spcPts val="1000"/>
                  </a:spcBef>
                  <a:spcAft>
                    <a:spcPts val="0"/>
                  </a:spcAft>
                  <a:buClr>
                    <a:schemeClr val="accent1"/>
                  </a:buClr>
                  <a:buFont typeface="Wingdings 3" charset="2"/>
                  <a:buChar char=""/>
                  <a:defRPr sz="12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457200" rtl="0" eaLnBrk="1" latinLnBrk="0" hangingPunct="1">
                  <a:spcBef>
                    <a:spcPts val="1000"/>
                  </a:spcBef>
                  <a:spcAft>
                    <a:spcPts val="0"/>
                  </a:spcAft>
                  <a:buClr>
                    <a:schemeClr val="accent1"/>
                  </a:buClr>
                  <a:buFont typeface="Wingdings 3" charset="2"/>
                  <a:buChar char=""/>
                  <a:defRPr sz="12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457200" rtl="0" eaLnBrk="1" latinLnBrk="0" hangingPunct="1">
                  <a:spcBef>
                    <a:spcPts val="1000"/>
                  </a:spcBef>
                  <a:spcAft>
                    <a:spcPts val="0"/>
                  </a:spcAft>
                  <a:buClr>
                    <a:schemeClr val="accent1"/>
                  </a:buClr>
                  <a:buFont typeface="Wingdings 3" charset="2"/>
                  <a:buChar char=""/>
                  <a:defRPr sz="12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457200" rtl="0" eaLnBrk="1" latinLnBrk="0" hangingPunct="1">
                  <a:spcBef>
                    <a:spcPts val="1000"/>
                  </a:spcBef>
                  <a:spcAft>
                    <a:spcPts val="0"/>
                  </a:spcAft>
                  <a:buClr>
                    <a:schemeClr val="accent1"/>
                  </a:buClr>
                  <a:buFont typeface="Wingdings 3" charset="2"/>
                  <a:buChar char=""/>
                  <a:defRPr sz="12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457200" rtl="0" eaLnBrk="1" latinLnBrk="0" hangingPunct="1">
                  <a:spcBef>
                    <a:spcPts val="1000"/>
                  </a:spcBef>
                  <a:spcAft>
                    <a:spcPts val="0"/>
                  </a:spcAft>
                  <a:buClr>
                    <a:schemeClr val="accent1"/>
                  </a:buClr>
                  <a:buFont typeface="Wingdings 3" charset="2"/>
                  <a:buChar char=""/>
                  <a:defRPr sz="12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hr-HR" dirty="0"/>
                  <a:t>Funkcija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hr-H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hr-HR" i="1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hr-HR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</m:oMath>
                </a14:m>
                <a:endParaRPr lang="hr-HR" dirty="0"/>
              </a:p>
            </p:txBody>
          </p:sp>
        </mc:Choice>
        <mc:Fallback xmlns="">
          <p:sp>
            <p:nvSpPr>
              <p:cNvPr id="5" name="Rezervirano mjesto sadržaja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77135" y="1721734"/>
                <a:ext cx="4725990" cy="366532"/>
              </a:xfrm>
              <a:prstGeom prst="rect">
                <a:avLst/>
              </a:prstGeom>
              <a:blipFill>
                <a:blip r:embed="rId3"/>
                <a:stretch>
                  <a:fillRect l="-903" t="-16393" b="-16393"/>
                </a:stretch>
              </a:blipFill>
            </p:spPr>
            <p:txBody>
              <a:bodyPr/>
              <a:lstStyle/>
              <a:p>
                <a:r>
                  <a:rPr lang="hr-H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9" name="Slika 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6395" y="1721734"/>
            <a:ext cx="4887936" cy="3162782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2" name="Rezervirano mjesto sadržaja 2"/>
              <p:cNvSpPr txBox="1">
                <a:spLocks/>
              </p:cNvSpPr>
              <p:nvPr/>
            </p:nvSpPr>
            <p:spPr>
              <a:xfrm>
                <a:off x="1577135" y="5127400"/>
                <a:ext cx="4725990" cy="366532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 fontScale="92500" lnSpcReduction="10000"/>
              </a:bodyPr>
              <a:lstStyle>
                <a:lvl1pPr marL="342900" indent="-342900" algn="l" defTabSz="457200" rtl="0" eaLnBrk="1" latinLnBrk="0" hangingPunct="1">
                  <a:spcBef>
                    <a:spcPts val="1000"/>
                  </a:spcBef>
                  <a:spcAft>
                    <a:spcPts val="0"/>
                  </a:spcAft>
                  <a:buClr>
                    <a:schemeClr val="accent1"/>
                  </a:buClr>
                  <a:buFont typeface="Wingdings 3" charset="2"/>
                  <a:buChar char=""/>
                  <a:defRPr sz="18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1pPr>
                <a:lvl2pPr marL="742950" indent="-285750" algn="l" defTabSz="457200" rtl="0" eaLnBrk="1" latinLnBrk="0" hangingPunct="1">
                  <a:spcBef>
                    <a:spcPts val="1000"/>
                  </a:spcBef>
                  <a:spcAft>
                    <a:spcPts val="0"/>
                  </a:spcAft>
                  <a:buClr>
                    <a:schemeClr val="accent1"/>
                  </a:buClr>
                  <a:buFont typeface="Wingdings 3" charset="2"/>
                  <a:buChar char=""/>
                  <a:defRPr sz="16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457200" rtl="0" eaLnBrk="1" latinLnBrk="0" hangingPunct="1">
                  <a:spcBef>
                    <a:spcPts val="1000"/>
                  </a:spcBef>
                  <a:spcAft>
                    <a:spcPts val="0"/>
                  </a:spcAft>
                  <a:buClr>
                    <a:schemeClr val="accent1"/>
                  </a:buClr>
                  <a:buFont typeface="Wingdings 3" charset="2"/>
                  <a:buChar char=""/>
                  <a:defRPr sz="14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457200" rtl="0" eaLnBrk="1" latinLnBrk="0" hangingPunct="1">
                  <a:spcBef>
                    <a:spcPts val="1000"/>
                  </a:spcBef>
                  <a:spcAft>
                    <a:spcPts val="0"/>
                  </a:spcAft>
                  <a:buClr>
                    <a:schemeClr val="accent1"/>
                  </a:buClr>
                  <a:buFont typeface="Wingdings 3" charset="2"/>
                  <a:buChar char=""/>
                  <a:defRPr sz="12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457200" rtl="0" eaLnBrk="1" latinLnBrk="0" hangingPunct="1">
                  <a:spcBef>
                    <a:spcPts val="1000"/>
                  </a:spcBef>
                  <a:spcAft>
                    <a:spcPts val="0"/>
                  </a:spcAft>
                  <a:buClr>
                    <a:schemeClr val="accent1"/>
                  </a:buClr>
                  <a:buFont typeface="Wingdings 3" charset="2"/>
                  <a:buChar char=""/>
                  <a:defRPr sz="12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457200" rtl="0" eaLnBrk="1" latinLnBrk="0" hangingPunct="1">
                  <a:spcBef>
                    <a:spcPts val="1000"/>
                  </a:spcBef>
                  <a:spcAft>
                    <a:spcPts val="0"/>
                  </a:spcAft>
                  <a:buClr>
                    <a:schemeClr val="accent1"/>
                  </a:buClr>
                  <a:buFont typeface="Wingdings 3" charset="2"/>
                  <a:buChar char=""/>
                  <a:defRPr sz="12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457200" rtl="0" eaLnBrk="1" latinLnBrk="0" hangingPunct="1">
                  <a:spcBef>
                    <a:spcPts val="1000"/>
                  </a:spcBef>
                  <a:spcAft>
                    <a:spcPts val="0"/>
                  </a:spcAft>
                  <a:buClr>
                    <a:schemeClr val="accent1"/>
                  </a:buClr>
                  <a:buFont typeface="Wingdings 3" charset="2"/>
                  <a:buChar char=""/>
                  <a:defRPr sz="12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457200" rtl="0" eaLnBrk="1" latinLnBrk="0" hangingPunct="1">
                  <a:spcBef>
                    <a:spcPts val="1000"/>
                  </a:spcBef>
                  <a:spcAft>
                    <a:spcPts val="0"/>
                  </a:spcAft>
                  <a:buClr>
                    <a:schemeClr val="accent1"/>
                  </a:buClr>
                  <a:buFont typeface="Wingdings 3" charset="2"/>
                  <a:buChar char=""/>
                  <a:defRPr sz="12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457200" rtl="0" eaLnBrk="1" latinLnBrk="0" hangingPunct="1">
                  <a:spcBef>
                    <a:spcPts val="1000"/>
                  </a:spcBef>
                  <a:spcAft>
                    <a:spcPts val="0"/>
                  </a:spcAft>
                  <a:buClr>
                    <a:schemeClr val="accent1"/>
                  </a:buClr>
                  <a:buFont typeface="Wingdings 3" charset="2"/>
                  <a:buChar char=""/>
                  <a:defRPr sz="12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hr-HR" dirty="0"/>
                  <a:t>Dobitak/gubitak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hr-H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sSub>
                          <m:sSubPr>
                            <m:ctrlPr>
                              <a:rPr lang="hr-H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hr-HR" i="1"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hr-HR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sub>
                        </m:sSub>
                        <m:d>
                          <m:dPr>
                            <m:ctrlPr>
                              <a:rPr lang="hr-H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hr-HR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d>
                      </m:e>
                      <m:sup>
                        <m:sSub>
                          <m:sSubPr>
                            <m:ctrlPr>
                              <a:rPr lang="hr-H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hr-HR" b="1" i="1">
                                <a:latin typeface="Cambria Math" panose="02040503050406030204" pitchFamily="18" charset="0"/>
                              </a:rPr>
                              <m:t>𝑻</m:t>
                            </m:r>
                          </m:e>
                          <m:sub>
                            <m:r>
                              <a:rPr lang="hr-H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hr-HR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hr-HR" i="1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</m:sup>
                    </m:sSup>
                  </m:oMath>
                </a14:m>
                <a:r>
                  <a:rPr lang="hr-HR" dirty="0"/>
                  <a:t> </a:t>
                </a:r>
              </a:p>
            </p:txBody>
          </p:sp>
        </mc:Choice>
        <mc:Fallback xmlns="">
          <p:sp>
            <p:nvSpPr>
              <p:cNvPr id="12" name="Rezervirano mjesto sadržaja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77135" y="5127400"/>
                <a:ext cx="4725990" cy="366532"/>
              </a:xfrm>
              <a:prstGeom prst="rect">
                <a:avLst/>
              </a:prstGeom>
              <a:blipFill>
                <a:blip r:embed="rId9"/>
                <a:stretch>
                  <a:fillRect l="-645" t="-6667" b="-16667"/>
                </a:stretch>
              </a:blipFill>
            </p:spPr>
            <p:txBody>
              <a:bodyPr/>
              <a:lstStyle/>
              <a:p>
                <a:r>
                  <a:rPr lang="hr-H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Slika 2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305258" y="2180871"/>
            <a:ext cx="1753033" cy="525910"/>
          </a:xfrm>
          <a:prstGeom prst="rect">
            <a:avLst/>
          </a:prstGeom>
        </p:spPr>
      </p:pic>
      <p:pic>
        <p:nvPicPr>
          <p:cNvPr id="8" name="Slika 7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305258" y="2676351"/>
            <a:ext cx="2009575" cy="1818886"/>
          </a:xfrm>
          <a:prstGeom prst="rect">
            <a:avLst/>
          </a:prstGeom>
        </p:spPr>
      </p:pic>
      <p:pic>
        <p:nvPicPr>
          <p:cNvPr id="14" name="Slika 13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982742" y="5493931"/>
            <a:ext cx="5084217" cy="8659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385288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dirty="0"/>
              <a:t>Učenje težina (</a:t>
            </a:r>
            <a:r>
              <a:rPr lang="hr-HR"/>
              <a:t>4)</a:t>
            </a:r>
            <a:endParaRPr lang="hr-HR" dirty="0">
              <a:solidFill>
                <a:srgbClr val="FF0000"/>
              </a:solidFill>
            </a:endParaRPr>
          </a:p>
        </p:txBody>
      </p:sp>
      <p:sp>
        <p:nvSpPr>
          <p:cNvPr id="3" name="Rezervirano mjesto sadržaja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r-HR" dirty="0"/>
              <a:t>Konvergencija</a:t>
            </a:r>
          </a:p>
          <a:p>
            <a:pPr lvl="1"/>
            <a:r>
              <a:rPr lang="hr-HR" dirty="0"/>
              <a:t>Uvijek konvergira</a:t>
            </a:r>
          </a:p>
          <a:p>
            <a:pPr lvl="1"/>
            <a:r>
              <a:rPr lang="hr-HR" dirty="0"/>
              <a:t>Isti rezultat</a:t>
            </a:r>
          </a:p>
          <a:p>
            <a:endParaRPr lang="hr-HR" dirty="0"/>
          </a:p>
          <a:p>
            <a:r>
              <a:rPr lang="hr-HR" dirty="0"/>
              <a:t>Početne vrijednosti </a:t>
            </a:r>
          </a:p>
          <a:p>
            <a:endParaRPr lang="hr-HR" dirty="0"/>
          </a:p>
          <a:p>
            <a:r>
              <a:rPr lang="hr-HR" dirty="0"/>
              <a:t>Broj iteracija</a:t>
            </a:r>
          </a:p>
        </p:txBody>
      </p:sp>
      <p:sp>
        <p:nvSpPr>
          <p:cNvPr id="4" name="Rezervirano mjesto broja slajda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A04B74-08D3-4235-B2EE-FA9FC8104C24}" type="slidenum">
              <a:rPr lang="hr-HR" smtClean="0"/>
              <a:pPr/>
              <a:t>9</a:t>
            </a:fld>
            <a:endParaRPr lang="hr-HR" dirty="0"/>
          </a:p>
        </p:txBody>
      </p:sp>
    </p:spTree>
    <p:extLst>
      <p:ext uri="{BB962C8B-B14F-4D97-AF65-F5344CB8AC3E}">
        <p14:creationId xmlns:p14="http://schemas.microsoft.com/office/powerpoint/2010/main" val="51695996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dirty="0"/>
              <a:t>Evaluacija učenika</a:t>
            </a:r>
          </a:p>
        </p:txBody>
      </p:sp>
      <p:sp>
        <p:nvSpPr>
          <p:cNvPr id="3" name="Rezervirano mjesto sadržaja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r-HR" dirty="0"/>
              <a:t>Koriste se naučene težine</a:t>
            </a:r>
          </a:p>
          <a:p>
            <a:endParaRPr lang="hr-HR" dirty="0"/>
          </a:p>
        </p:txBody>
      </p:sp>
      <p:sp>
        <p:nvSpPr>
          <p:cNvPr id="4" name="Rezervirano mjesto broja slajda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A04B74-08D3-4235-B2EE-FA9FC8104C24}" type="slidenum">
              <a:rPr lang="hr-HR" smtClean="0"/>
              <a:pPr/>
              <a:t>10</a:t>
            </a:fld>
            <a:endParaRPr lang="hr-HR" dirty="0"/>
          </a:p>
        </p:txBody>
      </p:sp>
      <p:pic>
        <p:nvPicPr>
          <p:cNvPr id="8" name="Slika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76202" y="2906424"/>
            <a:ext cx="5984991" cy="16378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069963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dirty="0"/>
              <a:t>Vizualizacija profila učenika</a:t>
            </a:r>
          </a:p>
        </p:txBody>
      </p:sp>
      <p:pic>
        <p:nvPicPr>
          <p:cNvPr id="6" name="Rezervirano mjesto sadržaja 5"/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14718" y="1905000"/>
            <a:ext cx="3268253" cy="3268253"/>
          </a:xfrm>
        </p:spPr>
      </p:pic>
      <p:sp>
        <p:nvSpPr>
          <p:cNvPr id="4" name="Rezervirano mjesto broja slajda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A04B74-08D3-4235-B2EE-FA9FC8104C24}" type="slidenum">
              <a:rPr lang="hr-HR" smtClean="0"/>
              <a:pPr/>
              <a:t>11</a:t>
            </a:fld>
            <a:endParaRPr lang="hr-HR" dirty="0"/>
          </a:p>
        </p:txBody>
      </p:sp>
      <p:pic>
        <p:nvPicPr>
          <p:cNvPr id="8" name="Slika 7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41954" y="1905000"/>
            <a:ext cx="3761133" cy="37611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742873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dirty="0"/>
              <a:t>Predikcija </a:t>
            </a:r>
          </a:p>
        </p:txBody>
      </p:sp>
      <p:sp>
        <p:nvSpPr>
          <p:cNvPr id="3" name="Rezervirano mjesto sadržaja 2"/>
          <p:cNvSpPr>
            <a:spLocks noGrp="1"/>
          </p:cNvSpPr>
          <p:nvPr>
            <p:ph idx="1"/>
          </p:nvPr>
        </p:nvSpPr>
        <p:spPr>
          <a:xfrm>
            <a:off x="2589212" y="2133600"/>
            <a:ext cx="8915400" cy="4232476"/>
          </a:xfrm>
        </p:spPr>
        <p:txBody>
          <a:bodyPr>
            <a:normAutofit/>
          </a:bodyPr>
          <a:lstStyle/>
          <a:p>
            <a:r>
              <a:rPr lang="hr-HR" dirty="0"/>
              <a:t>Nelinearna regresija</a:t>
            </a:r>
          </a:p>
          <a:p>
            <a:pPr lvl="1"/>
            <a:r>
              <a:rPr lang="hr-HR" dirty="0"/>
              <a:t>Problem aproksimacije funkcije</a:t>
            </a:r>
          </a:p>
          <a:p>
            <a:pPr lvl="1"/>
            <a:r>
              <a:rPr lang="hr-HR" dirty="0" err="1"/>
              <a:t>Stanford</a:t>
            </a:r>
            <a:r>
              <a:rPr lang="hr-HR" dirty="0"/>
              <a:t>-B model</a:t>
            </a:r>
          </a:p>
          <a:p>
            <a:pPr lvl="1"/>
            <a:endParaRPr lang="hr-HR" dirty="0"/>
          </a:p>
          <a:p>
            <a:pPr lvl="1"/>
            <a:r>
              <a:rPr lang="hr-HR" dirty="0"/>
              <a:t>Parametri koje model uči:</a:t>
            </a:r>
          </a:p>
          <a:p>
            <a:pPr lvl="1"/>
            <a:endParaRPr lang="hr-HR" dirty="0"/>
          </a:p>
          <a:p>
            <a:pPr lvl="1"/>
            <a:endParaRPr lang="hr-HR" dirty="0"/>
          </a:p>
          <a:p>
            <a:pPr marL="457200" lvl="1" indent="0">
              <a:buNone/>
            </a:pPr>
            <a:endParaRPr lang="hr-HR" dirty="0"/>
          </a:p>
          <a:p>
            <a:pPr lvl="1"/>
            <a:r>
              <a:rPr lang="hr-HR" dirty="0"/>
              <a:t>Gradijentni spust </a:t>
            </a:r>
          </a:p>
          <a:p>
            <a:pPr lvl="1"/>
            <a:endParaRPr lang="hr-HR" dirty="0"/>
          </a:p>
        </p:txBody>
      </p:sp>
      <p:sp>
        <p:nvSpPr>
          <p:cNvPr id="4" name="Rezervirano mjesto broja slajda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A04B74-08D3-4235-B2EE-FA9FC8104C24}" type="slidenum">
              <a:rPr lang="hr-HR" smtClean="0"/>
              <a:pPr/>
              <a:t>12</a:t>
            </a:fld>
            <a:endParaRPr lang="hr-HR" dirty="0"/>
          </a:p>
        </p:txBody>
      </p:sp>
      <p:sp>
        <p:nvSpPr>
          <p:cNvPr id="6" name="Pravokutnik 5"/>
          <p:cNvSpPr/>
          <p:nvPr/>
        </p:nvSpPr>
        <p:spPr>
          <a:xfrm>
            <a:off x="3778613" y="4082757"/>
            <a:ext cx="18473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endParaRPr lang="hr-HR" i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Pravokutnik 6"/>
              <p:cNvSpPr/>
              <p:nvPr/>
            </p:nvSpPr>
            <p:spPr>
              <a:xfrm>
                <a:off x="3778613" y="4003685"/>
                <a:ext cx="2142638" cy="338554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hr-HR" sz="1600" i="1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hr-HR" sz="1600" dirty="0"/>
                  <a:t> – iskustvo učenika</a:t>
                </a:r>
              </a:p>
            </p:txBody>
          </p:sp>
        </mc:Choice>
        <mc:Fallback xmlns="">
          <p:sp>
            <p:nvSpPr>
              <p:cNvPr id="7" name="Pravokutnik 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78613" y="4003685"/>
                <a:ext cx="2142638" cy="338554"/>
              </a:xfrm>
              <a:prstGeom prst="rect">
                <a:avLst/>
              </a:prstGeom>
              <a:blipFill>
                <a:blip r:embed="rId4"/>
                <a:stretch>
                  <a:fillRect t="-5455" r="-285" b="-23636"/>
                </a:stretch>
              </a:blipFill>
            </p:spPr>
            <p:txBody>
              <a:bodyPr/>
              <a:lstStyle/>
              <a:p>
                <a:r>
                  <a:rPr lang="hr-H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Pravokutnik 7"/>
              <p:cNvSpPr/>
              <p:nvPr/>
            </p:nvSpPr>
            <p:spPr>
              <a:xfrm>
                <a:off x="3778612" y="4361883"/>
                <a:ext cx="4928660" cy="338554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hr-HR" sz="1600" b="0" i="1" smtClean="0"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hr-HR" sz="1600" b="0" i="0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m:rPr>
                          <m:sty m:val="p"/>
                        </m:rPr>
                        <a:rPr lang="hr-HR" sz="1600" b="0" i="0" smtClean="0">
                          <a:latin typeface="Cambria Math" panose="02040503050406030204" pitchFamily="18" charset="0"/>
                        </a:rPr>
                        <m:t>vrijeme</m:t>
                      </m:r>
                      <m:r>
                        <a:rPr lang="hr-HR" sz="1600" b="0" i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hr-HR" sz="1600" b="0" i="0" smtClean="0">
                          <a:latin typeface="Cambria Math" panose="02040503050406030204" pitchFamily="18" charset="0"/>
                        </a:rPr>
                        <m:t>rije</m:t>
                      </m:r>
                      <m:r>
                        <a:rPr lang="hr-HR" sz="1600" b="0" i="0" smtClean="0">
                          <a:latin typeface="Cambria Math" panose="02040503050406030204" pitchFamily="18" charset="0"/>
                        </a:rPr>
                        <m:t>š</m:t>
                      </m:r>
                      <m:r>
                        <m:rPr>
                          <m:sty m:val="p"/>
                        </m:rPr>
                        <a:rPr lang="hr-HR" sz="1600" b="0" i="0" smtClean="0">
                          <a:latin typeface="Cambria Math" panose="02040503050406030204" pitchFamily="18" charset="0"/>
                        </a:rPr>
                        <m:t>avanja</m:t>
                      </m:r>
                      <m:r>
                        <a:rPr lang="hr-HR" sz="1600" b="0" i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hr-HR" sz="1600" b="0" i="0" smtClean="0">
                          <a:latin typeface="Cambria Math" panose="02040503050406030204" pitchFamily="18" charset="0"/>
                        </a:rPr>
                        <m:t>prvog</m:t>
                      </m:r>
                      <m:r>
                        <a:rPr lang="hr-HR" sz="1600" b="0" i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hr-HR" sz="1600" b="0" i="0" smtClean="0">
                          <a:latin typeface="Cambria Math" panose="02040503050406030204" pitchFamily="18" charset="0"/>
                        </a:rPr>
                        <m:t>zadatka</m:t>
                      </m:r>
                    </m:oMath>
                  </m:oMathPara>
                </a14:m>
                <a:endParaRPr lang="hr-HR" sz="1600" dirty="0">
                  <a:latin typeface="Century Gothic (tijelo)"/>
                </a:endParaRPr>
              </a:p>
            </p:txBody>
          </p:sp>
        </mc:Choice>
        <mc:Fallback xmlns="">
          <p:sp>
            <p:nvSpPr>
              <p:cNvPr id="8" name="Pravokutnik 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78612" y="4361883"/>
                <a:ext cx="4928660" cy="338554"/>
              </a:xfrm>
              <a:prstGeom prst="rect">
                <a:avLst/>
              </a:prstGeom>
              <a:blipFill>
                <a:blip r:embed="rId5"/>
                <a:stretch>
                  <a:fillRect b="-14545"/>
                </a:stretch>
              </a:blipFill>
            </p:spPr>
            <p:txBody>
              <a:bodyPr/>
              <a:lstStyle/>
              <a:p>
                <a:r>
                  <a:rPr lang="hr-H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Pravokutnik 8"/>
              <p:cNvSpPr/>
              <p:nvPr/>
            </p:nvSpPr>
            <p:spPr>
              <a:xfrm>
                <a:off x="3778613" y="4723124"/>
                <a:ext cx="1830629" cy="338554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hr-HR" sz="1600" b="0" i="1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hr-HR" sz="1600" dirty="0"/>
                  <a:t> – stopa učenja</a:t>
                </a:r>
              </a:p>
            </p:txBody>
          </p:sp>
        </mc:Choice>
        <mc:Fallback xmlns="">
          <p:sp>
            <p:nvSpPr>
              <p:cNvPr id="9" name="Pravokutnik 8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78613" y="4723124"/>
                <a:ext cx="1830629" cy="338554"/>
              </a:xfrm>
              <a:prstGeom prst="rect">
                <a:avLst/>
              </a:prstGeom>
              <a:blipFill>
                <a:blip r:embed="rId6"/>
                <a:stretch>
                  <a:fillRect t="-5455" r="-333" b="-23636"/>
                </a:stretch>
              </a:blipFill>
            </p:spPr>
            <p:txBody>
              <a:bodyPr/>
              <a:lstStyle/>
              <a:p>
                <a:r>
                  <a:rPr lang="hr-H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1" name="Slika 10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711222" y="3281362"/>
            <a:ext cx="2770053" cy="464171"/>
          </a:xfrm>
          <a:prstGeom prst="rect">
            <a:avLst/>
          </a:prstGeom>
        </p:spPr>
      </p:pic>
      <p:pic>
        <p:nvPicPr>
          <p:cNvPr id="12" name="Slika 11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778611" y="5554716"/>
            <a:ext cx="2819147" cy="5851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5710135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dirty="0"/>
              <a:t>Vizualizacija </a:t>
            </a:r>
            <a:r>
              <a:rPr lang="hr-HR" dirty="0" err="1"/>
              <a:t>predickije</a:t>
            </a:r>
            <a:endParaRPr lang="hr-HR" dirty="0"/>
          </a:p>
        </p:txBody>
      </p:sp>
      <p:sp>
        <p:nvSpPr>
          <p:cNvPr id="4" name="Rezervirano mjesto broja slajda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A04B74-08D3-4235-B2EE-FA9FC8104C24}" type="slidenum">
              <a:rPr lang="hr-HR" smtClean="0"/>
              <a:pPr/>
              <a:t>13</a:t>
            </a:fld>
            <a:endParaRPr lang="hr-HR" dirty="0"/>
          </a:p>
        </p:txBody>
      </p:sp>
      <p:pic>
        <p:nvPicPr>
          <p:cNvPr id="5" name="Slika 4"/>
          <p:cNvPicPr/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42686" y="2071869"/>
            <a:ext cx="5124868" cy="36497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864992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dirty="0"/>
              <a:t>Rezultati</a:t>
            </a:r>
          </a:p>
        </p:txBody>
      </p:sp>
      <p:sp>
        <p:nvSpPr>
          <p:cNvPr id="3" name="Rezervirano mjesto sadržaja 2"/>
          <p:cNvSpPr>
            <a:spLocks noGrp="1"/>
          </p:cNvSpPr>
          <p:nvPr>
            <p:ph idx="1"/>
          </p:nvPr>
        </p:nvSpPr>
        <p:spPr>
          <a:xfrm>
            <a:off x="2589212" y="2133600"/>
            <a:ext cx="8915400" cy="4006222"/>
          </a:xfrm>
        </p:spPr>
        <p:txBody>
          <a:bodyPr>
            <a:normAutofit/>
          </a:bodyPr>
          <a:lstStyle/>
          <a:p>
            <a:r>
              <a:rPr lang="hr-HR" dirty="0"/>
              <a:t>Podaci skupljeni nad 3 razreda unutar jedne akademske godine</a:t>
            </a:r>
          </a:p>
          <a:p>
            <a:endParaRPr lang="hr-HR" dirty="0"/>
          </a:p>
          <a:p>
            <a:r>
              <a:rPr lang="hr-HR" dirty="0"/>
              <a:t>Nema korelacije između pozadine učenika s rezultatima nad lekcijama</a:t>
            </a:r>
          </a:p>
          <a:p>
            <a:endParaRPr lang="hr-HR" dirty="0"/>
          </a:p>
          <a:p>
            <a:r>
              <a:rPr lang="hr-HR" dirty="0"/>
              <a:t>Negativna korelacija između kompetitivnih i kolaborativnih lekcija</a:t>
            </a:r>
          </a:p>
          <a:p>
            <a:endParaRPr lang="hr-HR" dirty="0"/>
          </a:p>
          <a:p>
            <a:r>
              <a:rPr lang="hr-HR" dirty="0"/>
              <a:t>Pozitivna korelacija između kompetitivnih lekcija s lekcija proširene stvarnosti</a:t>
            </a:r>
          </a:p>
          <a:p>
            <a:endParaRPr lang="hr-HR" dirty="0"/>
          </a:p>
        </p:txBody>
      </p:sp>
      <p:sp>
        <p:nvSpPr>
          <p:cNvPr id="4" name="Rezervirano mjesto broja slajda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A04B74-08D3-4235-B2EE-FA9FC8104C24}" type="slidenum">
              <a:rPr lang="hr-HR" smtClean="0"/>
              <a:pPr/>
              <a:t>14</a:t>
            </a:fld>
            <a:endParaRPr lang="hr-HR" dirty="0"/>
          </a:p>
        </p:txBody>
      </p:sp>
    </p:spTree>
    <p:extLst>
      <p:ext uri="{BB962C8B-B14F-4D97-AF65-F5344CB8AC3E}">
        <p14:creationId xmlns:p14="http://schemas.microsoft.com/office/powerpoint/2010/main" val="152495690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dirty="0"/>
              <a:t>Pitanja?</a:t>
            </a:r>
          </a:p>
        </p:txBody>
      </p:sp>
      <p:sp>
        <p:nvSpPr>
          <p:cNvPr id="3" name="Rezervirano mjesto sadržaja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4" name="Rezervirano mjesto broja slajda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A04B74-08D3-4235-B2EE-FA9FC8104C24}" type="slidenum">
              <a:rPr lang="hr-HR" smtClean="0"/>
              <a:pPr/>
              <a:t>15</a:t>
            </a:fld>
            <a:endParaRPr lang="hr-HR" dirty="0"/>
          </a:p>
        </p:txBody>
      </p:sp>
    </p:spTree>
    <p:extLst>
      <p:ext uri="{BB962C8B-B14F-4D97-AF65-F5344CB8AC3E}">
        <p14:creationId xmlns:p14="http://schemas.microsoft.com/office/powerpoint/2010/main" val="1249962305"/>
      </p:ext>
    </p:extLst>
  </p:cSld>
  <p:clrMapOvr>
    <a:masterClrMapping/>
  </p:clrMapOvr>
</p:sld>
</file>

<file path=ppt/theme/theme1.xml><?xml version="1.0" encoding="utf-8"?>
<a:theme xmlns:a="http://schemas.openxmlformats.org/drawingml/2006/main" name="Pramen">
  <a:themeElements>
    <a:clrScheme name="Pramen">
      <a:dk1>
        <a:sysClr val="windowText" lastClr="000000"/>
      </a:dk1>
      <a:lt1>
        <a:sysClr val="window" lastClr="FFFFFF"/>
      </a:lt1>
      <a:dk2>
        <a:srgbClr val="766F54"/>
      </a:dk2>
      <a:lt2>
        <a:srgbClr val="E3EACF"/>
      </a:lt2>
      <a:accent1>
        <a:srgbClr val="A53010"/>
      </a:accent1>
      <a:accent2>
        <a:srgbClr val="DE7E18"/>
      </a:accent2>
      <a:accent3>
        <a:srgbClr val="9F8351"/>
      </a:accent3>
      <a:accent4>
        <a:srgbClr val="728653"/>
      </a:accent4>
      <a:accent5>
        <a:srgbClr val="92AA4C"/>
      </a:accent5>
      <a:accent6>
        <a:srgbClr val="6AAC91"/>
      </a:accent6>
      <a:hlink>
        <a:srgbClr val="FB4A18"/>
      </a:hlink>
      <a:folHlink>
        <a:srgbClr val="FB9318"/>
      </a:folHlink>
    </a:clrScheme>
    <a:fontScheme name="Pramen">
      <a:maj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Pramen">
      <a:fillStyleLst>
        <a:solidFill>
          <a:schemeClr val="phClr"/>
        </a:solidFill>
        <a:solidFill>
          <a:schemeClr val="phClr">
            <a:tint val="70000"/>
            <a:lumMod val="104000"/>
          </a:schemeClr>
        </a:soli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98000"/>
                <a:lumMod val="9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shade val="9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2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60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20000"/>
              </a:schemeClr>
            </a:gs>
            <a:gs pos="100000">
              <a:schemeClr val="phClr">
                <a:shade val="98000"/>
                <a:satMod val="120000"/>
                <a:lumMod val="9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satMod val="92000"/>
                <a:lumMod val="120000"/>
              </a:schemeClr>
            </a:gs>
            <a:gs pos="100000">
              <a:schemeClr val="phClr">
                <a:shade val="98000"/>
                <a:satMod val="120000"/>
                <a:lumMod val="98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Wisp" id="{7CB32D59-10C0-40DD-B7BD-2E94284A981C}" vid="{24B1A44C-C006-48B2-A4D7-E5549B3D8CD4}"/>
    </a:ext>
  </a:extLst>
</a:theme>
</file>

<file path=ppt/theme/theme2.xml><?xml version="1.0" encoding="utf-8"?>
<a:theme xmlns:a="http://schemas.openxmlformats.org/drawingml/2006/main" name="Tema sustava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ema sustava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733</TotalTime>
  <Words>505</Words>
  <Application>Microsoft Office PowerPoint</Application>
  <PresentationFormat>Široki zaslon</PresentationFormat>
  <Paragraphs>140</Paragraphs>
  <Slides>15</Slides>
  <Notes>15</Notes>
  <HiddenSlides>0</HiddenSlides>
  <MMClips>0</MMClips>
  <ScaleCrop>false</ScaleCrop>
  <HeadingPairs>
    <vt:vector size="6" baseType="variant">
      <vt:variant>
        <vt:lpstr>Korišteni fontovi</vt:lpstr>
      </vt:variant>
      <vt:variant>
        <vt:i4>6</vt:i4>
      </vt:variant>
      <vt:variant>
        <vt:lpstr>Tema</vt:lpstr>
      </vt:variant>
      <vt:variant>
        <vt:i4>1</vt:i4>
      </vt:variant>
      <vt:variant>
        <vt:lpstr>Naslovi slajdova</vt:lpstr>
      </vt:variant>
      <vt:variant>
        <vt:i4>15</vt:i4>
      </vt:variant>
    </vt:vector>
  </HeadingPairs>
  <TitlesOfParts>
    <vt:vector size="22" baseType="lpstr">
      <vt:lpstr>Arial</vt:lpstr>
      <vt:lpstr>Calibri</vt:lpstr>
      <vt:lpstr>Cambria Math</vt:lpstr>
      <vt:lpstr>Century Gothic</vt:lpstr>
      <vt:lpstr>Century Gothic (tijelo)</vt:lpstr>
      <vt:lpstr>Wingdings 3</vt:lpstr>
      <vt:lpstr>Pramen</vt:lpstr>
      <vt:lpstr>Izrada aplikacije za analitiku i predviđanje rezultata učenja temeljene na inteligentnim algoritmima</vt:lpstr>
      <vt:lpstr>Sadržaj obrane</vt:lpstr>
      <vt:lpstr>Širi kontekst aplikacije</vt:lpstr>
      <vt:lpstr>Lekcije </vt:lpstr>
      <vt:lpstr>Arhitektura aplikacije</vt:lpstr>
      <vt:lpstr>Učenje težina zadataka </vt:lpstr>
      <vt:lpstr>Učenje težina (2)</vt:lpstr>
      <vt:lpstr>Učenje težina (3)</vt:lpstr>
      <vt:lpstr>Učenje težina (4)</vt:lpstr>
      <vt:lpstr>Evaluacija učenika</vt:lpstr>
      <vt:lpstr>Vizualizacija profila učenika</vt:lpstr>
      <vt:lpstr>Predikcija </vt:lpstr>
      <vt:lpstr>Vizualizacija predickije</vt:lpstr>
      <vt:lpstr>Rezultati</vt:lpstr>
      <vt:lpstr>Pitanja?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Izrada aplikacije za analitiku i predviđanje rezultata učenja temeljene na inteligentnim algoritmima</dc:title>
  <dc:creator>Roko Krstulovic</dc:creator>
  <cp:lastModifiedBy>Roko Krstulovic</cp:lastModifiedBy>
  <cp:revision>53</cp:revision>
  <dcterms:created xsi:type="dcterms:W3CDTF">2017-07-09T12:11:58Z</dcterms:created>
  <dcterms:modified xsi:type="dcterms:W3CDTF">2017-07-11T16:35:07Z</dcterms:modified>
</cp:coreProperties>
</file>