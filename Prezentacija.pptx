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rednji stil 2 - Isticanj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1691" autoAdjust="0"/>
  </p:normalViewPr>
  <p:slideViewPr>
    <p:cSldViewPr snapToGrid="0">
      <p:cViewPr varScale="1">
        <p:scale>
          <a:sx n="83" d="100"/>
          <a:sy n="83" d="100"/>
        </p:scale>
        <p:origin x="1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3264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46A12B-06E1-47C6-A125-3FB910654273}" type="datetimeFigureOut">
              <a:rPr lang="hr-HR" smtClean="0"/>
              <a:t>9.7.2017.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F5421-EB5A-4BDF-9068-22A3D693F63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65252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09DF9-2331-40B1-8AF0-8418F3307473}" type="datetimeFigureOut">
              <a:rPr lang="hr-HR" smtClean="0"/>
              <a:t>9.7.2017.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16CC2-0CB1-4D77-989D-B367874660F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7511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Ovdje</a:t>
            </a:r>
            <a:r>
              <a:rPr lang="hr-HR" baseline="0" dirty="0"/>
              <a:t> se stavi aplikacija (sustav) u širi pogled. Prvo je potrebno napraviti lekcije u </a:t>
            </a:r>
            <a:r>
              <a:rPr lang="hr-HR" baseline="0" dirty="0" err="1"/>
              <a:t>Authoru</a:t>
            </a:r>
            <a:r>
              <a:rPr lang="hr-HR" baseline="0" dirty="0"/>
              <a:t>, u obliku </a:t>
            </a:r>
            <a:r>
              <a:rPr lang="hr-HR" baseline="0" dirty="0" err="1"/>
              <a:t>powerpoint</a:t>
            </a:r>
            <a:r>
              <a:rPr lang="hr-HR" baseline="0" dirty="0"/>
              <a:t> prezentacija. Zatim se lekcije daju učenicima u razredu u školama. Dobivaju se podaci, </a:t>
            </a:r>
            <a:r>
              <a:rPr lang="hr-HR" baseline="0" dirty="0" err="1"/>
              <a:t>puunp</a:t>
            </a:r>
            <a:r>
              <a:rPr lang="hr-HR" baseline="0" dirty="0"/>
              <a:t> podataka u obliku logova. Logovi se obrađuju aplikacijom i oni generiraju vizualni prikaz logova.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46509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Prije nego što krenemo na samu aplikaciju pogledajmo vrste</a:t>
            </a:r>
            <a:r>
              <a:rPr lang="hr-HR" baseline="0" dirty="0"/>
              <a:t> lekcija… logovi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013637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UZMI SA</a:t>
            </a:r>
            <a:r>
              <a:rPr lang="hr-HR" baseline="0" dirty="0"/>
              <a:t> SLJEDECEG SLAJDA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17784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UBACI U</a:t>
            </a:r>
            <a:r>
              <a:rPr lang="hr-HR" baseline="0" dirty="0"/>
              <a:t> PRETHODNI SLAJD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49408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Zašto, </a:t>
            </a:r>
          </a:p>
          <a:p>
            <a:r>
              <a:rPr lang="hr-HR" dirty="0"/>
              <a:t>Težina 0</a:t>
            </a:r>
            <a:r>
              <a:rPr lang="hr-HR" baseline="0" dirty="0"/>
              <a:t> do 1. </a:t>
            </a:r>
            <a:r>
              <a:rPr lang="hr-HR" baseline="0" dirty="0" err="1"/>
              <a:t>Uspjesnost</a:t>
            </a:r>
            <a:r>
              <a:rPr lang="hr-HR" baseline="0" dirty="0"/>
              <a:t> 0 do 1…</a:t>
            </a:r>
            <a:endParaRPr lang="hr-HR" dirty="0"/>
          </a:p>
          <a:p>
            <a:r>
              <a:rPr lang="hr-HR" dirty="0"/>
              <a:t>Ciklička ovisnost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16CC2-0CB1-4D77-989D-B367874660F1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29861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500A0-63A4-4CC8-93F8-0B876C651E4B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5196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r-HR" dirty="0"/>
              <a:t>Uredite stilove teksta matrice</a:t>
            </a:r>
          </a:p>
          <a:p>
            <a:pPr lvl="1"/>
            <a:r>
              <a:rPr lang="hr-HR" dirty="0"/>
              <a:t>Druga razina</a:t>
            </a:r>
          </a:p>
          <a:p>
            <a:pPr lvl="2"/>
            <a:r>
              <a:rPr lang="hr-HR" dirty="0"/>
              <a:t>Treća razina</a:t>
            </a:r>
          </a:p>
          <a:p>
            <a:pPr lvl="3"/>
            <a:r>
              <a:rPr lang="hr-HR" dirty="0"/>
              <a:t>Četvrta razina</a:t>
            </a:r>
          </a:p>
          <a:p>
            <a:pPr lvl="4"/>
            <a:r>
              <a:rPr lang="hr-HR" dirty="0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89212" y="6130537"/>
            <a:ext cx="1146283" cy="370396"/>
          </a:xfrm>
        </p:spPr>
        <p:txBody>
          <a:bodyPr/>
          <a:lstStyle/>
          <a:p>
            <a:fld id="{5158170C-DB7D-4464-BDA2-88D287F6C038}" type="datetime1">
              <a:rPr lang="hr-HR" smtClean="0"/>
              <a:t>9.7.2017.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30869" y="6135808"/>
            <a:ext cx="6278342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61612" y="6139822"/>
            <a:ext cx="642719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B9A04B74-08D3-4235-B2EE-FA9FC8104C24}" type="slidenum">
              <a:rPr lang="hr-HR" smtClean="0"/>
              <a:pPr/>
              <a:t>‹#›</a:t>
            </a:fld>
            <a:endParaRPr lang="hr-HR" dirty="0"/>
          </a:p>
        </p:txBody>
      </p:sp>
      <p:sp>
        <p:nvSpPr>
          <p:cNvPr id="7" name="TekstniOkvir 6"/>
          <p:cNvSpPr txBox="1"/>
          <p:nvPr userDrawn="1"/>
        </p:nvSpPr>
        <p:spPr>
          <a:xfrm>
            <a:off x="10878207" y="6130537"/>
            <a:ext cx="662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/ ?</a:t>
            </a:r>
          </a:p>
        </p:txBody>
      </p:sp>
    </p:spTree>
    <p:extLst>
      <p:ext uri="{BB962C8B-B14F-4D97-AF65-F5344CB8AC3E}">
        <p14:creationId xmlns:p14="http://schemas.microsoft.com/office/powerpoint/2010/main" val="20724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F65CF-71B7-4583-B176-AF82EF7E1259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3498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56983-4060-4392-A540-9478F4DD306D}" type="datetime1">
              <a:rPr lang="hr-HR" smtClean="0"/>
              <a:t>9.7.2017.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462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AAD3-2C3B-409B-9D21-BA737B90EF98}" type="datetime1">
              <a:rPr lang="hr-HR" smtClean="0"/>
              <a:t>9.7.2017.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8581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ACC6F-1094-4B8B-A68B-9BFB61F23A41}" type="datetime1">
              <a:rPr lang="hr-HR" smtClean="0"/>
              <a:t>9.7.2017.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0652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15696-C074-4A9F-84DB-F58D64942585}" type="datetime1">
              <a:rPr lang="hr-HR" smtClean="0"/>
              <a:t>9.7.2017.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1260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CFC5F-B82A-44E0-A124-339A05F87481}" type="datetime1">
              <a:rPr lang="hr-HR" smtClean="0"/>
              <a:t>9.7.2017.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50665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3EFC-6F79-4E4A-B0B4-8D6D925BDABE}" type="datetime1">
              <a:rPr lang="hr-HR" smtClean="0"/>
              <a:t>9.7.2017.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3902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CFD3D-24D6-4348-A483-AE8C4B356E77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8619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97BD7-E284-4CBB-B127-12A84F631B69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7899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38E6C-04F9-4B9E-9CC9-E48F19EE57A6}" type="datetime1">
              <a:rPr lang="hr-HR" smtClean="0"/>
              <a:t>9.7.2017.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7935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 cit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E183C-602E-4A0C-BD44-DF8CDBCFE4DB}" type="datetime1">
              <a:rPr lang="hr-HR" smtClean="0"/>
              <a:t>9.7.2017.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64237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ili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B7886B-4A1E-4C7B-AAED-FC711FF9DF08}" type="datetime1">
              <a:rPr lang="hr-HR" smtClean="0"/>
              <a:t>9.7.2017.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6309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0C1B4-DDC9-4C09-AFA6-73E25A3AEF97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052192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81FF4-2098-4BCA-AC8D-2FFA66FD0092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4049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r-HR"/>
              <a:t>Uredite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B92A9A-7312-4095-80CF-AA2E329C9CEB}" type="datetime1">
              <a:rPr lang="hr-HR" smtClean="0"/>
              <a:t>9.7.2017.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9A04B74-08D3-4235-B2EE-FA9FC8104C2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65039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2589213" y="1674628"/>
            <a:ext cx="9202294" cy="2262781"/>
          </a:xfrm>
        </p:spPr>
        <p:txBody>
          <a:bodyPr>
            <a:noAutofit/>
          </a:bodyPr>
          <a:lstStyle/>
          <a:p>
            <a:r>
              <a:rPr lang="hr-HR" sz="3800" dirty="0"/>
              <a:t>Izrada aplikacije za analitiku i predviđanje rezultata učenja temeljene na inteligentnim algoritmima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2589213" y="5160151"/>
            <a:ext cx="8915399" cy="1126283"/>
          </a:xfrm>
        </p:spPr>
        <p:txBody>
          <a:bodyPr/>
          <a:lstStyle/>
          <a:p>
            <a:r>
              <a:rPr lang="hr-HR" dirty="0"/>
              <a:t>Student: Roko Krstulović</a:t>
            </a:r>
          </a:p>
          <a:p>
            <a:r>
              <a:rPr lang="hr-HR" dirty="0"/>
              <a:t>Mentor: doc. sr. Sc Ivica </a:t>
            </a:r>
            <a:r>
              <a:rPr lang="hr-HR" dirty="0" err="1"/>
              <a:t>Botički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20484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Sadržaj obrane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8" name="Rezervirano mjesto broja slajda 7"/>
          <p:cNvSpPr>
            <a:spLocks noGrp="1"/>
          </p:cNvSpPr>
          <p:nvPr>
            <p:ph type="sldNum" sz="quarter" idx="12"/>
          </p:nvPr>
        </p:nvSpPr>
        <p:spPr>
          <a:xfrm>
            <a:off x="10361612" y="6139822"/>
            <a:ext cx="1047123" cy="365125"/>
          </a:xfrm>
        </p:spPr>
        <p:txBody>
          <a:bodyPr/>
          <a:lstStyle/>
          <a:p>
            <a:fld id="{B9A04B74-08D3-4235-B2EE-FA9FC8104C24}" type="slidenum">
              <a:rPr lang="hr-HR" smtClean="0">
                <a:solidFill>
                  <a:schemeClr val="tx1"/>
                </a:solidFill>
              </a:rPr>
              <a:t>2</a:t>
            </a:fld>
            <a:endParaRPr lang="hr-H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143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Apstraktni pregled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3</a:t>
            </a:fld>
            <a:endParaRPr lang="hr-HR" dirty="0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822" y="2727929"/>
            <a:ext cx="1968540" cy="1428463"/>
          </a:xfrm>
          <a:prstGeom prst="rect">
            <a:avLst/>
          </a:prstGeom>
        </p:spPr>
      </p:pic>
      <p:pic>
        <p:nvPicPr>
          <p:cNvPr id="27" name="Slika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330" y="2965815"/>
            <a:ext cx="2031174" cy="1030072"/>
          </a:xfrm>
          <a:prstGeom prst="rect">
            <a:avLst/>
          </a:prstGeom>
        </p:spPr>
      </p:pic>
      <p:pic>
        <p:nvPicPr>
          <p:cNvPr id="28" name="Slika 2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2981" y="2479670"/>
            <a:ext cx="1711321" cy="2002362"/>
          </a:xfrm>
          <a:prstGeom prst="rect">
            <a:avLst/>
          </a:prstGeom>
        </p:spPr>
      </p:pic>
      <p:sp>
        <p:nvSpPr>
          <p:cNvPr id="29" name="TekstniOkvir 28"/>
          <p:cNvSpPr txBox="1"/>
          <p:nvPr/>
        </p:nvSpPr>
        <p:spPr>
          <a:xfrm>
            <a:off x="1398055" y="4892326"/>
            <a:ext cx="156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err="1"/>
              <a:t>Author</a:t>
            </a:r>
            <a:endParaRPr lang="hr-HR" dirty="0"/>
          </a:p>
        </p:txBody>
      </p:sp>
      <p:sp>
        <p:nvSpPr>
          <p:cNvPr id="30" name="TekstniOkvir 29"/>
          <p:cNvSpPr txBox="1"/>
          <p:nvPr/>
        </p:nvSpPr>
        <p:spPr>
          <a:xfrm>
            <a:off x="3939898" y="4892326"/>
            <a:ext cx="1771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Eksperiment</a:t>
            </a:r>
          </a:p>
        </p:txBody>
      </p:sp>
      <p:sp>
        <p:nvSpPr>
          <p:cNvPr id="32" name="TekstniOkvir 31"/>
          <p:cNvSpPr txBox="1"/>
          <p:nvPr/>
        </p:nvSpPr>
        <p:spPr>
          <a:xfrm>
            <a:off x="6763390" y="4892326"/>
            <a:ext cx="1115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Podaci</a:t>
            </a:r>
          </a:p>
        </p:txBody>
      </p:sp>
      <p:pic>
        <p:nvPicPr>
          <p:cNvPr id="35" name="Slika 3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9318" y="1656595"/>
            <a:ext cx="2321781" cy="3648513"/>
          </a:xfrm>
          <a:prstGeom prst="rect">
            <a:avLst/>
          </a:prstGeom>
        </p:spPr>
      </p:pic>
      <p:sp>
        <p:nvSpPr>
          <p:cNvPr id="36" name="TekstniOkvir 35"/>
          <p:cNvSpPr txBox="1"/>
          <p:nvPr/>
        </p:nvSpPr>
        <p:spPr>
          <a:xfrm>
            <a:off x="9081714" y="4892326"/>
            <a:ext cx="1816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Vizualni prikaz</a:t>
            </a:r>
          </a:p>
        </p:txBody>
      </p:sp>
      <p:cxnSp>
        <p:nvCxnSpPr>
          <p:cNvPr id="38" name="Ravni poveznik sa strelicom 37"/>
          <p:cNvCxnSpPr/>
          <p:nvPr/>
        </p:nvCxnSpPr>
        <p:spPr>
          <a:xfrm flipV="1">
            <a:off x="3325869" y="3480851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Ravni poveznik sa strelicom 38"/>
          <p:cNvCxnSpPr/>
          <p:nvPr/>
        </p:nvCxnSpPr>
        <p:spPr>
          <a:xfrm flipV="1">
            <a:off x="6036785" y="3442160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Ravni poveznik sa strelicom 39"/>
          <p:cNvCxnSpPr/>
          <p:nvPr/>
        </p:nvCxnSpPr>
        <p:spPr>
          <a:xfrm flipV="1">
            <a:off x="8433165" y="3442160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Elipsa 41"/>
          <p:cNvSpPr/>
          <p:nvPr/>
        </p:nvSpPr>
        <p:spPr>
          <a:xfrm>
            <a:off x="8354303" y="3274828"/>
            <a:ext cx="540000" cy="37214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057844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Lekcije 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2589211" y="2133600"/>
            <a:ext cx="3302303" cy="366532"/>
          </a:xfrm>
        </p:spPr>
        <p:txBody>
          <a:bodyPr>
            <a:normAutofit/>
          </a:bodyPr>
          <a:lstStyle/>
          <a:p>
            <a:r>
              <a:rPr lang="hr-HR" dirty="0"/>
              <a:t>Kompetitivne lekcije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4</a:t>
            </a:fld>
            <a:endParaRPr lang="hr-HR" dirty="0"/>
          </a:p>
        </p:txBody>
      </p:sp>
      <p:sp>
        <p:nvSpPr>
          <p:cNvPr id="6" name="Rezervirano mjesto sadržaja 2"/>
          <p:cNvSpPr txBox="1">
            <a:spLocks/>
          </p:cNvSpPr>
          <p:nvPr/>
        </p:nvSpPr>
        <p:spPr>
          <a:xfrm>
            <a:off x="2589210" y="2818436"/>
            <a:ext cx="3302304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Kolaborativne lekcije</a:t>
            </a:r>
          </a:p>
        </p:txBody>
      </p:sp>
      <p:sp>
        <p:nvSpPr>
          <p:cNvPr id="7" name="Rezervirano mjesto sadržaja 2"/>
          <p:cNvSpPr txBox="1">
            <a:spLocks/>
          </p:cNvSpPr>
          <p:nvPr/>
        </p:nvSpPr>
        <p:spPr>
          <a:xfrm>
            <a:off x="2589210" y="3541855"/>
            <a:ext cx="3302304" cy="3665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Lekcije proširene stvarnosti</a:t>
            </a:r>
          </a:p>
        </p:txBody>
      </p:sp>
      <p:pic>
        <p:nvPicPr>
          <p:cNvPr id="9" name="Slika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768" y="723159"/>
            <a:ext cx="3758824" cy="2820881"/>
          </a:xfrm>
          <a:prstGeom prst="rect">
            <a:avLst/>
          </a:prstGeom>
        </p:spPr>
      </p:pic>
      <p:pic>
        <p:nvPicPr>
          <p:cNvPr id="11" name="Slika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68" y="2291790"/>
            <a:ext cx="4228824" cy="2114412"/>
          </a:xfrm>
          <a:prstGeom prst="rect">
            <a:avLst/>
          </a:prstGeom>
        </p:spPr>
      </p:pic>
      <p:pic>
        <p:nvPicPr>
          <p:cNvPr id="13" name="Slika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116" y="3742605"/>
            <a:ext cx="4333775" cy="2422401"/>
          </a:xfrm>
          <a:prstGeom prst="rect">
            <a:avLst/>
          </a:prstGeom>
        </p:spPr>
      </p:pic>
      <p:sp>
        <p:nvSpPr>
          <p:cNvPr id="15" name="TekstniOkvir 14"/>
          <p:cNvSpPr txBox="1"/>
          <p:nvPr/>
        </p:nvSpPr>
        <p:spPr>
          <a:xfrm>
            <a:off x="1724628" y="1574157"/>
            <a:ext cx="2129742" cy="382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Vrste lekcija:</a:t>
            </a:r>
          </a:p>
        </p:txBody>
      </p:sp>
      <p:sp>
        <p:nvSpPr>
          <p:cNvPr id="16" name="TekstniOkvir 15"/>
          <p:cNvSpPr txBox="1"/>
          <p:nvPr/>
        </p:nvSpPr>
        <p:spPr>
          <a:xfrm>
            <a:off x="1724628" y="4406202"/>
            <a:ext cx="1898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/>
              <a:t>Zabilješke:</a:t>
            </a:r>
          </a:p>
        </p:txBody>
      </p:sp>
      <p:sp>
        <p:nvSpPr>
          <p:cNvPr id="17" name="Rezervirano mjesto sadržaja 2"/>
          <p:cNvSpPr txBox="1">
            <a:spLocks/>
          </p:cNvSpPr>
          <p:nvPr/>
        </p:nvSpPr>
        <p:spPr>
          <a:xfrm>
            <a:off x="2203218" y="4775534"/>
            <a:ext cx="3468377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Posebne za svaku lekciju</a:t>
            </a:r>
          </a:p>
        </p:txBody>
      </p:sp>
      <p:sp>
        <p:nvSpPr>
          <p:cNvPr id="18" name="Rezervirano mjesto sadržaja 2"/>
          <p:cNvSpPr txBox="1">
            <a:spLocks/>
          </p:cNvSpPr>
          <p:nvPr/>
        </p:nvSpPr>
        <p:spPr>
          <a:xfrm>
            <a:off x="2203217" y="5137281"/>
            <a:ext cx="3584125" cy="3665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Pohranjeni u bazi podataka</a:t>
            </a:r>
          </a:p>
        </p:txBody>
      </p:sp>
      <p:sp>
        <p:nvSpPr>
          <p:cNvPr id="19" name="Rezervirano mjesto sadržaja 2"/>
          <p:cNvSpPr txBox="1">
            <a:spLocks/>
          </p:cNvSpPr>
          <p:nvPr/>
        </p:nvSpPr>
        <p:spPr>
          <a:xfrm>
            <a:off x="2203217" y="5529737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JSON</a:t>
            </a:r>
          </a:p>
        </p:txBody>
      </p:sp>
      <p:pic>
        <p:nvPicPr>
          <p:cNvPr id="20" name="Slika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6759" y="4590868"/>
            <a:ext cx="4149466" cy="237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49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Aplikacija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5</a:t>
            </a:fld>
            <a:endParaRPr lang="hr-HR" dirty="0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8523" y="2542734"/>
            <a:ext cx="1968540" cy="1428463"/>
          </a:xfrm>
          <a:prstGeom prst="rect">
            <a:avLst/>
          </a:prstGeom>
        </p:spPr>
      </p:pic>
      <p:pic>
        <p:nvPicPr>
          <p:cNvPr id="6" name="Slika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031" y="2780620"/>
            <a:ext cx="2031174" cy="1030072"/>
          </a:xfrm>
          <a:prstGeom prst="rect">
            <a:avLst/>
          </a:prstGeom>
        </p:spPr>
      </p:pic>
      <p:pic>
        <p:nvPicPr>
          <p:cNvPr id="7" name="Slika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682" y="2294475"/>
            <a:ext cx="1711321" cy="2002362"/>
          </a:xfrm>
          <a:prstGeom prst="rect">
            <a:avLst/>
          </a:prstGeom>
        </p:spPr>
      </p:pic>
      <p:sp>
        <p:nvSpPr>
          <p:cNvPr id="8" name="TekstniOkvir 7"/>
          <p:cNvSpPr txBox="1"/>
          <p:nvPr/>
        </p:nvSpPr>
        <p:spPr>
          <a:xfrm>
            <a:off x="1351756" y="4707131"/>
            <a:ext cx="1562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err="1"/>
              <a:t>Author</a:t>
            </a:r>
            <a:endParaRPr lang="hr-HR" dirty="0"/>
          </a:p>
        </p:txBody>
      </p:sp>
      <p:sp>
        <p:nvSpPr>
          <p:cNvPr id="9" name="TekstniOkvir 8"/>
          <p:cNvSpPr txBox="1"/>
          <p:nvPr/>
        </p:nvSpPr>
        <p:spPr>
          <a:xfrm>
            <a:off x="3893599" y="4707131"/>
            <a:ext cx="1771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Eksperiment</a:t>
            </a:r>
          </a:p>
        </p:txBody>
      </p:sp>
      <p:sp>
        <p:nvSpPr>
          <p:cNvPr id="10" name="TekstniOkvir 9"/>
          <p:cNvSpPr txBox="1"/>
          <p:nvPr/>
        </p:nvSpPr>
        <p:spPr>
          <a:xfrm>
            <a:off x="6717091" y="4707131"/>
            <a:ext cx="1115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Podaci</a:t>
            </a:r>
          </a:p>
        </p:txBody>
      </p:sp>
      <p:pic>
        <p:nvPicPr>
          <p:cNvPr id="11" name="Slika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019" y="1471400"/>
            <a:ext cx="2321781" cy="3648513"/>
          </a:xfrm>
          <a:prstGeom prst="rect">
            <a:avLst/>
          </a:prstGeom>
        </p:spPr>
      </p:pic>
      <p:sp>
        <p:nvSpPr>
          <p:cNvPr id="12" name="TekstniOkvir 11"/>
          <p:cNvSpPr txBox="1"/>
          <p:nvPr/>
        </p:nvSpPr>
        <p:spPr>
          <a:xfrm>
            <a:off x="9035415" y="4707131"/>
            <a:ext cx="1816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Vizualni prikaz</a:t>
            </a:r>
          </a:p>
        </p:txBody>
      </p:sp>
      <p:cxnSp>
        <p:nvCxnSpPr>
          <p:cNvPr id="13" name="Ravni poveznik sa strelicom 12"/>
          <p:cNvCxnSpPr/>
          <p:nvPr/>
        </p:nvCxnSpPr>
        <p:spPr>
          <a:xfrm flipV="1">
            <a:off x="3279570" y="3295656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vni poveznik sa strelicom 13"/>
          <p:cNvCxnSpPr/>
          <p:nvPr/>
        </p:nvCxnSpPr>
        <p:spPr>
          <a:xfrm flipV="1">
            <a:off x="5990486" y="325696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avni poveznik sa strelicom 14"/>
          <p:cNvCxnSpPr/>
          <p:nvPr/>
        </p:nvCxnSpPr>
        <p:spPr>
          <a:xfrm flipV="1">
            <a:off x="8386866" y="325696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lipsa 15"/>
          <p:cNvSpPr/>
          <p:nvPr/>
        </p:nvSpPr>
        <p:spPr>
          <a:xfrm>
            <a:off x="8308004" y="3089633"/>
            <a:ext cx="540000" cy="37214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20750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TEMP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6</a:t>
            </a:fld>
            <a:endParaRPr lang="hr-HR" dirty="0"/>
          </a:p>
        </p:txBody>
      </p:sp>
      <p:sp>
        <p:nvSpPr>
          <p:cNvPr id="7" name="Elipsa 6"/>
          <p:cNvSpPr/>
          <p:nvPr/>
        </p:nvSpPr>
        <p:spPr>
          <a:xfrm>
            <a:off x="1181121" y="2179320"/>
            <a:ext cx="1098052" cy="66072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Start</a:t>
            </a:r>
          </a:p>
        </p:txBody>
      </p:sp>
      <p:sp>
        <p:nvSpPr>
          <p:cNvPr id="8" name="Pravokutnik 7"/>
          <p:cNvSpPr/>
          <p:nvPr/>
        </p:nvSpPr>
        <p:spPr>
          <a:xfrm>
            <a:off x="2873533" y="2136301"/>
            <a:ext cx="156972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Preuzimanje</a:t>
            </a:r>
          </a:p>
        </p:txBody>
      </p:sp>
      <p:sp>
        <p:nvSpPr>
          <p:cNvPr id="9" name="Pravokutnik 8"/>
          <p:cNvSpPr/>
          <p:nvPr/>
        </p:nvSpPr>
        <p:spPr>
          <a:xfrm>
            <a:off x="5037613" y="2103120"/>
            <a:ext cx="175260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Pred-obrada podataka</a:t>
            </a:r>
          </a:p>
        </p:txBody>
      </p:sp>
      <p:sp>
        <p:nvSpPr>
          <p:cNvPr id="11" name="Pravokutnik 10"/>
          <p:cNvSpPr/>
          <p:nvPr/>
        </p:nvSpPr>
        <p:spPr>
          <a:xfrm>
            <a:off x="7384573" y="2103120"/>
            <a:ext cx="1752600" cy="74676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Obrada podataka</a:t>
            </a:r>
          </a:p>
        </p:txBody>
      </p:sp>
      <p:sp>
        <p:nvSpPr>
          <p:cNvPr id="12" name="Elipsa 11"/>
          <p:cNvSpPr/>
          <p:nvPr/>
        </p:nvSpPr>
        <p:spPr>
          <a:xfrm>
            <a:off x="9731533" y="2057400"/>
            <a:ext cx="1902876" cy="838200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Prikaz podataka</a:t>
            </a:r>
          </a:p>
        </p:txBody>
      </p:sp>
      <p:cxnSp>
        <p:nvCxnSpPr>
          <p:cNvPr id="13" name="Ravni poveznik sa strelicom 12"/>
          <p:cNvCxnSpPr/>
          <p:nvPr/>
        </p:nvCxnSpPr>
        <p:spPr>
          <a:xfrm flipV="1">
            <a:off x="2401539" y="2509681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vni poveznik sa strelicom 13"/>
          <p:cNvCxnSpPr/>
          <p:nvPr/>
        </p:nvCxnSpPr>
        <p:spPr>
          <a:xfrm flipV="1">
            <a:off x="4549047" y="2520313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avni poveznik sa strelicom 14"/>
          <p:cNvCxnSpPr/>
          <p:nvPr/>
        </p:nvCxnSpPr>
        <p:spPr>
          <a:xfrm flipV="1">
            <a:off x="6896007" y="2530945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avni poveznik sa strelicom 15"/>
          <p:cNvCxnSpPr/>
          <p:nvPr/>
        </p:nvCxnSpPr>
        <p:spPr>
          <a:xfrm flipV="1">
            <a:off x="9242967" y="2499049"/>
            <a:ext cx="382772" cy="10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avokutnik 21"/>
          <p:cNvSpPr/>
          <p:nvPr/>
        </p:nvSpPr>
        <p:spPr>
          <a:xfrm>
            <a:off x="2576706" y="4450080"/>
            <a:ext cx="2841468" cy="9601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Učenje težina lekcija</a:t>
            </a:r>
          </a:p>
        </p:txBody>
      </p:sp>
      <p:sp>
        <p:nvSpPr>
          <p:cNvPr id="23" name="Pravokutnik 22"/>
          <p:cNvSpPr/>
          <p:nvPr/>
        </p:nvSpPr>
        <p:spPr>
          <a:xfrm>
            <a:off x="6013765" y="4450080"/>
            <a:ext cx="2841468" cy="9601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1"/>
                </a:solidFill>
              </a:rPr>
              <a:t>Evaluacija učenika</a:t>
            </a:r>
          </a:p>
        </p:txBody>
      </p:sp>
      <p:sp>
        <p:nvSpPr>
          <p:cNvPr id="24" name="Pravokutnik 23"/>
          <p:cNvSpPr/>
          <p:nvPr/>
        </p:nvSpPr>
        <p:spPr>
          <a:xfrm>
            <a:off x="2118361" y="4236720"/>
            <a:ext cx="7345680" cy="138684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>
              <a:solidFill>
                <a:schemeClr val="tx1"/>
              </a:solidFill>
            </a:endParaRPr>
          </a:p>
        </p:txBody>
      </p:sp>
      <p:sp>
        <p:nvSpPr>
          <p:cNvPr id="25" name="Strelica: lijevo-desno 24"/>
          <p:cNvSpPr/>
          <p:nvPr/>
        </p:nvSpPr>
        <p:spPr>
          <a:xfrm rot="19595316">
            <a:off x="6423049" y="3228421"/>
            <a:ext cx="1772859" cy="716280"/>
          </a:xfrm>
          <a:prstGeom prst="leftRightArrow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5732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</a:t>
            </a:r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7</a:t>
            </a:fld>
            <a:endParaRPr lang="hr-H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Pravokutnik 4"/>
              <p:cNvSpPr/>
              <p:nvPr/>
            </p:nvSpPr>
            <p:spPr>
              <a:xfrm>
                <a:off x="2562465" y="1970755"/>
                <a:ext cx="3019109" cy="7694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hr-HR" sz="2000" b="1" dirty="0"/>
                  <a:t>S </a:t>
                </a:r>
                <a14:m>
                  <m:oMath xmlns:m="http://schemas.openxmlformats.org/officeDocument/2006/math">
                    <m:r>
                      <a:rPr lang="hr-HR" sz="20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hr-HR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hr-H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r-HR" sz="2000" b="1" i="0">
                            <a:latin typeface="Cambria Math" panose="02040503050406030204" pitchFamily="18" charset="0"/>
                          </a:rPr>
                          <m:t>𝐋</m:t>
                        </m:r>
                      </m:e>
                    </m:d>
                    <m:r>
                      <a:rPr lang="hr-H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hr-HR" sz="2000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hr-HR" sz="2000" b="1" i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hr-HR" sz="2000" b="1" dirty="0"/>
                      <m:t> </m:t>
                    </m:r>
                    <m:r>
                      <a:rPr lang="hr-H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hr-HR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hr-H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hr-HR" sz="20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</m:d>
                  </m:oMath>
                </a14:m>
                <a:endParaRPr lang="hr-HR" sz="2000" dirty="0"/>
              </a:p>
              <a:p>
                <a:endParaRPr lang="hr-HR" sz="2400" dirty="0"/>
              </a:p>
            </p:txBody>
          </p:sp>
        </mc:Choice>
        <mc:Fallback>
          <p:sp>
            <p:nvSpPr>
              <p:cNvPr id="5" name="Pravokutnik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2465" y="1970755"/>
                <a:ext cx="3019109" cy="769441"/>
              </a:xfrm>
              <a:prstGeom prst="rect">
                <a:avLst/>
              </a:prstGeom>
              <a:blipFill>
                <a:blip r:embed="rId3"/>
                <a:stretch>
                  <a:fillRect l="-2016" t="-393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zervirano mjesto sadržaja 2"/>
          <p:cNvSpPr>
            <a:spLocks noGrp="1"/>
          </p:cNvSpPr>
          <p:nvPr>
            <p:ph idx="1"/>
          </p:nvPr>
        </p:nvSpPr>
        <p:spPr>
          <a:xfrm>
            <a:off x="1918651" y="1459306"/>
            <a:ext cx="3302303" cy="366532"/>
          </a:xfrm>
        </p:spPr>
        <p:txBody>
          <a:bodyPr>
            <a:normAutofit/>
          </a:bodyPr>
          <a:lstStyle/>
          <a:p>
            <a:r>
              <a:rPr lang="hr-HR" dirty="0"/>
              <a:t>Ciklička ovisnost</a:t>
            </a:r>
          </a:p>
        </p:txBody>
      </p:sp>
      <p:sp>
        <p:nvSpPr>
          <p:cNvPr id="8" name="Rezervirano mjesto sadržaja 2"/>
          <p:cNvSpPr txBox="1">
            <a:spLocks/>
          </p:cNvSpPr>
          <p:nvPr/>
        </p:nvSpPr>
        <p:spPr>
          <a:xfrm>
            <a:off x="1905537" y="3087723"/>
            <a:ext cx="4725990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Metoda iterativne konvergencije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Pravokutnik 9"/>
              <p:cNvSpPr/>
              <p:nvPr/>
            </p:nvSpPr>
            <p:spPr>
              <a:xfrm>
                <a:off x="2562465" y="3562345"/>
                <a:ext cx="2965620" cy="4397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r-HR" sz="2000" b="1">
                          <a:latin typeface="Cambria Math" panose="02040503050406030204" pitchFamily="18" charset="0"/>
                        </a:rPr>
                        <m:t>𝐒</m:t>
                      </m:r>
                      <m:d>
                        <m:dPr>
                          <m:ctrlPr>
                            <a:rPr lang="hr-HR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sz="20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hr-HR" sz="2000" b="0" i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hr-HR" sz="2000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r-HR" sz="2000" b="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hr-HR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sz="2000" b="1" i="0">
                              <a:latin typeface="Cambria Math" panose="02040503050406030204" pitchFamily="18" charset="0"/>
                            </a:rPr>
                            <m:t>𝐋</m:t>
                          </m:r>
                          <m:d>
                            <m:dPr>
                              <m:ctrlPr>
                                <a:rPr lang="hr-H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sz="20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hr-HR" sz="2000" b="0" i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hr-HR" sz="2000" b="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hr-HR" sz="2000" b="0" i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hr-HR" sz="2000" dirty="0"/>
              </a:p>
            </p:txBody>
          </p:sp>
        </mc:Choice>
        <mc:Fallback>
          <p:sp>
            <p:nvSpPr>
              <p:cNvPr id="10" name="Pravokutnik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2465" y="3562345"/>
                <a:ext cx="2965620" cy="439736"/>
              </a:xfrm>
              <a:prstGeom prst="rect">
                <a:avLst/>
              </a:prstGeom>
              <a:blipFill>
                <a:blip r:embed="rId4"/>
                <a:stretch>
                  <a:fillRect b="-8219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Pravokutnik 10"/>
              <p:cNvSpPr/>
              <p:nvPr/>
            </p:nvSpPr>
            <p:spPr>
              <a:xfrm>
                <a:off x="2562465" y="4076431"/>
                <a:ext cx="2965620" cy="4397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r-HR" sz="2000" b="1" smtClean="0">
                          <a:latin typeface="Cambria Math" panose="02040503050406030204" pitchFamily="18" charset="0"/>
                        </a:rPr>
                        <m:t>𝐋</m:t>
                      </m:r>
                      <m:d>
                        <m:dPr>
                          <m:ctrlPr>
                            <a:rPr lang="hr-HR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sz="20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hr-HR" sz="2000" b="0" i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hr-HR" sz="2000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r-HR" sz="2000" b="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hr-HR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sz="2000" b="1" i="0">
                              <a:latin typeface="Cambria Math" panose="02040503050406030204" pitchFamily="18" charset="0"/>
                            </a:rPr>
                            <m:t>𝐒</m:t>
                          </m:r>
                          <m:d>
                            <m:dPr>
                              <m:ctrlPr>
                                <a:rPr lang="hr-H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sz="20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hr-HR" sz="2000" b="0" i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hr-HR" sz="2000" b="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hr-HR" sz="2000" b="0" i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hr-HR" sz="2000" dirty="0"/>
              </a:p>
            </p:txBody>
          </p:sp>
        </mc:Choice>
        <mc:Fallback>
          <p:sp>
            <p:nvSpPr>
              <p:cNvPr id="11" name="Pravokutni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2465" y="4076431"/>
                <a:ext cx="2965620" cy="439736"/>
              </a:xfrm>
              <a:prstGeom prst="rect">
                <a:avLst/>
              </a:prstGeom>
              <a:blipFill>
                <a:blip r:embed="rId5"/>
                <a:stretch>
                  <a:fillRect b="-9722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Pravokutnik 11"/>
              <p:cNvSpPr/>
              <p:nvPr/>
            </p:nvSpPr>
            <p:spPr>
              <a:xfrm>
                <a:off x="2562465" y="4590517"/>
                <a:ext cx="3255443" cy="49289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hr-HR" sz="200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hr-HR" sz="20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hr-HR" sz="20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hr-HR" sz="2000" i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hr-HR" sz="2000" b="1" i="0">
                              <a:latin typeface="Cambria Math" panose="02040503050406030204" pitchFamily="18" charset="0"/>
                            </a:rPr>
                            <m:t>𝐒</m:t>
                          </m:r>
                          <m:d>
                            <m:dPr>
                              <m:ctrlPr>
                                <a:rPr lang="hr-H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sz="20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hr-HR" sz="2000" b="0" i="0">
                          <a:latin typeface="Cambria Math" panose="02040503050406030204" pitchFamily="18" charset="0"/>
                        </a:rPr>
                        <m:t>= ?</m:t>
                      </m:r>
                      <m:r>
                        <a:rPr lang="hr-HR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hr-HR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hr-HR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hr-HR" sz="20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hr-HR" sz="200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hr-HR" sz="2000" b="1">
                              <a:latin typeface="Cambria Math" panose="02040503050406030204" pitchFamily="18" charset="0"/>
                            </a:rPr>
                            <m:t>𝐋</m:t>
                          </m:r>
                          <m:d>
                            <m:dPr>
                              <m:ctrlPr>
                                <a:rPr lang="hr-H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hr-HR" sz="200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hr-HR" sz="2000" dirty="0"/>
              </a:p>
            </p:txBody>
          </p:sp>
        </mc:Choice>
        <mc:Fallback>
          <p:sp>
            <p:nvSpPr>
              <p:cNvPr id="12" name="Pravokutnik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2465" y="4590517"/>
                <a:ext cx="3255443" cy="4928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zervirano mjesto sadržaja 2"/>
          <p:cNvSpPr txBox="1">
            <a:spLocks/>
          </p:cNvSpPr>
          <p:nvPr/>
        </p:nvSpPr>
        <p:spPr>
          <a:xfrm>
            <a:off x="6417839" y="1461268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Riješenost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Pravokutnik 14"/>
              <p:cNvSpPr/>
              <p:nvPr/>
            </p:nvSpPr>
            <p:spPr>
              <a:xfrm>
                <a:off x="6631527" y="1751925"/>
                <a:ext cx="5547359" cy="13408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hr-HR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hr-HR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hr-HR" b="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hr-HR" b="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hr-HR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−1, &amp;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č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𝑒𝑛𝑖𝑘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𝑛𝑖𝑗𝑒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𝑢𝑠𝑝𝑗𝑒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𝑛𝑜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𝑟𝑖𝑗𝑒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𝑖𝑜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𝑧𝑎𝑑𝑎𝑡𝑎𝑘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0, &amp;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č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𝑒𝑛𝑖𝑘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𝑛𝑖𝑗𝑒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𝑟𝑖𝑗𝑒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𝑎𝑣𝑎𝑜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𝑧𝑎𝑑𝑎𝑡𝑎𝑘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e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1, &amp;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č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𝑒𝑛𝑖𝑘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𝑢𝑠𝑝𝑗𝑒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𝑛𝑜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𝑟𝑖𝑗𝑒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𝑖𝑜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𝑧𝑎𝑑𝑎𝑡𝑎𝑘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e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&amp;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5" name="Pravokutnik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1527" y="1751925"/>
                <a:ext cx="5547359" cy="13408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zervirano mjesto sadržaja 2"/>
          <p:cNvSpPr txBox="1">
            <a:spLocks/>
          </p:cNvSpPr>
          <p:nvPr/>
        </p:nvSpPr>
        <p:spPr>
          <a:xfrm>
            <a:off x="6417839" y="3087723"/>
            <a:ext cx="3302303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Preciznost riješenosti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Pravokutnik 16"/>
              <p:cNvSpPr/>
              <p:nvPr/>
            </p:nvSpPr>
            <p:spPr>
              <a:xfrm>
                <a:off x="6417839" y="3564821"/>
                <a:ext cx="6096000" cy="71070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hr-HR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hr-HR" b="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hr-HR" b="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hr-HR" b="0" i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hr-HR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hr-HR" b="0" i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hr-HR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  <m:r>
                                    <a:rPr lang="hr-HR" b="0" i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func>
                                    <m:func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hr-HR" b="0" i="0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d>
                                            <m:dPr>
                                              <m:begChr m:val=""/>
                                              <m:ctrlP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hr-HR" b="0" i="0">
                                                  <a:latin typeface="Cambria Math" panose="02040503050406030204" pitchFamily="18" charset="0"/>
                                                </a:rPr>
                                                <m:t>0, </m:t>
                                              </m:r>
                                              <m: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hr-HR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𝑡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𝑚𝑖𝑛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hr-HR" b="0" i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hr-HR" b="0" i="0">
                                                  <a:latin typeface="Cambria Math" panose="02040503050406030204" pitchFamily="18" charset="0"/>
                                                </a:rPr>
                                                <m:t>f</m:t>
                                              </m:r>
                                              <m:r>
                                                <a:rPr lang="hr-HR" b="0" i="0">
                                                  <a:latin typeface="Cambria Math" panose="02040503050406030204" pitchFamily="18" charset="0"/>
                                                </a:rPr>
                                                <m:t>∗(</m:t>
                                              </m:r>
                                              <m: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  <m:r>
                                                <a:rPr lang="hr-HR" b="0" i="0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7" name="Pravokutni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39" y="3564821"/>
                <a:ext cx="6096000" cy="710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Pravokutnik 17"/>
              <p:cNvSpPr/>
              <p:nvPr/>
            </p:nvSpPr>
            <p:spPr>
              <a:xfrm>
                <a:off x="7330651" y="4228948"/>
                <a:ext cx="509016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𝑣𝑟𝑖𝑗𝑒𝑚𝑒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𝑟𝑗𝑒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š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𝑎𝑣𝑎𝑛𝑗𝑎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𝑧𝑎𝑑𝑎𝑡𝑘𝑎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8" name="Pravokutnik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0651" y="4228948"/>
                <a:ext cx="5090160" cy="369332"/>
              </a:xfrm>
              <a:prstGeom prst="rect">
                <a:avLst/>
              </a:prstGeom>
              <a:blipFill>
                <a:blip r:embed="rId9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Pravokutnik 18"/>
              <p:cNvSpPr/>
              <p:nvPr/>
            </p:nvSpPr>
            <p:spPr>
              <a:xfrm>
                <a:off x="7330652" y="4546059"/>
                <a:ext cx="488864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𝑚𝑖𝑛</m:t>
                          </m:r>
                        </m:sub>
                      </m:sSub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č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𝑒𝑘𝑖𝑣𝑎𝑛𝑜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𝑣𝑟𝑖𝑗𝑒𝑚𝑒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hr-HR" b="0" i="0" smtClean="0">
                          <a:latin typeface="Cambria Math" panose="02040503050406030204" pitchFamily="18" charset="0"/>
                        </a:rPr>
                        <m:t>rje</m:t>
                      </m:r>
                      <m:r>
                        <a:rPr lang="hr-HR" b="0" i="0" smtClean="0">
                          <a:latin typeface="Cambria Math" panose="02040503050406030204" pitchFamily="18" charset="0"/>
                        </a:rPr>
                        <m:t>š</m:t>
                      </m:r>
                      <m:r>
                        <m:rPr>
                          <m:sty m:val="p"/>
                        </m:rPr>
                        <a:rPr lang="hr-HR" b="0" i="0" smtClean="0">
                          <a:latin typeface="Cambria Math" panose="02040503050406030204" pitchFamily="18" charset="0"/>
                        </a:rPr>
                        <m:t>avanja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𝑧𝑎𝑑𝑎𝑡𝑘𝑎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9" name="Pravokutnik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0652" y="4546059"/>
                <a:ext cx="4888646" cy="369332"/>
              </a:xfrm>
              <a:prstGeom prst="rect">
                <a:avLst/>
              </a:prstGeom>
              <a:blipFill>
                <a:blip r:embed="rId10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Pravokutnik 19"/>
              <p:cNvSpPr/>
              <p:nvPr/>
            </p:nvSpPr>
            <p:spPr>
              <a:xfrm>
                <a:off x="6658292" y="4939655"/>
                <a:ext cx="5439092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𝑚𝑎𝑘𝑠𝑖𝑚𝑎𝑙𝑛𝑜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č</m:t>
                      </m:r>
                      <m:r>
                        <a:rPr lang="hr-HR" i="1" smtClean="0">
                          <a:latin typeface="Cambria Math" panose="02040503050406030204" pitchFamily="18" charset="0"/>
                        </a:rPr>
                        <m:t>𝑒𝑘𝑖𝑣𝑎𝑛𝑜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𝑣𝑟𝑖𝑗𝑒𝑚𝑒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hr-HR" i="0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𝑟𝑗𝑒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š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𝑎𝑣𝑎𝑛𝑗𝑎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𝑧𝑎𝑑𝑎𝑡𝑘𝑎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20" name="Pravokutnik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8292" y="4939655"/>
                <a:ext cx="5439092" cy="646331"/>
              </a:xfrm>
              <a:prstGeom prst="rect">
                <a:avLst/>
              </a:prstGeom>
              <a:blipFill>
                <a:blip r:embed="rId1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Pravokutnik 20"/>
              <p:cNvSpPr/>
              <p:nvPr/>
            </p:nvSpPr>
            <p:spPr>
              <a:xfrm>
                <a:off x="7224299" y="5927361"/>
                <a:ext cx="21138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𝑏𝑟𝑜𝑗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𝑝𝑜𝑘𝑢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š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𝑎𝑗𝑎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21" name="Pravokutnik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4299" y="5927361"/>
                <a:ext cx="2113848" cy="369332"/>
              </a:xfrm>
              <a:prstGeom prst="rect">
                <a:avLst/>
              </a:prstGeom>
              <a:blipFill>
                <a:blip r:embed="rId12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Pravokutnik 21"/>
              <p:cNvSpPr/>
              <p:nvPr/>
            </p:nvSpPr>
            <p:spPr>
              <a:xfrm>
                <a:off x="7224299" y="5513090"/>
                <a:ext cx="384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hr-HR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𝑓𝑎𝑘𝑡𝑜𝑟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𝑘𝑎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ž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𝑛𝑗𝑎𝑣𝑎𝑛𝑗𝑎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𝑝𝑜𝑔𝑎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đ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𝑎𝑛𝑗𝑎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22" name="Pravokutnik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4299" y="5513090"/>
                <a:ext cx="3843040" cy="369332"/>
              </a:xfrm>
              <a:prstGeom prst="rect">
                <a:avLst/>
              </a:prstGeom>
              <a:blipFill>
                <a:blip r:embed="rId13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1535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(2)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8</a:t>
            </a:fld>
            <a:endParaRPr lang="hr-H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Pravokutnik 4"/>
              <p:cNvSpPr/>
              <p:nvPr/>
            </p:nvSpPr>
            <p:spPr>
              <a:xfrm>
                <a:off x="2110806" y="1905000"/>
                <a:ext cx="5675593" cy="12832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ctrlPr>
                                <a:rPr lang="hr-HR" b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b="1" i="1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e>
                        <m:sub>
                          <m:r>
                            <a:rPr lang="hr-HR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hr-HR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hr-HR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hr-HR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p>
                                    <m:sSup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d>
                                                <m:dPr>
                                                  <m:begChr m:val=""/>
                                                  <m:ctrlP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hr-HR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𝑳</m:t>
                                                  </m:r>
                                                  <m:r>
                                                    <a:rPr lang="hr-HR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  <m:sub>
                                              <m: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</m:sSup>
                                  <m:r>
                                    <a:rPr lang="hr-HR" b="0" i="0">
                                      <a:latin typeface="Cambria Math" panose="02040503050406030204" pitchFamily="18" charset="0"/>
                                    </a:rPr>
                                    <m:t>∗ </m:t>
                                  </m:r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1" i="1"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hr-HR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hr-HR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p>
                                    <m:sSup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d>
                                                <m:dPr>
                                                  <m:begChr m:val=""/>
                                                  <m:ctrlP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hr-HR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𝑳</m:t>
                                                  </m:r>
                                                  <m:r>
                                                    <a:rPr lang="hr-HR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  <m:sub>
                                              <m: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</m:sSup>
                                  <m:r>
                                    <a:rPr lang="hr-HR" b="0" i="0">
                                      <a:latin typeface="Cambria Math" panose="02040503050406030204" pitchFamily="18" charset="0"/>
                                    </a:rPr>
                                    <m:t>∗ </m:t>
                                  </m:r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1" i="1"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hr-HR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5" name="Pravokutnik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806" y="1905000"/>
                <a:ext cx="5675593" cy="12832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zervirano mjesto sadržaja 2"/>
          <p:cNvSpPr txBox="1">
            <a:spLocks/>
          </p:cNvSpPr>
          <p:nvPr/>
        </p:nvSpPr>
        <p:spPr>
          <a:xfrm>
            <a:off x="1618567" y="1475308"/>
            <a:ext cx="4725990" cy="366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Metoda iterativne konvergencije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Pravokutnik 7"/>
              <p:cNvSpPr/>
              <p:nvPr/>
            </p:nvSpPr>
            <p:spPr>
              <a:xfrm>
                <a:off x="2110806" y="3185890"/>
                <a:ext cx="5583130" cy="122065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ctrlPr>
                                <a:rPr lang="hr-HR" b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b="1" i="1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e>
                        <m:sub>
                          <m:r>
                            <a:rPr lang="hr-HR" b="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hr-HR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hr-HR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hr-HR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p>
                                    <m:sSup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d>
                                                <m:dPr>
                                                  <m:begChr m:val=""/>
                                                  <m:ctrlP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hr-HR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𝑺</m:t>
                                                  </m:r>
                                                  <m:r>
                                                    <a:rPr lang="hr-HR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  <m:sub>
                                              <m: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</m:sSup>
                                  <m:r>
                                    <a:rPr lang="hr-HR" b="0" i="0">
                                      <a:latin typeface="Cambria Math" panose="02040503050406030204" pitchFamily="18" charset="0"/>
                                    </a:rPr>
                                    <m:t>∗ </m:t>
                                  </m:r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1" i="1"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hr-HR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hr-HR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hr-HR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hr-HR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hr-HR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p>
                                    <m:sSup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d>
                                                <m:dPr>
                                                  <m:begChr m:val=""/>
                                                  <m:ctrlP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hr-HR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𝑺</m:t>
                                                  </m:r>
                                                  <m:r>
                                                    <a:rPr lang="hr-HR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hr-HR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  <m:sub>
                                              <m:r>
                                                <a:rPr lang="hr-HR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hr-HR" b="1" i="1">
                                              <a:latin typeface="Cambria Math" panose="02040503050406030204" pitchFamily="18" charset="0"/>
                                            </a:rPr>
                                            <m:t>𝑻</m:t>
                                          </m:r>
                                        </m:e>
                                        <m:sub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hr-HR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hr-HR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</m:sSup>
                                  <m:r>
                                    <a:rPr lang="hr-HR" b="0" i="0">
                                      <a:latin typeface="Cambria Math" panose="02040503050406030204" pitchFamily="18" charset="0"/>
                                    </a:rPr>
                                    <m:t>∗ </m:t>
                                  </m:r>
                                  <m:sSub>
                                    <m:sSubPr>
                                      <m:ctrlP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hr-HR" b="1" i="1"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hr-HR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hr-HR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8" name="Pravokutnik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806" y="3185890"/>
                <a:ext cx="5583130" cy="12206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Pravokutnik 8"/>
              <p:cNvSpPr/>
              <p:nvPr/>
            </p:nvSpPr>
            <p:spPr>
              <a:xfrm>
                <a:off x="2080346" y="4590517"/>
                <a:ext cx="3231975" cy="49289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hr-HR" sz="200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hr-HR" sz="20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hr-HR" sz="20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hr-HR" sz="2000" i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hr-HR" sz="2000" b="1" i="0">
                              <a:latin typeface="Cambria Math" panose="02040503050406030204" pitchFamily="18" charset="0"/>
                            </a:rPr>
                            <m:t>𝐒</m:t>
                          </m:r>
                          <m:d>
                            <m:dPr>
                              <m:ctrlPr>
                                <a:rPr lang="hr-H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func>
                      <m:r>
                        <a:rPr lang="hr-HR" sz="2000" b="0" i="0">
                          <a:latin typeface="Cambria Math" panose="02040503050406030204" pitchFamily="18" charset="0"/>
                        </a:rPr>
                        <m:t>= ?</m:t>
                      </m:r>
                      <m:r>
                        <a:rPr lang="hr-HR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hr-HR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hr-HR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hr-HR" sz="20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hr-HR" sz="200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hr-HR" sz="2000" b="1">
                              <a:latin typeface="Cambria Math" panose="02040503050406030204" pitchFamily="18" charset="0"/>
                            </a:rPr>
                            <m:t>𝐋</m:t>
                          </m:r>
                          <m:d>
                            <m:dPr>
                              <m:ctrlPr>
                                <a:rPr lang="hr-HR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hr-HR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func>
                      <m:r>
                        <a:rPr lang="hr-HR" sz="200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hr-HR" sz="2000" dirty="0"/>
              </a:p>
            </p:txBody>
          </p:sp>
        </mc:Choice>
        <mc:Fallback>
          <p:sp>
            <p:nvSpPr>
              <p:cNvPr id="9" name="Pravokutni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346" y="4590517"/>
                <a:ext cx="3231975" cy="492892"/>
              </a:xfrm>
              <a:prstGeom prst="rect">
                <a:avLst/>
              </a:prstGeom>
              <a:blipFill>
                <a:blip r:embed="rId4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Pravokutnik 9"/>
              <p:cNvSpPr/>
              <p:nvPr/>
            </p:nvSpPr>
            <p:spPr>
              <a:xfrm>
                <a:off x="2110806" y="5267381"/>
                <a:ext cx="219483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hr-HR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𝑏𝑟𝑜𝑗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𝑧𝑎𝑑𝑎𝑡𝑎𝑘𝑎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0" name="Pravokutnik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806" y="5267381"/>
                <a:ext cx="2194832" cy="369332"/>
              </a:xfrm>
              <a:prstGeom prst="rect">
                <a:avLst/>
              </a:prstGeom>
              <a:blipFill>
                <a:blip r:embed="rId5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Pravokutnik 10"/>
              <p:cNvSpPr/>
              <p:nvPr/>
            </p:nvSpPr>
            <p:spPr>
              <a:xfrm>
                <a:off x="2110806" y="5592896"/>
                <a:ext cx="222285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r-HR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hr-HR" i="1">
                          <a:latin typeface="Cambria Math" panose="02040503050406030204" pitchFamily="18" charset="0"/>
                        </a:rPr>
                        <m:t>𝑏𝑟𝑜𝑗</m:t>
                      </m:r>
                      <m:r>
                        <a:rPr lang="hr-HR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𝑠𝑡𝑢𝑑𝑒𝑛𝑎𝑡𝑎</m:t>
                      </m:r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1" name="Pravokutni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806" y="5592896"/>
                <a:ext cx="2222853" cy="369332"/>
              </a:xfrm>
              <a:prstGeom prst="rect">
                <a:avLst/>
              </a:prstGeom>
              <a:blipFill>
                <a:blip r:embed="rId6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zervirano mjesto sadržaja 2"/>
              <p:cNvSpPr txBox="1">
                <a:spLocks/>
              </p:cNvSpPr>
              <p:nvPr/>
            </p:nvSpPr>
            <p:spPr>
              <a:xfrm>
                <a:off x="7764575" y="1460680"/>
                <a:ext cx="3360625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/>
                        </m:ctrlPr>
                      </m:sSubPr>
                      <m:e>
                        <m:r>
                          <a:rPr lang="hr-HR" i="1"/>
                          <m:t>𝑓</m:t>
                        </m:r>
                      </m:e>
                      <m:sub>
                        <m:r>
                          <a:rPr lang="hr-HR" i="1"/>
                          <m:t>𝑎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>
          <p:sp>
            <p:nvSpPr>
              <p:cNvPr id="12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4575" y="1460680"/>
                <a:ext cx="3360625" cy="366532"/>
              </a:xfrm>
              <a:prstGeom prst="rect">
                <a:avLst/>
              </a:prstGeom>
              <a:blipFill>
                <a:blip r:embed="rId7"/>
                <a:stretch>
                  <a:fillRect l="-1270" t="-10000" b="-2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Pravokutnik 12"/>
              <p:cNvSpPr/>
              <p:nvPr/>
            </p:nvSpPr>
            <p:spPr>
              <a:xfrm>
                <a:off x="8268518" y="1909664"/>
                <a:ext cx="2536642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hr-H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hr-H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hr-H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hr-HR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3" name="Pravokutnik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8518" y="1909664"/>
                <a:ext cx="2536642" cy="369332"/>
              </a:xfrm>
              <a:prstGeom prst="rect">
                <a:avLst/>
              </a:prstGeom>
              <a:blipFill>
                <a:blip r:embed="rId8"/>
                <a:stretch>
                  <a:fillRect l="-719" b="-1639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kstniOkvir 14"/>
              <p:cNvSpPr txBox="1"/>
              <p:nvPr/>
            </p:nvSpPr>
            <p:spPr>
              <a:xfrm>
                <a:off x="8288808" y="2354851"/>
                <a:ext cx="3735552" cy="617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hr-H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hr-HR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begChr m:val="{"/>
                          <m:endChr m:val=""/>
                          <m:ctrlPr>
                            <a:rPr lang="hr-H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hr-HR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𝑧𝑎𝑑𝑎𝑡𝑎𝑘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𝑟𝑗𝑒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𝑎𝑣𝑎𝑛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</m:e>
                            <m:e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𝑧𝑎𝑑𝑎𝑡𝑎𝑘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𝑛𝑖𝑗𝑒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𝑟𝑗𝑒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𝑎𝑣𝑎𝑛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5" name="TekstniOkvir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8808" y="2354851"/>
                <a:ext cx="3735552" cy="617861"/>
              </a:xfrm>
              <a:prstGeom prst="rect">
                <a:avLst/>
              </a:prstGeom>
              <a:blipFill>
                <a:blip r:embed="rId9"/>
                <a:stretch>
                  <a:fillRect l="-16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zervirano mjesto sadržaja 2"/>
              <p:cNvSpPr txBox="1">
                <a:spLocks/>
              </p:cNvSpPr>
              <p:nvPr/>
            </p:nvSpPr>
            <p:spPr>
              <a:xfrm>
                <a:off x="7764575" y="3271555"/>
                <a:ext cx="4725990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/>
                        </m:ctrlPr>
                      </m:sSubPr>
                      <m:e>
                        <m:r>
                          <a:rPr lang="hr-HR" i="1"/>
                          <m:t>𝑓</m:t>
                        </m:r>
                      </m:e>
                      <m:sub>
                        <m:r>
                          <a:rPr lang="hr-H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>
          <p:sp>
            <p:nvSpPr>
              <p:cNvPr id="16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4575" y="3271555"/>
                <a:ext cx="4725990" cy="366532"/>
              </a:xfrm>
              <a:prstGeom prst="rect">
                <a:avLst/>
              </a:prstGeom>
              <a:blipFill>
                <a:blip r:embed="rId10"/>
                <a:stretch>
                  <a:fillRect l="-903" t="-10000" b="-26667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kstniOkvir 16"/>
              <p:cNvSpPr txBox="1"/>
              <p:nvPr/>
            </p:nvSpPr>
            <p:spPr>
              <a:xfrm>
                <a:off x="8288808" y="4281586"/>
                <a:ext cx="3735552" cy="617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hr-H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hr-H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hr-HR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hr-HR" b="0" i="1" smtClean="0"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begChr m:val="{"/>
                          <m:endChr m:val=""/>
                          <m:ctrlPr>
                            <a:rPr lang="hr-H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hr-HR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𝑖𝑠𝑝𝑟𝑎𝑣𝑛𝑜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𝑟𝑖𝑗𝑒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𝑒𝑛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</m:e>
                            <m:e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𝑛𝑒𝑖𝑠𝑝𝑟𝑎𝑣𝑛𝑜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𝑟𝑗𝑒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š</m:t>
                              </m:r>
                              <m:r>
                                <a:rPr lang="hr-HR" b="0" i="1" smtClean="0">
                                  <a:latin typeface="Cambria Math" panose="02040503050406030204" pitchFamily="18" charset="0"/>
                                </a:rPr>
                                <m:t>𝑒𝑛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7" name="TekstniOkvir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8808" y="4281586"/>
                <a:ext cx="3735552" cy="617861"/>
              </a:xfrm>
              <a:prstGeom prst="rect">
                <a:avLst/>
              </a:prstGeom>
              <a:blipFill>
                <a:blip r:embed="rId11"/>
                <a:stretch>
                  <a:fillRect l="-163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Pravokutnik 17"/>
              <p:cNvSpPr/>
              <p:nvPr/>
            </p:nvSpPr>
            <p:spPr>
              <a:xfrm>
                <a:off x="8288808" y="3673841"/>
                <a:ext cx="1584921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hr-H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hr-HR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hr-H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hr-HR" i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hr-HR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18" name="Pravokutnik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8808" y="3673841"/>
                <a:ext cx="1584921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086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Učenje težina (3)</a:t>
            </a:r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04B74-08D3-4235-B2EE-FA9FC8104C24}" type="slidenum">
              <a:rPr lang="hr-HR" smtClean="0"/>
              <a:pPr/>
              <a:t>9</a:t>
            </a:fld>
            <a:endParaRPr lang="hr-H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zervirano mjesto sadržaja 2"/>
              <p:cNvSpPr txBox="1">
                <a:spLocks/>
              </p:cNvSpPr>
              <p:nvPr/>
            </p:nvSpPr>
            <p:spPr>
              <a:xfrm>
                <a:off x="1577135" y="1721734"/>
                <a:ext cx="4725990" cy="366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Font typeface="Wingdings 3" charset="2"/>
                  <a:buChar char=""/>
                  <a:defRPr sz="12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hr-HR" dirty="0"/>
                  <a:t>Funkcija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r-HR" i="1"/>
                        </m:ctrlPr>
                      </m:sSubPr>
                      <m:e>
                        <m:r>
                          <a:rPr lang="hr-HR" i="1"/>
                          <m:t>𝑓</m:t>
                        </m:r>
                      </m:e>
                      <m:sub>
                        <m:r>
                          <a:rPr lang="hr-HR" i="1"/>
                          <m:t>𝑎</m:t>
                        </m:r>
                      </m:sub>
                    </m:sSub>
                  </m:oMath>
                </a14:m>
                <a:endParaRPr lang="hr-HR" dirty="0"/>
              </a:p>
            </p:txBody>
          </p:sp>
        </mc:Choice>
        <mc:Fallback>
          <p:sp>
            <p:nvSpPr>
              <p:cNvPr id="5" name="Rezervirano mjesto sadržaja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135" y="1721734"/>
                <a:ext cx="4725990" cy="366532"/>
              </a:xfrm>
              <a:prstGeom prst="rect">
                <a:avLst/>
              </a:prstGeom>
              <a:blipFill>
                <a:blip r:embed="rId2"/>
                <a:stretch>
                  <a:fillRect l="-903" t="-8197" b="-24590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Pravokutnik 6"/>
              <p:cNvSpPr/>
              <p:nvPr/>
            </p:nvSpPr>
            <p:spPr>
              <a:xfrm>
                <a:off x="2305260" y="2134716"/>
                <a:ext cx="1634870" cy="3962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hr-HR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hr-H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hr-H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hr-H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hr-HR" i="0">
                              <a:latin typeface="Cambria Math" panose="02040503050406030204" pitchFamily="18" charset="0"/>
                            </a:rPr>
                            <m:t>1−2</m:t>
                          </m:r>
                          <m:r>
                            <a:rPr lang="hr-HR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hr-HR" dirty="0"/>
              </a:p>
            </p:txBody>
          </p:sp>
        </mc:Choice>
        <mc:Fallback>
          <p:sp>
            <p:nvSpPr>
              <p:cNvPr id="7" name="Pravokutnik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260" y="2134716"/>
                <a:ext cx="1634870" cy="396262"/>
              </a:xfrm>
              <a:prstGeom prst="rect">
                <a:avLst/>
              </a:prstGeom>
              <a:blipFill>
                <a:blip r:embed="rId3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Slika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395" y="1721734"/>
            <a:ext cx="4887936" cy="316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528832"/>
      </p:ext>
    </p:extLst>
  </p:cSld>
  <p:clrMapOvr>
    <a:masterClrMapping/>
  </p:clrMapOvr>
</p:sld>
</file>

<file path=ppt/theme/theme1.xml><?xml version="1.0" encoding="utf-8"?>
<a:theme xmlns:a="http://schemas.openxmlformats.org/drawingml/2006/main" name="Pramen">
  <a:themeElements>
    <a:clrScheme name="Pram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Pram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ram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235</TotalTime>
  <Words>742</Words>
  <Application>Microsoft Office PowerPoint</Application>
  <PresentationFormat>Široki zaslon</PresentationFormat>
  <Paragraphs>84</Paragraphs>
  <Slides>9</Slides>
  <Notes>5</Notes>
  <HiddenSlides>0</HiddenSlides>
  <MMClips>0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9</vt:i4>
      </vt:variant>
    </vt:vector>
  </HeadingPairs>
  <TitlesOfParts>
    <vt:vector size="15" baseType="lpstr">
      <vt:lpstr>Arial</vt:lpstr>
      <vt:lpstr>Calibri</vt:lpstr>
      <vt:lpstr>Cambria Math</vt:lpstr>
      <vt:lpstr>Century Gothic</vt:lpstr>
      <vt:lpstr>Wingdings 3</vt:lpstr>
      <vt:lpstr>Pramen</vt:lpstr>
      <vt:lpstr>Izrada aplikacije za analitiku i predviđanje rezultata učenja temeljene na inteligentnim algoritmima</vt:lpstr>
      <vt:lpstr>Sadržaj obrane</vt:lpstr>
      <vt:lpstr>Apstraktni pregled</vt:lpstr>
      <vt:lpstr>Lekcije </vt:lpstr>
      <vt:lpstr>Aplikacija</vt:lpstr>
      <vt:lpstr>TEMP</vt:lpstr>
      <vt:lpstr>Učenje težina </vt:lpstr>
      <vt:lpstr>Učenje težina (2)</vt:lpstr>
      <vt:lpstr>Učenje težina (3)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Izrada aplikacije za analitiku i predviđanje rezultata učenja temeljene na inteligentnim algoritmima</dc:title>
  <dc:creator>Roko Krstulovic</dc:creator>
  <cp:lastModifiedBy>Roko Krstulovic</cp:lastModifiedBy>
  <cp:revision>20</cp:revision>
  <dcterms:created xsi:type="dcterms:W3CDTF">2017-07-09T12:11:58Z</dcterms:created>
  <dcterms:modified xsi:type="dcterms:W3CDTF">2017-07-09T16:07:09Z</dcterms:modified>
</cp:coreProperties>
</file>