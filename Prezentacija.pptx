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17"/>
  </p:notesMasterIdLst>
  <p:handoutMasterIdLst>
    <p:handoutMasterId r:id="rId18"/>
  </p:handoutMasterIdLst>
  <p:sldIdLst>
    <p:sldId id="256" r:id="rId2"/>
    <p:sldId id="257" r:id="rId3"/>
    <p:sldId id="258" r:id="rId4"/>
    <p:sldId id="259" r:id="rId5"/>
    <p:sldId id="260" r:id="rId6"/>
    <p:sldId id="262" r:id="rId7"/>
    <p:sldId id="263" r:id="rId8"/>
    <p:sldId id="264" r:id="rId9"/>
    <p:sldId id="265" r:id="rId10"/>
    <p:sldId id="266" r:id="rId11"/>
    <p:sldId id="267" r:id="rId12"/>
    <p:sldId id="268" r:id="rId13"/>
    <p:sldId id="269" r:id="rId14"/>
    <p:sldId id="270" r:id="rId15"/>
    <p:sldId id="271"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rednji stil 2 - Isticanj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77300" autoAdjust="0"/>
  </p:normalViewPr>
  <p:slideViewPr>
    <p:cSldViewPr snapToGrid="0">
      <p:cViewPr varScale="1">
        <p:scale>
          <a:sx n="70" d="100"/>
          <a:sy n="70" d="100"/>
        </p:scale>
        <p:origin x="774" y="54"/>
      </p:cViewPr>
      <p:guideLst/>
    </p:cSldViewPr>
  </p:slideViewPr>
  <p:notesTextViewPr>
    <p:cViewPr>
      <p:scale>
        <a:sx n="1" d="1"/>
        <a:sy n="1" d="1"/>
      </p:scale>
      <p:origin x="0" y="0"/>
    </p:cViewPr>
  </p:notesTextViewPr>
  <p:notesViewPr>
    <p:cSldViewPr snapToGrid="0">
      <p:cViewPr varScale="1">
        <p:scale>
          <a:sx n="69" d="100"/>
          <a:sy n="69" d="100"/>
        </p:scale>
        <p:origin x="3264" y="5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zervirano mjesto zaglavlj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r-HR"/>
          </a:p>
        </p:txBody>
      </p:sp>
      <p:sp>
        <p:nvSpPr>
          <p:cNvPr id="3" name="Rezervirano mjesto datum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746A12B-06E1-47C6-A125-3FB910654273}" type="datetimeFigureOut">
              <a:rPr lang="hr-HR" smtClean="0"/>
              <a:t>10.7.2017.</a:t>
            </a:fld>
            <a:endParaRPr lang="hr-HR"/>
          </a:p>
        </p:txBody>
      </p:sp>
      <p:sp>
        <p:nvSpPr>
          <p:cNvPr id="4" name="Rezervirano mjesto podnožj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hr-HR"/>
          </a:p>
        </p:txBody>
      </p:sp>
      <p:sp>
        <p:nvSpPr>
          <p:cNvPr id="5" name="Rezervirano mjesto broja slajda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44F5421-EB5A-4BDF-9068-22A3D693F639}" type="slidenum">
              <a:rPr lang="hr-HR" smtClean="0"/>
              <a:t>‹#›</a:t>
            </a:fld>
            <a:endParaRPr lang="hr-HR"/>
          </a:p>
        </p:txBody>
      </p:sp>
    </p:spTree>
    <p:extLst>
      <p:ext uri="{BB962C8B-B14F-4D97-AF65-F5344CB8AC3E}">
        <p14:creationId xmlns:p14="http://schemas.microsoft.com/office/powerpoint/2010/main" val="23652526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zervirano mjesto zaglavlj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r-HR"/>
          </a:p>
        </p:txBody>
      </p:sp>
      <p:sp>
        <p:nvSpPr>
          <p:cNvPr id="3" name="Rezervirano mjesto datum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09DF9-2331-40B1-8AF0-8418F3307473}" type="datetimeFigureOut">
              <a:rPr lang="hr-HR" smtClean="0"/>
              <a:t>10.7.2017.</a:t>
            </a:fld>
            <a:endParaRPr lang="hr-HR"/>
          </a:p>
        </p:txBody>
      </p:sp>
      <p:sp>
        <p:nvSpPr>
          <p:cNvPr id="4" name="Rezervirano mjesto slike slajd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r-HR"/>
          </a:p>
        </p:txBody>
      </p:sp>
      <p:sp>
        <p:nvSpPr>
          <p:cNvPr id="5" name="Rezervirano mjesto bilježaka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hr-HR"/>
              <a:t>Uredite stilove teksta matrice</a:t>
            </a:r>
          </a:p>
          <a:p>
            <a:pPr lvl="1"/>
            <a:r>
              <a:rPr lang="hr-HR"/>
              <a:t>Druga razina</a:t>
            </a:r>
          </a:p>
          <a:p>
            <a:pPr lvl="2"/>
            <a:r>
              <a:rPr lang="hr-HR"/>
              <a:t>Treća razina</a:t>
            </a:r>
          </a:p>
          <a:p>
            <a:pPr lvl="3"/>
            <a:r>
              <a:rPr lang="hr-HR"/>
              <a:t>Četvrta razina</a:t>
            </a:r>
          </a:p>
          <a:p>
            <a:pPr lvl="4"/>
            <a:r>
              <a:rPr lang="hr-HR"/>
              <a:t>Peta razina</a:t>
            </a:r>
          </a:p>
        </p:txBody>
      </p:sp>
      <p:sp>
        <p:nvSpPr>
          <p:cNvPr id="6" name="Rezervirano mjesto podnožj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r-HR"/>
          </a:p>
        </p:txBody>
      </p:sp>
      <p:sp>
        <p:nvSpPr>
          <p:cNvPr id="7" name="Rezervirano mjesto broja slajd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116CC2-0CB1-4D77-989D-B367874660F1}" type="slidenum">
              <a:rPr lang="hr-HR" smtClean="0"/>
              <a:t>‹#›</a:t>
            </a:fld>
            <a:endParaRPr lang="hr-HR"/>
          </a:p>
        </p:txBody>
      </p:sp>
    </p:spTree>
    <p:extLst>
      <p:ext uri="{BB962C8B-B14F-4D97-AF65-F5344CB8AC3E}">
        <p14:creationId xmlns:p14="http://schemas.microsoft.com/office/powerpoint/2010/main" val="2875112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Dobar dan!</a:t>
            </a:r>
            <a:r>
              <a:rPr lang="hr-HR" baseline="0" dirty="0"/>
              <a:t> Ja sam Roko Krstulović. Tema mog diplomskog rada prikazana je na slajdu: Izrada aplikacije za analitiku i predviđanje rezultata </a:t>
            </a:r>
            <a:r>
              <a:rPr lang="hr-HR" baseline="0" dirty="0" err="1"/>
              <a:t>ućenja</a:t>
            </a:r>
            <a:r>
              <a:rPr lang="hr-HR" baseline="0" dirty="0"/>
              <a:t> temeljene na inteligentnim algoritmima</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1</a:t>
            </a:fld>
            <a:endParaRPr lang="hr-HR"/>
          </a:p>
        </p:txBody>
      </p:sp>
    </p:spTree>
    <p:extLst>
      <p:ext uri="{BB962C8B-B14F-4D97-AF65-F5344CB8AC3E}">
        <p14:creationId xmlns:p14="http://schemas.microsoft.com/office/powerpoint/2010/main" val="32368429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Ovako će</a:t>
            </a:r>
            <a:r>
              <a:rPr lang="hr-HR" baseline="0" dirty="0"/>
              <a:t> izgledati moja obrana diplomskog. Prvo ću proći kroz pozadinu  i širi kontekst aplikacije, zatim pokazati arhitekturu aplikacije . Potom ću proći kroz korištene algoritme, pokazati vizualizacije rezultata, malo komentirati rezultate i doći do trenutka kad ću odgovarati na pitanja. Najviše pažnje posvetiti ćemo algoritmima, konkretno algoritmu iterativne metode konvergencije koji je srž ovog rada.</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2</a:t>
            </a:fld>
            <a:endParaRPr lang="hr-HR"/>
          </a:p>
        </p:txBody>
      </p:sp>
    </p:spTree>
    <p:extLst>
      <p:ext uri="{BB962C8B-B14F-4D97-AF65-F5344CB8AC3E}">
        <p14:creationId xmlns:p14="http://schemas.microsoft.com/office/powerpoint/2010/main" val="1290573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err="1"/>
              <a:t>Author</a:t>
            </a:r>
            <a:r>
              <a:rPr lang="hr-HR" baseline="0" dirty="0"/>
              <a:t> je web aplikacija koja omogućuje kreiranje virtualnih lekcija za učenje izgradnjom slajdova koje se izvršavaju na mobilnim uređajima ili </a:t>
            </a:r>
            <a:r>
              <a:rPr lang="hr-HR" baseline="0" dirty="0" err="1"/>
              <a:t>tabletima</a:t>
            </a:r>
            <a:r>
              <a:rPr lang="hr-HR" baseline="0" dirty="0"/>
              <a:t>. Konkretno, učitelj ili bilo koja druga osoba može kreirati lekciju,  na primjer matematičku lekciju u kojoj učenici trebaju zbrojiti dva broja, poput slike koja je prikazana. Lekcije koje se izrade, daju se učenicima da ih rješavaju u školama. Za razliku od klasičnih zadataka za vježbu u ovakvim se vježbama može, uz dobro </a:t>
            </a:r>
            <a:r>
              <a:rPr lang="hr-HR" baseline="0" dirty="0" err="1"/>
              <a:t>logiranje</a:t>
            </a:r>
            <a:r>
              <a:rPr lang="hr-HR" baseline="0" dirty="0"/>
              <a:t>, dobiti mnogo više informacija, konkretno svaki se korak učenika može pratiti, što omogućuje novi pogled na analizu podataka. Rješavanjem zadataka generira se velika količina podataka koje  se uz dobru analizu može pretvoriti u korisne podatke. Konkretno, ovim se radom učiteljima omogućuje prikaz profila jednog ili više studenata na istom grafu i vizualni prikaz napretka (odnosno pogoršanja) učenikove uspješnosti nad zadacima. Analiza zabilješki je dio kojeg ovaj rad obuhvaća.</a:t>
            </a:r>
            <a:endParaRPr lang="hr-HR" dirty="0"/>
          </a:p>
          <a:p>
            <a:r>
              <a:rPr lang="hr-HR" dirty="0"/>
              <a:t>Ovdje</a:t>
            </a:r>
            <a:r>
              <a:rPr lang="hr-HR" baseline="0" dirty="0"/>
              <a:t> se stavi aplikacija (sustav) u širi pogled. Prvo je potrebno napraviti lekcije u </a:t>
            </a:r>
            <a:r>
              <a:rPr lang="hr-HR" baseline="0" dirty="0" err="1"/>
              <a:t>Authoru</a:t>
            </a:r>
            <a:r>
              <a:rPr lang="hr-HR" baseline="0" dirty="0"/>
              <a:t>, u obliku </a:t>
            </a:r>
            <a:r>
              <a:rPr lang="hr-HR" baseline="0" dirty="0" err="1"/>
              <a:t>powerpoint</a:t>
            </a:r>
            <a:r>
              <a:rPr lang="hr-HR" baseline="0" dirty="0"/>
              <a:t> prezentacija. Zatim se lekcije daju učenicima u razredu u školama. Dobivaju se podaci, </a:t>
            </a:r>
            <a:r>
              <a:rPr lang="hr-HR" baseline="0" dirty="0" err="1"/>
              <a:t>puunp</a:t>
            </a:r>
            <a:r>
              <a:rPr lang="hr-HR" baseline="0" dirty="0"/>
              <a:t> podataka u obliku logova. Logovi se obrađuju aplikacijom i oni generiraju vizualni prikaz logova.</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3</a:t>
            </a:fld>
            <a:endParaRPr lang="hr-HR"/>
          </a:p>
        </p:txBody>
      </p:sp>
    </p:spTree>
    <p:extLst>
      <p:ext uri="{BB962C8B-B14F-4D97-AF65-F5344CB8AC3E}">
        <p14:creationId xmlns:p14="http://schemas.microsoft.com/office/powerpoint/2010/main" val="28465091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Prije nego što krenemo na samu aplikaciju, pogledajmo još</a:t>
            </a:r>
            <a:r>
              <a:rPr lang="hr-HR" baseline="0" dirty="0"/>
              <a:t> vrste lekcija koje su korištene. Po tipu, lekcije se mogu razvrstati na: kompetitivne  lekcije, lekcije u kojima se učenici natječu u rješavanju zadataka, kolaborativne lekcije, lekcije koje zahtijevaju da reda kroz grupe i konačno lekcije proširene stvarnosti u kojima se na malo drugačiji način traži od učenika da rješavaju zadatke. Bilo bi zanimljivo vidjeti postoji li korelacija među tipovima lekcija i sa pozadinskim podacima učenika poput akademskog uspjeha, poticaja obitelji, radnih navika i drugih. </a:t>
            </a:r>
          </a:p>
          <a:p>
            <a:r>
              <a:rPr lang="hr-HR" baseline="0" dirty="0"/>
              <a:t>Svaka od </a:t>
            </a:r>
            <a:r>
              <a:rPr lang="hr-HR" b="0" baseline="0" dirty="0"/>
              <a:t>lekcija generira zabilješke posebnog tipa. One su sve pohranjene na serveru u bazi podataka u JSON obliku. Evo primjer jedne zabilješke</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4</a:t>
            </a:fld>
            <a:endParaRPr lang="hr-HR"/>
          </a:p>
        </p:txBody>
      </p:sp>
    </p:spTree>
    <p:extLst>
      <p:ext uri="{BB962C8B-B14F-4D97-AF65-F5344CB8AC3E}">
        <p14:creationId xmlns:p14="http://schemas.microsoft.com/office/powerpoint/2010/main" val="12013637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Ovako</a:t>
            </a:r>
            <a:r>
              <a:rPr lang="hr-HR" baseline="0" dirty="0"/>
              <a:t> izgleda apstraktni pogled na sustav, a zaokružena </a:t>
            </a:r>
            <a:r>
              <a:rPr lang="hr-HR" baseline="0" dirty="0" err="1"/>
              <a:t>strecila</a:t>
            </a:r>
            <a:r>
              <a:rPr lang="hr-HR" baseline="0" dirty="0"/>
              <a:t> predstavljala aplikaciju. Pogledajmo arhitekturu aplikacije. Kao što sam već rekao, zabilješke se nalaze na serveru, te ih aplikacija prvo preuzima, potom ih pred-obrađuje. Nakon toga slijedi obrada podataka koja kao rezultat daje vizualni prikaz podataka. U ovoj ću se prezentaciji koncentrirati na obradu podataka jer je ona srž ovog rada. Postoje dvije vrste obrade podataka, učenje težina zadataka, i evaluacija učenika. Pod učenje težina smatra se dodjeljivanje realnog broja zadacima koji predstavlja težinu, ili </a:t>
            </a:r>
            <a:r>
              <a:rPr lang="hr-HR" baseline="0" dirty="0" err="1"/>
              <a:t>lakoču</a:t>
            </a:r>
            <a:r>
              <a:rPr lang="hr-HR" baseline="0" dirty="0"/>
              <a:t> zadatka i na taj </a:t>
            </a:r>
            <a:r>
              <a:rPr lang="hr-HR" baseline="0" dirty="0" err="1"/>
              <a:t>naćin</a:t>
            </a:r>
            <a:r>
              <a:rPr lang="hr-HR" baseline="0" dirty="0"/>
              <a:t> omogućuje nekonvencionalno ocjenjivanje učenika. Više o tome će biti na sljedećem slajdu. Pod evaluacijom učenika smatra se dodjeljivanje realnog broja učeniku koji predstavlja uspješnost ili dobrotu učenika u rješavanju lekcija. Kao što ćemo vidjeti, evaluacija učenika jedio učenja težina.</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5</a:t>
            </a:fld>
            <a:endParaRPr lang="hr-HR"/>
          </a:p>
        </p:txBody>
      </p:sp>
    </p:spTree>
    <p:extLst>
      <p:ext uri="{BB962C8B-B14F-4D97-AF65-F5344CB8AC3E}">
        <p14:creationId xmlns:p14="http://schemas.microsoft.com/office/powerpoint/2010/main" val="40177847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Algoritam</a:t>
            </a:r>
            <a:r>
              <a:rPr lang="hr-HR" baseline="0" dirty="0"/>
              <a:t> korišten za učenje težina zadataka naziva se iterativna metoda konvergencije. Na njemu ću potrošiti najviše vremena. Težine zadatka opisuju se brojem iz raspona [0,1]. Broj jedan znači jako lagan zadatak, odnosno riješenost mu je stopostotna, dok vrijednost 0 znači da  je jako težak i da mu je riješenost 0%. 0.5 bi bilo srednje težak zadatak. </a:t>
            </a:r>
          </a:p>
          <a:p>
            <a:r>
              <a:rPr lang="hr-HR" baseline="0" dirty="0"/>
              <a:t>Težine zadataka ovise o riješenosti istih i o dobrotama učenika koji su ih rješavali. </a:t>
            </a:r>
            <a:r>
              <a:rPr lang="hr-HR" baseline="0" dirty="0"/>
              <a:t>Konkretno, ako zadatak riješe svi učenici, čak i oni koji imaju problema s drugim zadacima, to bi značilo da je taj zadatak jednostavan. </a:t>
            </a:r>
            <a:r>
              <a:rPr lang="hr-HR" baseline="0" dirty="0"/>
              <a:t>Bitno je naglasiti, da nije nužno da svaki učenik rješava svaki zadatak. Kad bi to bio slučaj, onda ne bi bio problem usporediti težine zadataka. U slučaju kad iste zadatke ne rješavaju isti učenici, proces je malo kompleksniji, bez uvođenja pretpostavki poput da su svi učenici jednako dobri li normalnu ili </a:t>
            </a:r>
            <a:r>
              <a:rPr lang="hr-HR" baseline="0" dirty="0" err="1"/>
              <a:t>gausovu</a:t>
            </a:r>
            <a:r>
              <a:rPr lang="hr-HR" baseline="0" dirty="0"/>
              <a:t> distribuciju dobrota učenika. Znači ustanovili smo da težine zadataka ovise o dobrotama učenika, no postoji i ovisnost dobrote učenika o zadacima. Dva učenika koji su riješili isti broj zadataka ne trebaju nužno imati jednake dobrote. Time smo dobili cikličku ovisnost. </a:t>
            </a:r>
          </a:p>
          <a:p>
            <a:r>
              <a:rPr lang="hr-HR" baseline="0" dirty="0"/>
              <a:t>Cikličku ovisnost </a:t>
            </a:r>
            <a:r>
              <a:rPr lang="hr-HR" baseline="0" dirty="0" err="1"/>
              <a:t>riješavamo</a:t>
            </a:r>
            <a:r>
              <a:rPr lang="hr-HR" baseline="0" dirty="0"/>
              <a:t> </a:t>
            </a:r>
            <a:r>
              <a:rPr lang="hr-HR" baseline="0" dirty="0" err="1"/>
              <a:t>tkz</a:t>
            </a:r>
            <a:r>
              <a:rPr lang="hr-HR" baseline="0" dirty="0"/>
              <a:t>. metodom iterativne konvergencije u kojoj prvo pretpostavimo da su težine lekcija jednake i izračunamo dobrote učenika. Nato, iz dobivenih dobrota izračunamo težine zadataka, pa ponovno, nakon toga izračunamo dobrote učenika i tako dalje sve dok se vrijednosti ne prestanu mijenjati. U tom smo trenutku dobili vrijednosti dobrota učenika i težina lekcija koje zadovoljavaju ovu cikličku ovisnost. Valjda dodatno naglasiti da su dobrote učenika također iz raspona 0, 1 u kojem 1 je učenik koji sve rješava. </a:t>
            </a:r>
          </a:p>
          <a:p>
            <a:r>
              <a:rPr lang="hr-HR" baseline="0" dirty="0"/>
              <a:t>Da bi napisali matematičku formulu funkcija ovisnosti potrebno je još definirati dvije matrice, matricu T koja govori je li učenik rješavao zadatak i ako je, je ispravno riješio. Pogledajmo, -1 ako je krivo riješio, 0 ako nije uopće rješavao i 1 ako je uspješno riješio. </a:t>
            </a:r>
          </a:p>
          <a:p>
            <a:r>
              <a:rPr lang="hr-HR" baseline="0" dirty="0"/>
              <a:t>Preciznost riješenosti. </a:t>
            </a:r>
            <a:r>
              <a:rPr lang="hr-HR" baseline="0" dirty="0" err="1"/>
              <a:t>Vrijednsti</a:t>
            </a:r>
            <a:r>
              <a:rPr lang="hr-HR" baseline="0" dirty="0"/>
              <a:t> </a:t>
            </a:r>
            <a:r>
              <a:rPr lang="hr-HR" baseline="0" dirty="0" err="1"/>
              <a:t>Pi,j</a:t>
            </a:r>
            <a:r>
              <a:rPr lang="hr-HR" baseline="0" dirty="0"/>
              <a:t> su iz raspona 0, 1 gdje je 0 slaba preciznost, a 1 odlična preciznost. Preciznost se računa na temelju vremena rješavanja i broja pokušaja.</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6</a:t>
            </a:fld>
            <a:endParaRPr lang="hr-HR"/>
          </a:p>
        </p:txBody>
      </p:sp>
    </p:spTree>
    <p:extLst>
      <p:ext uri="{BB962C8B-B14F-4D97-AF65-F5344CB8AC3E}">
        <p14:creationId xmlns:p14="http://schemas.microsoft.com/office/powerpoint/2010/main" val="34298617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S definiranim</a:t>
            </a:r>
            <a:r>
              <a:rPr lang="hr-HR" baseline="0" dirty="0"/>
              <a:t> matricama možemo napisati izraz po kojem se računaju dobrote učenika i težine lekcija. Izgleda kompleksno ali ustvari je vrlo jednostavno i interesantno. Pogledajmo prvi izraz, izraz za računanje dobrote učenika. Sume govore da prolazimo za svaku od lekcija, te na temelju svake od lekcija brojnik i nazivnik povećavamo za pozitivan broj ili nula. To se isto radi i na običnim ispitima. Nazivnik je suma bodova, a brojnik suma postignutih. Funkcija fa iz vrijednosti matrice vraća 1 ako je zadatak rješavan, a inače 0. Sjetimo se, T će poprimiti vrijednost 1 ako je točno riješen a -1 ako je krivo riješen. Funkcija ft vraća vrijednost 1 ako je točno riješen inače 0 i koristi se samo u brojniku. S ovim dosad, imamo sve što se koristi u klasičnim ispitima. Preskočimo na trenutak </a:t>
            </a:r>
            <a:r>
              <a:rPr lang="hr-HR" baseline="0" dirty="0" err="1"/>
              <a:t>fp</a:t>
            </a:r>
            <a:r>
              <a:rPr lang="hr-HR" baseline="0" dirty="0"/>
              <a:t>. Cijeli se rezultat množi sa preciznošću koja poprima vrijednosti od 0 do 1. Preostaje nam objasniti još </a:t>
            </a:r>
            <a:r>
              <a:rPr lang="hr-HR" baseline="0" dirty="0" err="1"/>
              <a:t>funckiju</a:t>
            </a:r>
            <a:r>
              <a:rPr lang="hr-HR" baseline="0" dirty="0"/>
              <a:t> </a:t>
            </a:r>
            <a:r>
              <a:rPr lang="hr-HR" baseline="0" dirty="0" err="1"/>
              <a:t>fp</a:t>
            </a:r>
            <a:r>
              <a:rPr lang="hr-HR" baseline="0" dirty="0"/>
              <a:t>. Ona se kasnije potencira s vrijednosti iz matrice T, a sjetimo se, T može imati vrijednosti -1 i 1 ovisno o točnosti rješavanja.</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7</a:t>
            </a:fld>
            <a:endParaRPr lang="hr-HR"/>
          </a:p>
        </p:txBody>
      </p:sp>
    </p:spTree>
    <p:extLst>
      <p:ext uri="{BB962C8B-B14F-4D97-AF65-F5344CB8AC3E}">
        <p14:creationId xmlns:p14="http://schemas.microsoft.com/office/powerpoint/2010/main" val="36034057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Prikazan</a:t>
            </a:r>
            <a:r>
              <a:rPr lang="hr-HR" baseline="0" dirty="0"/>
              <a:t>a je formula </a:t>
            </a:r>
            <a:r>
              <a:rPr lang="hr-HR" baseline="0" dirty="0" err="1"/>
              <a:t>funckije</a:t>
            </a:r>
            <a:r>
              <a:rPr lang="hr-HR" baseline="0" dirty="0"/>
              <a:t> </a:t>
            </a:r>
            <a:r>
              <a:rPr lang="hr-HR" baseline="0" dirty="0" err="1"/>
              <a:t>fp</a:t>
            </a:r>
            <a:r>
              <a:rPr lang="hr-HR" baseline="0" dirty="0"/>
              <a:t> i njen </a:t>
            </a:r>
            <a:r>
              <a:rPr lang="hr-HR" baseline="0" dirty="0" err="1"/>
              <a:t>pripadajuć</a:t>
            </a:r>
            <a:r>
              <a:rPr lang="hr-HR" baseline="0" dirty="0"/>
              <a:t> graf. Ovom se funkcijom želi postići da se točna riješenost težeg zadatka nagradi a pogreška istog smanji. Prikazane su  vrijednosti funkcije za karakteristične vrijednosti. Za najteži zadatak, učenik se nagrađuje s k bodova, za osrednje težak, s jednim bodom dok se za lagan zadatak nagrađuje sa samo k na minus prvu bodova. Potenciranjem tih vrijednosti s -1 se dobiva broj bodova s kojim se kažnjava krivo rješavanje zadatka. Konkretno, za težak zadatak učenik gubi k na minus prvu bodova, za osrednje težak gubi 1 bod dok za lagan zadatak gubi k bodova. </a:t>
            </a:r>
          </a:p>
          <a:p>
            <a:r>
              <a:rPr lang="hr-HR" baseline="0" dirty="0"/>
              <a:t>S time smo definirali izraz za računanje dobrota učenika temelju težina zadataka. </a:t>
            </a:r>
          </a:p>
          <a:p>
            <a:r>
              <a:rPr lang="hr-HR" baseline="0" dirty="0"/>
              <a:t>Pokazuje se da se težine zadatak na jednak način računaju.  </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8</a:t>
            </a:fld>
            <a:endParaRPr lang="hr-HR"/>
          </a:p>
        </p:txBody>
      </p:sp>
    </p:spTree>
    <p:extLst>
      <p:ext uri="{BB962C8B-B14F-4D97-AF65-F5344CB8AC3E}">
        <p14:creationId xmlns:p14="http://schemas.microsoft.com/office/powerpoint/2010/main" val="34637206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Najteže</a:t>
            </a:r>
            <a:r>
              <a:rPr lang="hr-HR" baseline="0" dirty="0"/>
              <a:t> smo prošli, ovo je zadnji slajd što se tiče računanje težina. </a:t>
            </a:r>
          </a:p>
          <a:p>
            <a:r>
              <a:rPr lang="hr-HR" baseline="0" dirty="0"/>
              <a:t>Kod algoritma o konvergenciji učenika, dobro bi bilo postaviti pitanje, hoće li sustav izkonvergirati, te konvergira li uvijek u iste vrijednosti. Odgovor je da i ne. Da na prvo pitanje, a ne na drugo.  Da objasnim, pokazalo se da će sustav uvijek izkonvergirati ali rezultat u koji će izkonvergirati ovisi o početnim vrijednostima. Za primjer, ako 2 zadatka rješavaju 2 učenika i oba su ih riješili. Sustav bi mogao reći da su zadaci lagani ili da su učenici dobri. Ovaj se može riješiti postavljanjem početnih vrijednosti pretpostavci (npr. učenici su dobri) ili zaustavljanjem nakon određenog broja iteracija čime bi postigli da se rezultat ne promijeni mnogo nego što bi bio kad bi težine zadatak bile jednake. U ovoj se aplikaciji koristila prva opcija. </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9</a:t>
            </a:fld>
            <a:endParaRPr lang="hr-HR"/>
          </a:p>
        </p:txBody>
      </p:sp>
    </p:spTree>
    <p:extLst>
      <p:ext uri="{BB962C8B-B14F-4D97-AF65-F5344CB8AC3E}">
        <p14:creationId xmlns:p14="http://schemas.microsoft.com/office/powerpoint/2010/main" val="10937396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Gotovi smo s učenjem težina.</a:t>
            </a:r>
            <a:r>
              <a:rPr lang="hr-HR" baseline="0" dirty="0"/>
              <a:t> Jednom kad imamo težine zadataka, dobrote učenika se sada i u budućnosti računaju s već prikazanim izrazom.</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10</a:t>
            </a:fld>
            <a:endParaRPr lang="hr-HR"/>
          </a:p>
        </p:txBody>
      </p:sp>
    </p:spTree>
    <p:extLst>
      <p:ext uri="{BB962C8B-B14F-4D97-AF65-F5344CB8AC3E}">
        <p14:creationId xmlns:p14="http://schemas.microsoft.com/office/powerpoint/2010/main" val="11109052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Vizualizacija</a:t>
            </a:r>
            <a:r>
              <a:rPr lang="hr-HR" baseline="0" dirty="0"/>
              <a:t> profila učenika prikazani su na slici. Na prvoj je slici jedan učenik kojemu dobro idu zadaci proširene stvarnosti dok mu kompetitivni baš i ne idu.  Na drugoj je slici prikaz isti učenik ali uspoređen s drugim učenicima. Ovakva vizualizacija na vrlo jednostavan način prikazuje kompetencije učenika što, recimo, može jako dobro poslužiti učiteljima na zamjeni. </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11</a:t>
            </a:fld>
            <a:endParaRPr lang="hr-HR"/>
          </a:p>
        </p:txBody>
      </p:sp>
    </p:spTree>
    <p:extLst>
      <p:ext uri="{BB962C8B-B14F-4D97-AF65-F5344CB8AC3E}">
        <p14:creationId xmlns:p14="http://schemas.microsoft.com/office/powerpoint/2010/main" val="1398697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err="1"/>
              <a:t>Ajmo</a:t>
            </a:r>
            <a:r>
              <a:rPr lang="hr-HR" baseline="0" dirty="0"/>
              <a:t> još na brzinu predikciju proći. Nakon što imamo rezultate učenika po datumima, uz pretpostavku da su rješavali zadatke sličnog tipa možemo pretpostaviti da će učenici napredovati u dobroti. Kroz dobivene točke u 2D plohi (bit će prikazano na sljedećem slajdu) provlači se krivulja </a:t>
            </a:r>
            <a:r>
              <a:rPr lang="hr-HR" baseline="0" dirty="0" err="1"/>
              <a:t>Stanford</a:t>
            </a:r>
            <a:r>
              <a:rPr lang="hr-HR" baseline="0" dirty="0"/>
              <a:t>-B modela koja ih najbolje aproksimira. Algoritam uči parametre iskustva, vrijeme rješavanja prvog zadatka i stopu učenja. </a:t>
            </a:r>
            <a:r>
              <a:rPr lang="hr-HR" baseline="0" dirty="0" err="1"/>
              <a:t>Gradijednti</a:t>
            </a:r>
            <a:r>
              <a:rPr lang="hr-HR" baseline="0" dirty="0"/>
              <a:t> spust je optimizacijski algoritam koji iz familije svih </a:t>
            </a:r>
            <a:r>
              <a:rPr lang="hr-HR" baseline="0" dirty="0" err="1"/>
              <a:t>funckija</a:t>
            </a:r>
            <a:r>
              <a:rPr lang="hr-HR" baseline="0" dirty="0"/>
              <a:t> pronalazi onu koja najbolje aproksimira krivulju.</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12</a:t>
            </a:fld>
            <a:endParaRPr lang="hr-HR"/>
          </a:p>
        </p:txBody>
      </p:sp>
    </p:spTree>
    <p:extLst>
      <p:ext uri="{BB962C8B-B14F-4D97-AF65-F5344CB8AC3E}">
        <p14:creationId xmlns:p14="http://schemas.microsoft.com/office/powerpoint/2010/main" val="15619456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Na slic</a:t>
            </a:r>
            <a:r>
              <a:rPr lang="hr-HR" baseline="0" dirty="0"/>
              <a:t>i prikazani rezultati jednog učenika. Prvi put je imao uspješnost negdje 72%, zatim 85%, pa 87%, pa 87%. Također, prikazana je krivulja koja najbolje aproksimira te točke i ona predviđa da će u sljedećem pokušaju učenik riješiti oko 90%.</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13</a:t>
            </a:fld>
            <a:endParaRPr lang="hr-HR"/>
          </a:p>
        </p:txBody>
      </p:sp>
    </p:spTree>
    <p:extLst>
      <p:ext uri="{BB962C8B-B14F-4D97-AF65-F5344CB8AC3E}">
        <p14:creationId xmlns:p14="http://schemas.microsoft.com/office/powerpoint/2010/main" val="35563615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dirty="0"/>
              <a:t>Iz</a:t>
            </a:r>
            <a:r>
              <a:rPr lang="hr-HR" baseline="0" dirty="0"/>
              <a:t> sakupljenih rezultata došli smo do sljedećih zaključaka. </a:t>
            </a:r>
          </a:p>
          <a:p>
            <a:r>
              <a:rPr lang="hr-HR" baseline="0" dirty="0"/>
              <a:t>Nema korelacije između pozadine učenika  poput akademske uspješnosti s rezultatima nad virtualnim lekcijama</a:t>
            </a:r>
          </a:p>
          <a:p>
            <a:r>
              <a:rPr lang="hr-HR" dirty="0"/>
              <a:t>Postoji negativna korelacija između</a:t>
            </a:r>
            <a:r>
              <a:rPr lang="hr-HR" baseline="0" dirty="0"/>
              <a:t> kompetitivnih i kolaborativnih lekcija</a:t>
            </a:r>
          </a:p>
          <a:p>
            <a:r>
              <a:rPr lang="hr-HR" baseline="0" dirty="0"/>
              <a:t>Postoji pozitivna korelacija među kompetitivnim lekcijama i lekcijama proširene stvarnosti</a:t>
            </a:r>
            <a:endParaRPr lang="hr-HR" dirty="0"/>
          </a:p>
        </p:txBody>
      </p:sp>
      <p:sp>
        <p:nvSpPr>
          <p:cNvPr id="4" name="Rezervirano mjesto broja slajda 3"/>
          <p:cNvSpPr>
            <a:spLocks noGrp="1"/>
          </p:cNvSpPr>
          <p:nvPr>
            <p:ph type="sldNum" sz="quarter" idx="10"/>
          </p:nvPr>
        </p:nvSpPr>
        <p:spPr/>
        <p:txBody>
          <a:bodyPr/>
          <a:lstStyle/>
          <a:p>
            <a:fld id="{51116CC2-0CB1-4D77-989D-B367874660F1}" type="slidenum">
              <a:rPr lang="hr-HR" smtClean="0"/>
              <a:t>14</a:t>
            </a:fld>
            <a:endParaRPr lang="hr-HR"/>
          </a:p>
        </p:txBody>
      </p:sp>
    </p:spTree>
    <p:extLst>
      <p:ext uri="{BB962C8B-B14F-4D97-AF65-F5344CB8AC3E}">
        <p14:creationId xmlns:p14="http://schemas.microsoft.com/office/powerpoint/2010/main" val="29141772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Naslovni slajd">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hr-HR"/>
              <a:t>Uredite stil naslova matrice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hr-HR"/>
              <a:t>Kliknite da biste uredili stil podnaslova matrice</a:t>
            </a:r>
            <a:endParaRPr lang="en-US" dirty="0"/>
          </a:p>
        </p:txBody>
      </p:sp>
      <p:sp>
        <p:nvSpPr>
          <p:cNvPr id="4" name="Date Placeholder 3"/>
          <p:cNvSpPr>
            <a:spLocks noGrp="1"/>
          </p:cNvSpPr>
          <p:nvPr>
            <p:ph type="dt" sz="half" idx="10"/>
          </p:nvPr>
        </p:nvSpPr>
        <p:spPr/>
        <p:txBody>
          <a:bodyPr/>
          <a:lstStyle/>
          <a:p>
            <a:fld id="{854500A0-63A4-4CC8-93F8-0B876C651E4B}" type="datetime1">
              <a:rPr lang="hr-HR" smtClean="0"/>
              <a:t>10.7.2017.</a:t>
            </a:fld>
            <a:endParaRPr lang="hr-HR"/>
          </a:p>
        </p:txBody>
      </p:sp>
      <p:sp>
        <p:nvSpPr>
          <p:cNvPr id="5" name="Footer Placeholder 4"/>
          <p:cNvSpPr>
            <a:spLocks noGrp="1"/>
          </p:cNvSpPr>
          <p:nvPr>
            <p:ph type="ftr" sz="quarter" idx="11"/>
          </p:nvPr>
        </p:nvSpPr>
        <p:spPr/>
        <p:txBody>
          <a:bodyPr/>
          <a:lstStyle/>
          <a:p>
            <a:endParaRPr lang="hr-HR"/>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3351965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Naslov i sadržaj">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hr-HR"/>
              <a:t>Uredite stil naslova matrice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hr-HR" dirty="0"/>
              <a:t>Uredite stilove teksta matrice</a:t>
            </a:r>
          </a:p>
          <a:p>
            <a:pPr lvl="1"/>
            <a:r>
              <a:rPr lang="hr-HR" dirty="0"/>
              <a:t>Druga razina</a:t>
            </a:r>
          </a:p>
          <a:p>
            <a:pPr lvl="2"/>
            <a:r>
              <a:rPr lang="hr-HR" dirty="0"/>
              <a:t>Treća razina</a:t>
            </a:r>
          </a:p>
          <a:p>
            <a:pPr lvl="3"/>
            <a:r>
              <a:rPr lang="hr-HR" dirty="0"/>
              <a:t>Četvrta razina</a:t>
            </a:r>
          </a:p>
          <a:p>
            <a:pPr lvl="4"/>
            <a:r>
              <a:rPr lang="hr-HR" dirty="0"/>
              <a:t>Peta razina</a:t>
            </a:r>
            <a:endParaRPr lang="en-US" dirty="0"/>
          </a:p>
        </p:txBody>
      </p:sp>
      <p:sp>
        <p:nvSpPr>
          <p:cNvPr id="4" name="Date Placeholder 3"/>
          <p:cNvSpPr>
            <a:spLocks noGrp="1"/>
          </p:cNvSpPr>
          <p:nvPr>
            <p:ph type="dt" sz="half" idx="10"/>
          </p:nvPr>
        </p:nvSpPr>
        <p:spPr>
          <a:xfrm>
            <a:off x="2589212" y="6130537"/>
            <a:ext cx="1146283" cy="370396"/>
          </a:xfrm>
        </p:spPr>
        <p:txBody>
          <a:bodyPr/>
          <a:lstStyle/>
          <a:p>
            <a:fld id="{5158170C-DB7D-4464-BDA2-88D287F6C038}" type="datetime1">
              <a:rPr lang="hr-HR" smtClean="0"/>
              <a:t>10.7.2017.</a:t>
            </a:fld>
            <a:endParaRPr lang="hr-HR" dirty="0"/>
          </a:p>
        </p:txBody>
      </p:sp>
      <p:sp>
        <p:nvSpPr>
          <p:cNvPr id="5" name="Footer Placeholder 4"/>
          <p:cNvSpPr>
            <a:spLocks noGrp="1"/>
          </p:cNvSpPr>
          <p:nvPr>
            <p:ph type="ftr" sz="quarter" idx="11"/>
          </p:nvPr>
        </p:nvSpPr>
        <p:spPr>
          <a:xfrm>
            <a:off x="3930869" y="6135808"/>
            <a:ext cx="6278342" cy="365125"/>
          </a:xfrm>
        </p:spPr>
        <p:txBody>
          <a:bodyPr/>
          <a:lstStyle/>
          <a:p>
            <a:endParaRPr lang="hr-HR"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10361612" y="6139822"/>
            <a:ext cx="642719" cy="365125"/>
          </a:xfrm>
        </p:spPr>
        <p:txBody>
          <a:bodyPr/>
          <a:lstStyle>
            <a:lvl1pPr>
              <a:defRPr sz="1800">
                <a:solidFill>
                  <a:schemeClr val="tx1"/>
                </a:solidFill>
              </a:defRPr>
            </a:lvl1pPr>
          </a:lstStyle>
          <a:p>
            <a:fld id="{B9A04B74-08D3-4235-B2EE-FA9FC8104C24}" type="slidenum">
              <a:rPr lang="hr-HR" smtClean="0"/>
              <a:pPr/>
              <a:t>‹#›</a:t>
            </a:fld>
            <a:endParaRPr lang="hr-HR" dirty="0"/>
          </a:p>
        </p:txBody>
      </p:sp>
      <p:sp>
        <p:nvSpPr>
          <p:cNvPr id="7" name="TekstniOkvir 6"/>
          <p:cNvSpPr txBox="1"/>
          <p:nvPr userDrawn="1"/>
        </p:nvSpPr>
        <p:spPr>
          <a:xfrm>
            <a:off x="10878207" y="6130537"/>
            <a:ext cx="662152" cy="369332"/>
          </a:xfrm>
          <a:prstGeom prst="rect">
            <a:avLst/>
          </a:prstGeom>
          <a:noFill/>
        </p:spPr>
        <p:txBody>
          <a:bodyPr wrap="square" rtlCol="0">
            <a:spAutoFit/>
          </a:bodyPr>
          <a:lstStyle/>
          <a:p>
            <a:r>
              <a:rPr lang="hr-HR" dirty="0"/>
              <a:t>/ 15</a:t>
            </a:r>
          </a:p>
        </p:txBody>
      </p:sp>
    </p:spTree>
    <p:extLst>
      <p:ext uri="{BB962C8B-B14F-4D97-AF65-F5344CB8AC3E}">
        <p14:creationId xmlns:p14="http://schemas.microsoft.com/office/powerpoint/2010/main" val="2072444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Zaglavlje sekcije">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hr-HR"/>
              <a:t>Uredite stil naslova matrice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r-HR"/>
              <a:t>Uredite stilove teksta matrice</a:t>
            </a:r>
          </a:p>
        </p:txBody>
      </p:sp>
      <p:sp>
        <p:nvSpPr>
          <p:cNvPr id="4" name="Date Placeholder 3"/>
          <p:cNvSpPr>
            <a:spLocks noGrp="1"/>
          </p:cNvSpPr>
          <p:nvPr>
            <p:ph type="dt" sz="half" idx="10"/>
          </p:nvPr>
        </p:nvSpPr>
        <p:spPr/>
        <p:txBody>
          <a:bodyPr/>
          <a:lstStyle/>
          <a:p>
            <a:fld id="{D38F65CF-71B7-4583-B176-AF82EF7E1259}" type="datetime1">
              <a:rPr lang="hr-HR" smtClean="0"/>
              <a:t>10.7.2017.</a:t>
            </a:fld>
            <a:endParaRPr lang="hr-HR"/>
          </a:p>
        </p:txBody>
      </p:sp>
      <p:sp>
        <p:nvSpPr>
          <p:cNvPr id="5" name="Footer Placeholder 4"/>
          <p:cNvSpPr>
            <a:spLocks noGrp="1"/>
          </p:cNvSpPr>
          <p:nvPr>
            <p:ph type="ftr" sz="quarter" idx="11"/>
          </p:nvPr>
        </p:nvSpPr>
        <p:spPr/>
        <p:txBody>
          <a:bodyPr/>
          <a:lstStyle/>
          <a:p>
            <a:endParaRPr lang="hr-HR"/>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3234982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sadržaja">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hr-HR"/>
              <a:t>Uredite stil naslova matrice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hr-HR"/>
              <a:t>Uredite stilove teksta matrice</a:t>
            </a:r>
          </a:p>
          <a:p>
            <a:pPr lvl="1"/>
            <a:r>
              <a:rPr lang="hr-HR"/>
              <a:t>Druga razina</a:t>
            </a:r>
          </a:p>
          <a:p>
            <a:pPr lvl="2"/>
            <a:r>
              <a:rPr lang="hr-HR"/>
              <a:t>Treća razina</a:t>
            </a:r>
          </a:p>
          <a:p>
            <a:pPr lvl="3"/>
            <a:r>
              <a:rPr lang="hr-HR"/>
              <a:t>Četvrta razina</a:t>
            </a:r>
          </a:p>
          <a:p>
            <a:pPr lvl="4"/>
            <a:r>
              <a:rPr lang="hr-HR"/>
              <a:t>Peta razina</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hr-HR"/>
              <a:t>Uredite stilove teksta matrice</a:t>
            </a:r>
          </a:p>
          <a:p>
            <a:pPr lvl="1"/>
            <a:r>
              <a:rPr lang="hr-HR"/>
              <a:t>Druga razina</a:t>
            </a:r>
          </a:p>
          <a:p>
            <a:pPr lvl="2"/>
            <a:r>
              <a:rPr lang="hr-HR"/>
              <a:t>Treća razina</a:t>
            </a:r>
          </a:p>
          <a:p>
            <a:pPr lvl="3"/>
            <a:r>
              <a:rPr lang="hr-HR"/>
              <a:t>Četvrta razina</a:t>
            </a:r>
          </a:p>
          <a:p>
            <a:pPr lvl="4"/>
            <a:r>
              <a:rPr lang="hr-HR"/>
              <a:t>Peta razina</a:t>
            </a:r>
            <a:endParaRPr lang="en-US" dirty="0"/>
          </a:p>
        </p:txBody>
      </p:sp>
      <p:sp>
        <p:nvSpPr>
          <p:cNvPr id="5" name="Date Placeholder 4"/>
          <p:cNvSpPr>
            <a:spLocks noGrp="1"/>
          </p:cNvSpPr>
          <p:nvPr>
            <p:ph type="dt" sz="half" idx="10"/>
          </p:nvPr>
        </p:nvSpPr>
        <p:spPr/>
        <p:txBody>
          <a:bodyPr/>
          <a:lstStyle/>
          <a:p>
            <a:fld id="{DD256983-4060-4392-A540-9478F4DD306D}" type="datetime1">
              <a:rPr lang="hr-HR" smtClean="0"/>
              <a:t>10.7.2017.</a:t>
            </a:fld>
            <a:endParaRPr lang="hr-HR"/>
          </a:p>
        </p:txBody>
      </p:sp>
      <p:sp>
        <p:nvSpPr>
          <p:cNvPr id="6" name="Footer Placeholder 5"/>
          <p:cNvSpPr>
            <a:spLocks noGrp="1"/>
          </p:cNvSpPr>
          <p:nvPr>
            <p:ph type="ftr" sz="quarter" idx="11"/>
          </p:nvPr>
        </p:nvSpPr>
        <p:spPr/>
        <p:txBody>
          <a:bodyPr/>
          <a:lstStyle/>
          <a:p>
            <a:endParaRPr lang="hr-HR"/>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2554625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Usporedba">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hr-HR"/>
              <a:t>Uredite stil naslova matrice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r-HR"/>
              <a:t>Uredite stilove teksta matrice</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hr-HR"/>
              <a:t>Uredite stilove teksta matrice</a:t>
            </a:r>
          </a:p>
          <a:p>
            <a:pPr lvl="1"/>
            <a:r>
              <a:rPr lang="hr-HR"/>
              <a:t>Druga razina</a:t>
            </a:r>
          </a:p>
          <a:p>
            <a:pPr lvl="2"/>
            <a:r>
              <a:rPr lang="hr-HR"/>
              <a:t>Treća razina</a:t>
            </a:r>
          </a:p>
          <a:p>
            <a:pPr lvl="3"/>
            <a:r>
              <a:rPr lang="hr-HR"/>
              <a:t>Četvrta razina</a:t>
            </a:r>
          </a:p>
          <a:p>
            <a:pPr lvl="4"/>
            <a:r>
              <a:rPr lang="hr-HR"/>
              <a:t>Peta razina</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r-HR"/>
              <a:t>Uredite stilove teksta matrice</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hr-HR"/>
              <a:t>Uredite stilove teksta matrice</a:t>
            </a:r>
          </a:p>
          <a:p>
            <a:pPr lvl="1"/>
            <a:r>
              <a:rPr lang="hr-HR"/>
              <a:t>Druga razina</a:t>
            </a:r>
          </a:p>
          <a:p>
            <a:pPr lvl="2"/>
            <a:r>
              <a:rPr lang="hr-HR"/>
              <a:t>Treća razina</a:t>
            </a:r>
          </a:p>
          <a:p>
            <a:pPr lvl="3"/>
            <a:r>
              <a:rPr lang="hr-HR"/>
              <a:t>Četvrta razina</a:t>
            </a:r>
          </a:p>
          <a:p>
            <a:pPr lvl="4"/>
            <a:r>
              <a:rPr lang="hr-HR"/>
              <a:t>Peta razina</a:t>
            </a:r>
            <a:endParaRPr lang="en-US" dirty="0"/>
          </a:p>
        </p:txBody>
      </p:sp>
      <p:sp>
        <p:nvSpPr>
          <p:cNvPr id="7" name="Date Placeholder 6"/>
          <p:cNvSpPr>
            <a:spLocks noGrp="1"/>
          </p:cNvSpPr>
          <p:nvPr>
            <p:ph type="dt" sz="half" idx="10"/>
          </p:nvPr>
        </p:nvSpPr>
        <p:spPr/>
        <p:txBody>
          <a:bodyPr/>
          <a:lstStyle/>
          <a:p>
            <a:fld id="{4DADAAD3-2C3B-409B-9D21-BA737B90EF98}" type="datetime1">
              <a:rPr lang="hr-HR" smtClean="0"/>
              <a:t>10.7.2017.</a:t>
            </a:fld>
            <a:endParaRPr lang="hr-HR"/>
          </a:p>
        </p:txBody>
      </p:sp>
      <p:sp>
        <p:nvSpPr>
          <p:cNvPr id="8" name="Footer Placeholder 7"/>
          <p:cNvSpPr>
            <a:spLocks noGrp="1"/>
          </p:cNvSpPr>
          <p:nvPr>
            <p:ph type="ftr" sz="quarter" idx="11"/>
          </p:nvPr>
        </p:nvSpPr>
        <p:spPr/>
        <p:txBody>
          <a:bodyPr/>
          <a:lstStyle/>
          <a:p>
            <a:endParaRPr lang="hr-HR"/>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35858157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amo naslov">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r-HR"/>
              <a:t>Uredite stil naslova matrice</a:t>
            </a:r>
            <a:endParaRPr lang="en-US" dirty="0"/>
          </a:p>
        </p:txBody>
      </p:sp>
      <p:sp>
        <p:nvSpPr>
          <p:cNvPr id="3" name="Date Placeholder 2"/>
          <p:cNvSpPr>
            <a:spLocks noGrp="1"/>
          </p:cNvSpPr>
          <p:nvPr>
            <p:ph type="dt" sz="half" idx="10"/>
          </p:nvPr>
        </p:nvSpPr>
        <p:spPr/>
        <p:txBody>
          <a:bodyPr/>
          <a:lstStyle/>
          <a:p>
            <a:fld id="{D9EACC6F-1094-4B8B-A68B-9BFB61F23A41}" type="datetime1">
              <a:rPr lang="hr-HR" smtClean="0"/>
              <a:t>10.7.2017.</a:t>
            </a:fld>
            <a:endParaRPr lang="hr-HR"/>
          </a:p>
        </p:txBody>
      </p:sp>
      <p:sp>
        <p:nvSpPr>
          <p:cNvPr id="4" name="Footer Placeholder 3"/>
          <p:cNvSpPr>
            <a:spLocks noGrp="1"/>
          </p:cNvSpPr>
          <p:nvPr>
            <p:ph type="ftr" sz="quarter" idx="11"/>
          </p:nvPr>
        </p:nvSpPr>
        <p:spPr/>
        <p:txBody>
          <a:bodyPr/>
          <a:lstStyle/>
          <a:p>
            <a:endParaRPr lang="hr-HR"/>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14706523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razn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3415696-C074-4A9F-84DB-F58D64942585}" type="datetime1">
              <a:rPr lang="hr-HR" smtClean="0"/>
              <a:t>10.7.2017.</a:t>
            </a:fld>
            <a:endParaRPr lang="hr-HR"/>
          </a:p>
        </p:txBody>
      </p:sp>
      <p:sp>
        <p:nvSpPr>
          <p:cNvPr id="3" name="Footer Placeholder 2"/>
          <p:cNvSpPr>
            <a:spLocks noGrp="1"/>
          </p:cNvSpPr>
          <p:nvPr>
            <p:ph type="ftr" sz="quarter" idx="11"/>
          </p:nvPr>
        </p:nvSpPr>
        <p:spPr/>
        <p:txBody>
          <a:bodyPr/>
          <a:lstStyle/>
          <a:p>
            <a:endParaRPr lang="hr-HR"/>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37612601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Sadržaj s opisom">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hr-HR"/>
              <a:t>Uredite stil naslova matrice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hr-HR"/>
              <a:t>Uredite stilove teksta matrice</a:t>
            </a:r>
          </a:p>
          <a:p>
            <a:pPr lvl="1"/>
            <a:r>
              <a:rPr lang="hr-HR"/>
              <a:t>Druga razina</a:t>
            </a:r>
          </a:p>
          <a:p>
            <a:pPr lvl="2"/>
            <a:r>
              <a:rPr lang="hr-HR"/>
              <a:t>Treća razina</a:t>
            </a:r>
          </a:p>
          <a:p>
            <a:pPr lvl="3"/>
            <a:r>
              <a:rPr lang="hr-HR"/>
              <a:t>Četvrta razina</a:t>
            </a:r>
          </a:p>
          <a:p>
            <a:pPr lvl="4"/>
            <a:r>
              <a:rPr lang="hr-HR"/>
              <a:t>Peta razina</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r-HR"/>
              <a:t>Uredite stilove teksta matrice</a:t>
            </a:r>
          </a:p>
        </p:txBody>
      </p:sp>
      <p:sp>
        <p:nvSpPr>
          <p:cNvPr id="5" name="Date Placeholder 4"/>
          <p:cNvSpPr>
            <a:spLocks noGrp="1"/>
          </p:cNvSpPr>
          <p:nvPr>
            <p:ph type="dt" sz="half" idx="10"/>
          </p:nvPr>
        </p:nvSpPr>
        <p:spPr/>
        <p:txBody>
          <a:bodyPr/>
          <a:lstStyle/>
          <a:p>
            <a:fld id="{245CFC5F-B82A-44E0-A124-339A05F87481}" type="datetime1">
              <a:rPr lang="hr-HR" smtClean="0"/>
              <a:t>10.7.2017.</a:t>
            </a:fld>
            <a:endParaRPr lang="hr-HR"/>
          </a:p>
        </p:txBody>
      </p:sp>
      <p:sp>
        <p:nvSpPr>
          <p:cNvPr id="6" name="Footer Placeholder 5"/>
          <p:cNvSpPr>
            <a:spLocks noGrp="1"/>
          </p:cNvSpPr>
          <p:nvPr>
            <p:ph type="ftr" sz="quarter" idx="11"/>
          </p:nvPr>
        </p:nvSpPr>
        <p:spPr/>
        <p:txBody>
          <a:bodyPr/>
          <a:lstStyle/>
          <a:p>
            <a:endParaRPr lang="hr-HR"/>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11506659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Slika s opisom">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hr-HR"/>
              <a:t>Uredite stil naslova matrice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r-HR"/>
              <a:t>Kliknite ikonu da biste dodali  sliku</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r-HR"/>
              <a:t>Uredite stilove teksta matrice</a:t>
            </a:r>
          </a:p>
        </p:txBody>
      </p:sp>
      <p:sp>
        <p:nvSpPr>
          <p:cNvPr id="5" name="Date Placeholder 4"/>
          <p:cNvSpPr>
            <a:spLocks noGrp="1"/>
          </p:cNvSpPr>
          <p:nvPr>
            <p:ph type="dt" sz="half" idx="10"/>
          </p:nvPr>
        </p:nvSpPr>
        <p:spPr/>
        <p:txBody>
          <a:bodyPr/>
          <a:lstStyle/>
          <a:p>
            <a:fld id="{8B223EFC-6F79-4E4A-B0B4-8D6D925BDABE}" type="datetime1">
              <a:rPr lang="hr-HR" smtClean="0"/>
              <a:t>10.7.2017.</a:t>
            </a:fld>
            <a:endParaRPr lang="hr-HR"/>
          </a:p>
        </p:txBody>
      </p:sp>
      <p:sp>
        <p:nvSpPr>
          <p:cNvPr id="6" name="Footer Placeholder 5"/>
          <p:cNvSpPr>
            <a:spLocks noGrp="1"/>
          </p:cNvSpPr>
          <p:nvPr>
            <p:ph type="ftr" sz="quarter" idx="11"/>
          </p:nvPr>
        </p:nvSpPr>
        <p:spPr/>
        <p:txBody>
          <a:bodyPr/>
          <a:lstStyle/>
          <a:p>
            <a:endParaRPr lang="hr-HR"/>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22439021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Naslov i opis">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hr-HR"/>
              <a:t>Uredite stil naslova matrice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r-HR"/>
              <a:t>Uredite stilove teksta matrice</a:t>
            </a:r>
          </a:p>
        </p:txBody>
      </p:sp>
      <p:sp>
        <p:nvSpPr>
          <p:cNvPr id="4" name="Date Placeholder 3"/>
          <p:cNvSpPr>
            <a:spLocks noGrp="1"/>
          </p:cNvSpPr>
          <p:nvPr>
            <p:ph type="dt" sz="half" idx="10"/>
          </p:nvPr>
        </p:nvSpPr>
        <p:spPr/>
        <p:txBody>
          <a:bodyPr/>
          <a:lstStyle/>
          <a:p>
            <a:fld id="{10FCFD3D-24D6-4348-A483-AE8C4B356E77}" type="datetime1">
              <a:rPr lang="hr-HR" smtClean="0"/>
              <a:t>10.7.2017.</a:t>
            </a:fld>
            <a:endParaRPr lang="hr-HR"/>
          </a:p>
        </p:txBody>
      </p:sp>
      <p:sp>
        <p:nvSpPr>
          <p:cNvPr id="5" name="Footer Placeholder 4"/>
          <p:cNvSpPr>
            <a:spLocks noGrp="1"/>
          </p:cNvSpPr>
          <p:nvPr>
            <p:ph type="ftr" sz="quarter" idx="11"/>
          </p:nvPr>
        </p:nvSpPr>
        <p:spPr/>
        <p:txBody>
          <a:bodyPr/>
          <a:lstStyle/>
          <a:p>
            <a:endParaRPr lang="hr-HR"/>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37686196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t s opisom">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hr-HR"/>
              <a:t>Uredite stil naslova matrice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hr-HR"/>
              <a:t>Uredite stilove teksta matrice</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r-HR"/>
              <a:t>Uredite stilove teksta matrice</a:t>
            </a:r>
          </a:p>
        </p:txBody>
      </p:sp>
      <p:sp>
        <p:nvSpPr>
          <p:cNvPr id="4" name="Date Placeholder 3"/>
          <p:cNvSpPr>
            <a:spLocks noGrp="1"/>
          </p:cNvSpPr>
          <p:nvPr>
            <p:ph type="dt" sz="half" idx="10"/>
          </p:nvPr>
        </p:nvSpPr>
        <p:spPr/>
        <p:txBody>
          <a:bodyPr/>
          <a:lstStyle/>
          <a:p>
            <a:fld id="{3D697BD7-E284-4CBB-B127-12A84F631B69}" type="datetime1">
              <a:rPr lang="hr-HR" smtClean="0"/>
              <a:t>10.7.2017.</a:t>
            </a:fld>
            <a:endParaRPr lang="hr-HR"/>
          </a:p>
        </p:txBody>
      </p:sp>
      <p:sp>
        <p:nvSpPr>
          <p:cNvPr id="5" name="Footer Placeholder 4"/>
          <p:cNvSpPr>
            <a:spLocks noGrp="1"/>
          </p:cNvSpPr>
          <p:nvPr>
            <p:ph type="ftr" sz="quarter" idx="11"/>
          </p:nvPr>
        </p:nvSpPr>
        <p:spPr/>
        <p:txBody>
          <a:bodyPr/>
          <a:lstStyle/>
          <a:p>
            <a:endParaRPr lang="hr-HR"/>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9A04B74-08D3-4235-B2EE-FA9FC8104C24}" type="slidenum">
              <a:rPr lang="hr-HR" smtClean="0"/>
              <a:t>‹#›</a:t>
            </a:fld>
            <a:endParaRPr lang="hr-HR"/>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3878993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Kartica s nazivom">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hr-HR"/>
              <a:t>Uredite stil naslova matrice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hr-HR"/>
              <a:t>Uredite stilove teksta matrice</a:t>
            </a:r>
          </a:p>
        </p:txBody>
      </p:sp>
      <p:sp>
        <p:nvSpPr>
          <p:cNvPr id="5" name="Date Placeholder 4"/>
          <p:cNvSpPr>
            <a:spLocks noGrp="1"/>
          </p:cNvSpPr>
          <p:nvPr>
            <p:ph type="dt" sz="half" idx="10"/>
          </p:nvPr>
        </p:nvSpPr>
        <p:spPr/>
        <p:txBody>
          <a:bodyPr/>
          <a:lstStyle/>
          <a:p>
            <a:fld id="{90B38E6C-04F9-4B9E-9CC9-E48F19EE57A6}" type="datetime1">
              <a:rPr lang="hr-HR" smtClean="0"/>
              <a:t>10.7.2017.</a:t>
            </a:fld>
            <a:endParaRPr lang="hr-HR"/>
          </a:p>
        </p:txBody>
      </p:sp>
      <p:sp>
        <p:nvSpPr>
          <p:cNvPr id="6" name="Footer Placeholder 5"/>
          <p:cNvSpPr>
            <a:spLocks noGrp="1"/>
          </p:cNvSpPr>
          <p:nvPr>
            <p:ph type="ftr" sz="quarter" idx="11"/>
          </p:nvPr>
        </p:nvSpPr>
        <p:spPr/>
        <p:txBody>
          <a:bodyPr/>
          <a:lstStyle/>
          <a:p>
            <a:endParaRPr lang="hr-HR"/>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8977935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artica s nazivom citata">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hr-HR"/>
              <a:t>Uredite stil naslova matrice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hr-HR"/>
              <a:t>Uredite stilove teksta matrice</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hr-HR"/>
              <a:t>Uredite stilove teksta matrice</a:t>
            </a:r>
          </a:p>
        </p:txBody>
      </p:sp>
      <p:sp>
        <p:nvSpPr>
          <p:cNvPr id="5" name="Date Placeholder 4"/>
          <p:cNvSpPr>
            <a:spLocks noGrp="1"/>
          </p:cNvSpPr>
          <p:nvPr>
            <p:ph type="dt" sz="half" idx="10"/>
          </p:nvPr>
        </p:nvSpPr>
        <p:spPr/>
        <p:txBody>
          <a:bodyPr/>
          <a:lstStyle/>
          <a:p>
            <a:fld id="{6A2E183C-602E-4A0C-BD44-DF8CDBCFE4DB}" type="datetime1">
              <a:rPr lang="hr-HR" smtClean="0"/>
              <a:t>10.7.2017.</a:t>
            </a:fld>
            <a:endParaRPr lang="hr-HR"/>
          </a:p>
        </p:txBody>
      </p:sp>
      <p:sp>
        <p:nvSpPr>
          <p:cNvPr id="6" name="Footer Placeholder 5"/>
          <p:cNvSpPr>
            <a:spLocks noGrp="1"/>
          </p:cNvSpPr>
          <p:nvPr>
            <p:ph type="ftr" sz="quarter" idx="11"/>
          </p:nvPr>
        </p:nvSpPr>
        <p:spPr/>
        <p:txBody>
          <a:bodyPr/>
          <a:lstStyle/>
          <a:p>
            <a:endParaRPr lang="hr-HR"/>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A04B74-08D3-4235-B2EE-FA9FC8104C24}" type="slidenum">
              <a:rPr lang="hr-HR" smtClean="0"/>
              <a:t>‹#›</a:t>
            </a:fld>
            <a:endParaRPr lang="hr-HR"/>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5642376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ili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hr-HR"/>
              <a:t>Uredite stil naslova matrice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hr-HR"/>
              <a:t>Uredite stilove teksta matrice</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hr-HR"/>
              <a:t>Uredite stilove teksta matrice</a:t>
            </a:r>
          </a:p>
        </p:txBody>
      </p:sp>
      <p:sp>
        <p:nvSpPr>
          <p:cNvPr id="5" name="Date Placeholder 4"/>
          <p:cNvSpPr>
            <a:spLocks noGrp="1"/>
          </p:cNvSpPr>
          <p:nvPr>
            <p:ph type="dt" sz="half" idx="10"/>
          </p:nvPr>
        </p:nvSpPr>
        <p:spPr/>
        <p:txBody>
          <a:bodyPr/>
          <a:lstStyle/>
          <a:p>
            <a:fld id="{51B7886B-4A1E-4C7B-AAED-FC711FF9DF08}" type="datetime1">
              <a:rPr lang="hr-HR" smtClean="0"/>
              <a:t>10.7.2017.</a:t>
            </a:fld>
            <a:endParaRPr lang="hr-HR"/>
          </a:p>
        </p:txBody>
      </p:sp>
      <p:sp>
        <p:nvSpPr>
          <p:cNvPr id="6" name="Footer Placeholder 5"/>
          <p:cNvSpPr>
            <a:spLocks noGrp="1"/>
          </p:cNvSpPr>
          <p:nvPr>
            <p:ph type="ftr" sz="quarter" idx="11"/>
          </p:nvPr>
        </p:nvSpPr>
        <p:spPr/>
        <p:txBody>
          <a:bodyPr/>
          <a:lstStyle/>
          <a:p>
            <a:endParaRPr lang="hr-HR"/>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13963095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Naslov i okomiti teks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r-HR"/>
              <a:t>Uredite stil naslova matrice</a:t>
            </a:r>
            <a:endParaRPr lang="en-US" dirty="0"/>
          </a:p>
        </p:txBody>
      </p:sp>
      <p:sp>
        <p:nvSpPr>
          <p:cNvPr id="3" name="Vertical Text Placeholder 2"/>
          <p:cNvSpPr>
            <a:spLocks noGrp="1"/>
          </p:cNvSpPr>
          <p:nvPr>
            <p:ph type="body" orient="vert" idx="1"/>
          </p:nvPr>
        </p:nvSpPr>
        <p:spPr/>
        <p:txBody>
          <a:bodyPr vert="eaVert" anchor="t"/>
          <a:lstStyle/>
          <a:p>
            <a:pPr lvl="0"/>
            <a:r>
              <a:rPr lang="hr-HR"/>
              <a:t>Uredite stilove teksta matrice</a:t>
            </a:r>
          </a:p>
          <a:p>
            <a:pPr lvl="1"/>
            <a:r>
              <a:rPr lang="hr-HR"/>
              <a:t>Druga razina</a:t>
            </a:r>
          </a:p>
          <a:p>
            <a:pPr lvl="2"/>
            <a:r>
              <a:rPr lang="hr-HR"/>
              <a:t>Treća razina</a:t>
            </a:r>
          </a:p>
          <a:p>
            <a:pPr lvl="3"/>
            <a:r>
              <a:rPr lang="hr-HR"/>
              <a:t>Četvrta razina</a:t>
            </a:r>
          </a:p>
          <a:p>
            <a:pPr lvl="4"/>
            <a:r>
              <a:rPr lang="hr-HR"/>
              <a:t>Peta razina</a:t>
            </a:r>
            <a:endParaRPr lang="en-US" dirty="0"/>
          </a:p>
        </p:txBody>
      </p:sp>
      <p:sp>
        <p:nvSpPr>
          <p:cNvPr id="4" name="Date Placeholder 3"/>
          <p:cNvSpPr>
            <a:spLocks noGrp="1"/>
          </p:cNvSpPr>
          <p:nvPr>
            <p:ph type="dt" sz="half" idx="10"/>
          </p:nvPr>
        </p:nvSpPr>
        <p:spPr/>
        <p:txBody>
          <a:bodyPr/>
          <a:lstStyle/>
          <a:p>
            <a:fld id="{24D0C1B4-DDC9-4C09-AFA6-73E25A3AEF97}" type="datetime1">
              <a:rPr lang="hr-HR" smtClean="0"/>
              <a:t>10.7.2017.</a:t>
            </a:fld>
            <a:endParaRPr lang="hr-HR"/>
          </a:p>
        </p:txBody>
      </p:sp>
      <p:sp>
        <p:nvSpPr>
          <p:cNvPr id="5" name="Footer Placeholder 4"/>
          <p:cNvSpPr>
            <a:spLocks noGrp="1"/>
          </p:cNvSpPr>
          <p:nvPr>
            <p:ph type="ftr" sz="quarter" idx="11"/>
          </p:nvPr>
        </p:nvSpPr>
        <p:spPr/>
        <p:txBody>
          <a:bodyPr/>
          <a:lstStyle/>
          <a:p>
            <a:endParaRPr lang="hr-HR"/>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25052192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Okomiti naslov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hr-HR"/>
              <a:t>Uredite stil naslova matrice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hr-HR"/>
              <a:t>Uredite stilove teksta matrice</a:t>
            </a:r>
          </a:p>
          <a:p>
            <a:pPr lvl="1"/>
            <a:r>
              <a:rPr lang="hr-HR"/>
              <a:t>Druga razina</a:t>
            </a:r>
          </a:p>
          <a:p>
            <a:pPr lvl="2"/>
            <a:r>
              <a:rPr lang="hr-HR"/>
              <a:t>Treća razina</a:t>
            </a:r>
          </a:p>
          <a:p>
            <a:pPr lvl="3"/>
            <a:r>
              <a:rPr lang="hr-HR"/>
              <a:t>Četvrta razina</a:t>
            </a:r>
          </a:p>
          <a:p>
            <a:pPr lvl="4"/>
            <a:r>
              <a:rPr lang="hr-HR"/>
              <a:t>Peta razina</a:t>
            </a:r>
            <a:endParaRPr lang="en-US" dirty="0"/>
          </a:p>
        </p:txBody>
      </p:sp>
      <p:sp>
        <p:nvSpPr>
          <p:cNvPr id="4" name="Date Placeholder 3"/>
          <p:cNvSpPr>
            <a:spLocks noGrp="1"/>
          </p:cNvSpPr>
          <p:nvPr>
            <p:ph type="dt" sz="half" idx="10"/>
          </p:nvPr>
        </p:nvSpPr>
        <p:spPr/>
        <p:txBody>
          <a:bodyPr/>
          <a:lstStyle/>
          <a:p>
            <a:fld id="{AD981FF4-2098-4BCA-AC8D-2FFA66FD0092}" type="datetime1">
              <a:rPr lang="hr-HR" smtClean="0"/>
              <a:t>10.7.2017.</a:t>
            </a:fld>
            <a:endParaRPr lang="hr-HR"/>
          </a:p>
        </p:txBody>
      </p:sp>
      <p:sp>
        <p:nvSpPr>
          <p:cNvPr id="5" name="Footer Placeholder 4"/>
          <p:cNvSpPr>
            <a:spLocks noGrp="1"/>
          </p:cNvSpPr>
          <p:nvPr>
            <p:ph type="ftr" sz="quarter" idx="11"/>
          </p:nvPr>
        </p:nvSpPr>
        <p:spPr/>
        <p:txBody>
          <a:bodyPr/>
          <a:lstStyle/>
          <a:p>
            <a:endParaRPr lang="hr-HR"/>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9A04B74-08D3-4235-B2EE-FA9FC8104C24}" type="slidenum">
              <a:rPr lang="hr-HR" smtClean="0"/>
              <a:t>‹#›</a:t>
            </a:fld>
            <a:endParaRPr lang="hr-HR"/>
          </a:p>
        </p:txBody>
      </p:sp>
    </p:spTree>
    <p:extLst>
      <p:ext uri="{BB962C8B-B14F-4D97-AF65-F5344CB8AC3E}">
        <p14:creationId xmlns:p14="http://schemas.microsoft.com/office/powerpoint/2010/main" val="20840498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hr-HR"/>
              <a:t>Uredite stil naslova matrice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hr-HR"/>
              <a:t>Uredite stilove teksta matrice</a:t>
            </a:r>
          </a:p>
          <a:p>
            <a:pPr lvl="1"/>
            <a:r>
              <a:rPr lang="hr-HR"/>
              <a:t>Druga razina</a:t>
            </a:r>
          </a:p>
          <a:p>
            <a:pPr lvl="2"/>
            <a:r>
              <a:rPr lang="hr-HR"/>
              <a:t>Treća razina</a:t>
            </a:r>
          </a:p>
          <a:p>
            <a:pPr lvl="3"/>
            <a:r>
              <a:rPr lang="hr-HR"/>
              <a:t>Četvrta razina</a:t>
            </a:r>
          </a:p>
          <a:p>
            <a:pPr lvl="4"/>
            <a:r>
              <a:rPr lang="hr-HR"/>
              <a:t>Peta razina</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54B92A9A-7312-4095-80CF-AA2E329C9CEB}" type="datetime1">
              <a:rPr lang="hr-HR" smtClean="0"/>
              <a:t>10.7.2017.</a:t>
            </a:fld>
            <a:endParaRPr lang="hr-HR"/>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hr-HR"/>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B9A04B74-08D3-4235-B2EE-FA9FC8104C24}" type="slidenum">
              <a:rPr lang="hr-HR" smtClean="0"/>
              <a:t>‹#›</a:t>
            </a:fld>
            <a:endParaRPr lang="hr-HR"/>
          </a:p>
        </p:txBody>
      </p:sp>
    </p:spTree>
    <p:extLst>
      <p:ext uri="{BB962C8B-B14F-4D97-AF65-F5344CB8AC3E}">
        <p14:creationId xmlns:p14="http://schemas.microsoft.com/office/powerpoint/2010/main" val="276503982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hf hdr="0" ftr="0" dt="0"/>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jp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s>
</file>

<file path=ppt/slides/_rels/slide7.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image" Target="../media/image30.png"/><Relationship Id="rId3" Type="http://schemas.openxmlformats.org/officeDocument/2006/relationships/image" Target="../media/image200.png"/><Relationship Id="rId7" Type="http://schemas.openxmlformats.org/officeDocument/2006/relationships/image" Target="../media/image24.png"/><Relationship Id="rId12"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3.png"/><Relationship Id="rId11" Type="http://schemas.openxmlformats.org/officeDocument/2006/relationships/image" Target="../media/image28.png"/><Relationship Id="rId5" Type="http://schemas.openxmlformats.org/officeDocument/2006/relationships/image" Target="../media/image22.png"/><Relationship Id="rId10" Type="http://schemas.openxmlformats.org/officeDocument/2006/relationships/image" Target="../media/image27.png"/><Relationship Id="rId4" Type="http://schemas.openxmlformats.org/officeDocument/2006/relationships/image" Target="../media/image210.png"/><Relationship Id="rId9" Type="http://schemas.openxmlformats.org/officeDocument/2006/relationships/image" Target="../media/image26.png"/></Relationships>
</file>

<file path=ppt/slides/_rels/slide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10" Type="http://schemas.openxmlformats.org/officeDocument/2006/relationships/image" Target="../media/image38.png"/><Relationship Id="rId4" Type="http://schemas.openxmlformats.org/officeDocument/2006/relationships/image" Target="../media/image32.png"/><Relationship Id="rId9" Type="http://schemas.openxmlformats.org/officeDocument/2006/relationships/image" Target="../media/image3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ctrTitle"/>
          </p:nvPr>
        </p:nvSpPr>
        <p:spPr>
          <a:xfrm>
            <a:off x="2589213" y="1674628"/>
            <a:ext cx="9202294" cy="2262781"/>
          </a:xfrm>
        </p:spPr>
        <p:txBody>
          <a:bodyPr>
            <a:noAutofit/>
          </a:bodyPr>
          <a:lstStyle/>
          <a:p>
            <a:r>
              <a:rPr lang="hr-HR" sz="3800" dirty="0"/>
              <a:t>Izrada aplikacije za analitiku i predviđanje rezultata učenja temeljene na inteligentnim algoritmima</a:t>
            </a:r>
          </a:p>
        </p:txBody>
      </p:sp>
      <p:sp>
        <p:nvSpPr>
          <p:cNvPr id="3" name="Podnaslov 2"/>
          <p:cNvSpPr>
            <a:spLocks noGrp="1"/>
          </p:cNvSpPr>
          <p:nvPr>
            <p:ph type="subTitle" idx="1"/>
          </p:nvPr>
        </p:nvSpPr>
        <p:spPr>
          <a:xfrm>
            <a:off x="2589213" y="5160151"/>
            <a:ext cx="8915399" cy="1126283"/>
          </a:xfrm>
        </p:spPr>
        <p:txBody>
          <a:bodyPr/>
          <a:lstStyle/>
          <a:p>
            <a:r>
              <a:rPr lang="hr-HR" dirty="0"/>
              <a:t>Student: Roko Krstulović</a:t>
            </a:r>
          </a:p>
          <a:p>
            <a:r>
              <a:rPr lang="hr-HR" dirty="0"/>
              <a:t>Mentor: doc. sr. Sc Ivica </a:t>
            </a:r>
            <a:r>
              <a:rPr lang="hr-HR" dirty="0" err="1"/>
              <a:t>Botički</a:t>
            </a:r>
            <a:endParaRPr lang="hr-HR" dirty="0"/>
          </a:p>
        </p:txBody>
      </p:sp>
    </p:spTree>
    <p:extLst>
      <p:ext uri="{BB962C8B-B14F-4D97-AF65-F5344CB8AC3E}">
        <p14:creationId xmlns:p14="http://schemas.microsoft.com/office/powerpoint/2010/main" val="27204840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Sadržaj obrane</a:t>
            </a:r>
          </a:p>
        </p:txBody>
      </p:sp>
      <p:sp>
        <p:nvSpPr>
          <p:cNvPr id="3" name="Rezervirano mjesto sadržaja 2"/>
          <p:cNvSpPr>
            <a:spLocks noGrp="1"/>
          </p:cNvSpPr>
          <p:nvPr>
            <p:ph idx="1"/>
          </p:nvPr>
        </p:nvSpPr>
        <p:spPr>
          <a:xfrm>
            <a:off x="2589212" y="2133600"/>
            <a:ext cx="8915400" cy="2982410"/>
          </a:xfrm>
        </p:spPr>
        <p:txBody>
          <a:bodyPr/>
          <a:lstStyle/>
          <a:p>
            <a:r>
              <a:rPr lang="hr-HR" dirty="0"/>
              <a:t>Pozadina i širi kontekst aplikacije</a:t>
            </a:r>
          </a:p>
          <a:p>
            <a:r>
              <a:rPr lang="hr-HR" dirty="0"/>
              <a:t>Arhitektura aplikacije</a:t>
            </a:r>
          </a:p>
          <a:p>
            <a:r>
              <a:rPr lang="hr-HR" dirty="0"/>
              <a:t>Korišteni algoritmi</a:t>
            </a:r>
          </a:p>
          <a:p>
            <a:r>
              <a:rPr lang="hr-HR" dirty="0"/>
              <a:t>Vizualizacije rezultata</a:t>
            </a:r>
          </a:p>
          <a:p>
            <a:r>
              <a:rPr lang="hr-HR" dirty="0"/>
              <a:t>Rezultati</a:t>
            </a:r>
          </a:p>
          <a:p>
            <a:r>
              <a:rPr lang="hr-HR" dirty="0"/>
              <a:t>Pitanja</a:t>
            </a:r>
          </a:p>
          <a:p>
            <a:endParaRPr lang="hr-HR" dirty="0"/>
          </a:p>
        </p:txBody>
      </p:sp>
      <p:sp>
        <p:nvSpPr>
          <p:cNvPr id="8" name="Rezervirano mjesto broja slajda 7"/>
          <p:cNvSpPr>
            <a:spLocks noGrp="1"/>
          </p:cNvSpPr>
          <p:nvPr>
            <p:ph type="sldNum" sz="quarter" idx="12"/>
          </p:nvPr>
        </p:nvSpPr>
        <p:spPr>
          <a:xfrm>
            <a:off x="9956498" y="6139823"/>
            <a:ext cx="1047123" cy="365125"/>
          </a:xfrm>
        </p:spPr>
        <p:txBody>
          <a:bodyPr/>
          <a:lstStyle/>
          <a:p>
            <a:fld id="{B9A04B74-08D3-4235-B2EE-FA9FC8104C24}" type="slidenum">
              <a:rPr lang="hr-HR" smtClean="0">
                <a:solidFill>
                  <a:schemeClr val="tx1"/>
                </a:solidFill>
              </a:rPr>
              <a:t>2</a:t>
            </a:fld>
            <a:endParaRPr lang="hr-HR" dirty="0">
              <a:solidFill>
                <a:schemeClr val="tx1"/>
              </a:solidFill>
            </a:endParaRPr>
          </a:p>
        </p:txBody>
      </p:sp>
    </p:spTree>
    <p:extLst>
      <p:ext uri="{BB962C8B-B14F-4D97-AF65-F5344CB8AC3E}">
        <p14:creationId xmlns:p14="http://schemas.microsoft.com/office/powerpoint/2010/main" val="31361439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Širi kontekst aplikacije</a:t>
            </a:r>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3</a:t>
            </a:fld>
            <a:endParaRPr lang="hr-HR" dirty="0"/>
          </a:p>
        </p:txBody>
      </p:sp>
      <p:pic>
        <p:nvPicPr>
          <p:cNvPr id="5" name="Slika 4"/>
          <p:cNvPicPr>
            <a:picLocks noChangeAspect="1"/>
          </p:cNvPicPr>
          <p:nvPr/>
        </p:nvPicPr>
        <p:blipFill>
          <a:blip r:embed="rId3"/>
          <a:stretch>
            <a:fillRect/>
          </a:stretch>
        </p:blipFill>
        <p:spPr>
          <a:xfrm>
            <a:off x="3844822" y="2727929"/>
            <a:ext cx="1968540" cy="1428463"/>
          </a:xfrm>
          <a:prstGeom prst="rect">
            <a:avLst/>
          </a:prstGeom>
        </p:spPr>
      </p:pic>
      <p:pic>
        <p:nvPicPr>
          <p:cNvPr id="27" name="Slika 26"/>
          <p:cNvPicPr>
            <a:picLocks noChangeAspect="1"/>
          </p:cNvPicPr>
          <p:nvPr/>
        </p:nvPicPr>
        <p:blipFill>
          <a:blip r:embed="rId4"/>
          <a:stretch>
            <a:fillRect/>
          </a:stretch>
        </p:blipFill>
        <p:spPr>
          <a:xfrm>
            <a:off x="1161330" y="2965815"/>
            <a:ext cx="2031174" cy="1030072"/>
          </a:xfrm>
          <a:prstGeom prst="rect">
            <a:avLst/>
          </a:prstGeom>
        </p:spPr>
      </p:pic>
      <p:pic>
        <p:nvPicPr>
          <p:cNvPr id="28" name="Slika 27"/>
          <p:cNvPicPr>
            <a:picLocks noChangeAspect="1"/>
          </p:cNvPicPr>
          <p:nvPr/>
        </p:nvPicPr>
        <p:blipFill>
          <a:blip r:embed="rId5"/>
          <a:stretch>
            <a:fillRect/>
          </a:stretch>
        </p:blipFill>
        <p:spPr>
          <a:xfrm>
            <a:off x="6642981" y="2479670"/>
            <a:ext cx="1711321" cy="2002362"/>
          </a:xfrm>
          <a:prstGeom prst="rect">
            <a:avLst/>
          </a:prstGeom>
        </p:spPr>
      </p:pic>
      <p:sp>
        <p:nvSpPr>
          <p:cNvPr id="29" name="TekstniOkvir 28"/>
          <p:cNvSpPr txBox="1"/>
          <p:nvPr/>
        </p:nvSpPr>
        <p:spPr>
          <a:xfrm>
            <a:off x="1398055" y="4892326"/>
            <a:ext cx="1562583" cy="369332"/>
          </a:xfrm>
          <a:prstGeom prst="rect">
            <a:avLst/>
          </a:prstGeom>
          <a:noFill/>
        </p:spPr>
        <p:txBody>
          <a:bodyPr wrap="square" rtlCol="0">
            <a:spAutoFit/>
          </a:bodyPr>
          <a:lstStyle/>
          <a:p>
            <a:pPr algn="ctr"/>
            <a:r>
              <a:rPr lang="hr-HR" dirty="0" err="1"/>
              <a:t>Author</a:t>
            </a:r>
            <a:endParaRPr lang="hr-HR" dirty="0"/>
          </a:p>
        </p:txBody>
      </p:sp>
      <p:sp>
        <p:nvSpPr>
          <p:cNvPr id="30" name="TekstniOkvir 29"/>
          <p:cNvSpPr txBox="1"/>
          <p:nvPr/>
        </p:nvSpPr>
        <p:spPr>
          <a:xfrm>
            <a:off x="3939898" y="4892326"/>
            <a:ext cx="1771223" cy="369332"/>
          </a:xfrm>
          <a:prstGeom prst="rect">
            <a:avLst/>
          </a:prstGeom>
          <a:noFill/>
        </p:spPr>
        <p:txBody>
          <a:bodyPr wrap="square" rtlCol="0">
            <a:spAutoFit/>
          </a:bodyPr>
          <a:lstStyle/>
          <a:p>
            <a:pPr algn="ctr"/>
            <a:r>
              <a:rPr lang="hr-HR" dirty="0"/>
              <a:t>Eksperiment</a:t>
            </a:r>
          </a:p>
        </p:txBody>
      </p:sp>
      <p:sp>
        <p:nvSpPr>
          <p:cNvPr id="32" name="TekstniOkvir 31"/>
          <p:cNvSpPr txBox="1"/>
          <p:nvPr/>
        </p:nvSpPr>
        <p:spPr>
          <a:xfrm>
            <a:off x="6763390" y="4892326"/>
            <a:ext cx="1115897" cy="369332"/>
          </a:xfrm>
          <a:prstGeom prst="rect">
            <a:avLst/>
          </a:prstGeom>
          <a:noFill/>
        </p:spPr>
        <p:txBody>
          <a:bodyPr wrap="square" rtlCol="0">
            <a:spAutoFit/>
          </a:bodyPr>
          <a:lstStyle/>
          <a:p>
            <a:pPr algn="ctr"/>
            <a:r>
              <a:rPr lang="hr-HR" dirty="0"/>
              <a:t>Podaci</a:t>
            </a:r>
          </a:p>
        </p:txBody>
      </p:sp>
      <p:pic>
        <p:nvPicPr>
          <p:cNvPr id="35" name="Slika 34"/>
          <p:cNvPicPr>
            <a:picLocks noChangeAspect="1"/>
          </p:cNvPicPr>
          <p:nvPr/>
        </p:nvPicPr>
        <p:blipFill>
          <a:blip r:embed="rId6"/>
          <a:stretch>
            <a:fillRect/>
          </a:stretch>
        </p:blipFill>
        <p:spPr>
          <a:xfrm>
            <a:off x="8829318" y="1656595"/>
            <a:ext cx="2321781" cy="3648513"/>
          </a:xfrm>
          <a:prstGeom prst="rect">
            <a:avLst/>
          </a:prstGeom>
        </p:spPr>
      </p:pic>
      <p:sp>
        <p:nvSpPr>
          <p:cNvPr id="36" name="TekstniOkvir 35"/>
          <p:cNvSpPr txBox="1"/>
          <p:nvPr/>
        </p:nvSpPr>
        <p:spPr>
          <a:xfrm>
            <a:off x="9081714" y="4892326"/>
            <a:ext cx="1816988" cy="369332"/>
          </a:xfrm>
          <a:prstGeom prst="rect">
            <a:avLst/>
          </a:prstGeom>
          <a:noFill/>
        </p:spPr>
        <p:txBody>
          <a:bodyPr wrap="square" rtlCol="0">
            <a:spAutoFit/>
          </a:bodyPr>
          <a:lstStyle/>
          <a:p>
            <a:pPr algn="ctr"/>
            <a:r>
              <a:rPr lang="hr-HR" dirty="0"/>
              <a:t>Vizualni prikaz</a:t>
            </a:r>
          </a:p>
        </p:txBody>
      </p:sp>
      <p:cxnSp>
        <p:nvCxnSpPr>
          <p:cNvPr id="38" name="Ravni poveznik sa strelicom 37"/>
          <p:cNvCxnSpPr/>
          <p:nvPr/>
        </p:nvCxnSpPr>
        <p:spPr>
          <a:xfrm flipV="1">
            <a:off x="3325869" y="3480851"/>
            <a:ext cx="382772" cy="106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Ravni poveznik sa strelicom 38"/>
          <p:cNvCxnSpPr/>
          <p:nvPr/>
        </p:nvCxnSpPr>
        <p:spPr>
          <a:xfrm flipV="1">
            <a:off x="6036785" y="3442160"/>
            <a:ext cx="382772" cy="106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Ravni poveznik sa strelicom 39"/>
          <p:cNvCxnSpPr/>
          <p:nvPr/>
        </p:nvCxnSpPr>
        <p:spPr>
          <a:xfrm flipV="1">
            <a:off x="8433165" y="3442160"/>
            <a:ext cx="382772" cy="106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Elipsa 41"/>
          <p:cNvSpPr/>
          <p:nvPr/>
        </p:nvSpPr>
        <p:spPr>
          <a:xfrm>
            <a:off x="8354303" y="3274828"/>
            <a:ext cx="540000" cy="372140"/>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hr-HR" dirty="0"/>
          </a:p>
        </p:txBody>
      </p:sp>
    </p:spTree>
    <p:extLst>
      <p:ext uri="{BB962C8B-B14F-4D97-AF65-F5344CB8AC3E}">
        <p14:creationId xmlns:p14="http://schemas.microsoft.com/office/powerpoint/2010/main" val="30578449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Lekcije </a:t>
            </a:r>
          </a:p>
        </p:txBody>
      </p:sp>
      <p:sp>
        <p:nvSpPr>
          <p:cNvPr id="3" name="Rezervirano mjesto sadržaja 2"/>
          <p:cNvSpPr>
            <a:spLocks noGrp="1"/>
          </p:cNvSpPr>
          <p:nvPr>
            <p:ph idx="1"/>
          </p:nvPr>
        </p:nvSpPr>
        <p:spPr>
          <a:xfrm>
            <a:off x="2589211" y="2133600"/>
            <a:ext cx="3302303" cy="366532"/>
          </a:xfrm>
        </p:spPr>
        <p:txBody>
          <a:bodyPr>
            <a:normAutofit/>
          </a:bodyPr>
          <a:lstStyle/>
          <a:p>
            <a:r>
              <a:rPr lang="hr-HR" dirty="0"/>
              <a:t>Kompetitivne lekcije</a:t>
            </a:r>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4</a:t>
            </a:fld>
            <a:endParaRPr lang="hr-HR" dirty="0"/>
          </a:p>
        </p:txBody>
      </p:sp>
      <p:sp>
        <p:nvSpPr>
          <p:cNvPr id="6" name="Rezervirano mjesto sadržaja 2"/>
          <p:cNvSpPr txBox="1">
            <a:spLocks/>
          </p:cNvSpPr>
          <p:nvPr/>
        </p:nvSpPr>
        <p:spPr>
          <a:xfrm>
            <a:off x="2589210" y="2678613"/>
            <a:ext cx="3302304" cy="36653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Kolaborativne lekcije</a:t>
            </a:r>
          </a:p>
        </p:txBody>
      </p:sp>
      <p:sp>
        <p:nvSpPr>
          <p:cNvPr id="7" name="Rezervirano mjesto sadržaja 2"/>
          <p:cNvSpPr txBox="1">
            <a:spLocks/>
          </p:cNvSpPr>
          <p:nvPr/>
        </p:nvSpPr>
        <p:spPr>
          <a:xfrm>
            <a:off x="2595549" y="3268857"/>
            <a:ext cx="3302304" cy="366532"/>
          </a:xfrm>
          <a:prstGeom prst="rect">
            <a:avLst/>
          </a:prstGeom>
        </p:spPr>
        <p:txBody>
          <a:bodyPr vert="horz" lIns="91440" tIns="45720" rIns="91440" bIns="45720" rtlCol="0">
            <a:normAutofit fontScale="925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Lekcije proširene stvarnosti</a:t>
            </a:r>
          </a:p>
        </p:txBody>
      </p:sp>
      <p:pic>
        <p:nvPicPr>
          <p:cNvPr id="9" name="Slika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48768" y="723159"/>
            <a:ext cx="3758824" cy="2820881"/>
          </a:xfrm>
          <a:prstGeom prst="rect">
            <a:avLst/>
          </a:prstGeom>
        </p:spPr>
      </p:pic>
      <p:pic>
        <p:nvPicPr>
          <p:cNvPr id="11" name="Slika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13768" y="2291790"/>
            <a:ext cx="4228824" cy="2114412"/>
          </a:xfrm>
          <a:prstGeom prst="rect">
            <a:avLst/>
          </a:prstGeom>
        </p:spPr>
      </p:pic>
      <p:pic>
        <p:nvPicPr>
          <p:cNvPr id="13" name="Slika 1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3116" y="3742605"/>
            <a:ext cx="4333775" cy="2422401"/>
          </a:xfrm>
          <a:prstGeom prst="rect">
            <a:avLst/>
          </a:prstGeom>
        </p:spPr>
      </p:pic>
      <p:sp>
        <p:nvSpPr>
          <p:cNvPr id="15" name="TekstniOkvir 14"/>
          <p:cNvSpPr txBox="1"/>
          <p:nvPr/>
        </p:nvSpPr>
        <p:spPr>
          <a:xfrm>
            <a:off x="1724628" y="1574157"/>
            <a:ext cx="2129742" cy="382127"/>
          </a:xfrm>
          <a:prstGeom prst="rect">
            <a:avLst/>
          </a:prstGeom>
          <a:noFill/>
        </p:spPr>
        <p:txBody>
          <a:bodyPr wrap="square" rtlCol="0">
            <a:spAutoFit/>
          </a:bodyPr>
          <a:lstStyle/>
          <a:p>
            <a:r>
              <a:rPr lang="hr-HR" b="1" dirty="0"/>
              <a:t>Vrste lekcija:</a:t>
            </a:r>
          </a:p>
        </p:txBody>
      </p:sp>
      <p:sp>
        <p:nvSpPr>
          <p:cNvPr id="16" name="TekstniOkvir 15"/>
          <p:cNvSpPr txBox="1"/>
          <p:nvPr/>
        </p:nvSpPr>
        <p:spPr>
          <a:xfrm>
            <a:off x="1724628" y="4406202"/>
            <a:ext cx="1898248" cy="369332"/>
          </a:xfrm>
          <a:prstGeom prst="rect">
            <a:avLst/>
          </a:prstGeom>
          <a:noFill/>
        </p:spPr>
        <p:txBody>
          <a:bodyPr wrap="square" rtlCol="0">
            <a:spAutoFit/>
          </a:bodyPr>
          <a:lstStyle/>
          <a:p>
            <a:r>
              <a:rPr lang="hr-HR" b="1" dirty="0"/>
              <a:t>Zabilješke:</a:t>
            </a:r>
          </a:p>
        </p:txBody>
      </p:sp>
      <p:sp>
        <p:nvSpPr>
          <p:cNvPr id="17" name="Rezervirano mjesto sadržaja 2"/>
          <p:cNvSpPr txBox="1">
            <a:spLocks/>
          </p:cNvSpPr>
          <p:nvPr/>
        </p:nvSpPr>
        <p:spPr>
          <a:xfrm>
            <a:off x="2203218" y="4775534"/>
            <a:ext cx="3468377" cy="36653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Posebne za svaku lekciju</a:t>
            </a:r>
          </a:p>
        </p:txBody>
      </p:sp>
      <p:sp>
        <p:nvSpPr>
          <p:cNvPr id="18" name="Rezervirano mjesto sadržaja 2"/>
          <p:cNvSpPr txBox="1">
            <a:spLocks/>
          </p:cNvSpPr>
          <p:nvPr/>
        </p:nvSpPr>
        <p:spPr>
          <a:xfrm>
            <a:off x="2203217" y="5311797"/>
            <a:ext cx="3584125" cy="366532"/>
          </a:xfrm>
          <a:prstGeom prst="rect">
            <a:avLst/>
          </a:prstGeom>
        </p:spPr>
        <p:txBody>
          <a:bodyPr vert="horz" lIns="91440" tIns="45720" rIns="91440" bIns="45720" rtlCol="0">
            <a:normAutofit fontScale="925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Pohranjeni u bazi podataka</a:t>
            </a:r>
          </a:p>
        </p:txBody>
      </p:sp>
      <p:sp>
        <p:nvSpPr>
          <p:cNvPr id="19" name="Rezervirano mjesto sadržaja 2"/>
          <p:cNvSpPr txBox="1">
            <a:spLocks/>
          </p:cNvSpPr>
          <p:nvPr/>
        </p:nvSpPr>
        <p:spPr>
          <a:xfrm>
            <a:off x="2203217" y="5798474"/>
            <a:ext cx="3302303" cy="36653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JSON</a:t>
            </a:r>
          </a:p>
        </p:txBody>
      </p:sp>
      <p:pic>
        <p:nvPicPr>
          <p:cNvPr id="20" name="Slika 19"/>
          <p:cNvPicPr>
            <a:picLocks noChangeAspect="1"/>
          </p:cNvPicPr>
          <p:nvPr/>
        </p:nvPicPr>
        <p:blipFill>
          <a:blip r:embed="rId6"/>
          <a:stretch>
            <a:fillRect/>
          </a:stretch>
        </p:blipFill>
        <p:spPr>
          <a:xfrm>
            <a:off x="6616759" y="4590868"/>
            <a:ext cx="4149466" cy="2372147"/>
          </a:xfrm>
          <a:prstGeom prst="rect">
            <a:avLst/>
          </a:prstGeom>
        </p:spPr>
      </p:pic>
    </p:spTree>
    <p:extLst>
      <p:ext uri="{BB962C8B-B14F-4D97-AF65-F5344CB8AC3E}">
        <p14:creationId xmlns:p14="http://schemas.microsoft.com/office/powerpoint/2010/main" val="7948497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Arhitektura aplikacije</a:t>
            </a:r>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5</a:t>
            </a:fld>
            <a:endParaRPr lang="hr-HR" dirty="0"/>
          </a:p>
        </p:txBody>
      </p:sp>
      <p:pic>
        <p:nvPicPr>
          <p:cNvPr id="5" name="Slika 4"/>
          <p:cNvPicPr>
            <a:picLocks noChangeAspect="1"/>
          </p:cNvPicPr>
          <p:nvPr/>
        </p:nvPicPr>
        <p:blipFill>
          <a:blip r:embed="rId3"/>
          <a:stretch>
            <a:fillRect/>
          </a:stretch>
        </p:blipFill>
        <p:spPr>
          <a:xfrm>
            <a:off x="3798523" y="2542734"/>
            <a:ext cx="1968540" cy="1428463"/>
          </a:xfrm>
          <a:prstGeom prst="rect">
            <a:avLst/>
          </a:prstGeom>
        </p:spPr>
      </p:pic>
      <p:pic>
        <p:nvPicPr>
          <p:cNvPr id="6" name="Slika 5"/>
          <p:cNvPicPr>
            <a:picLocks noChangeAspect="1"/>
          </p:cNvPicPr>
          <p:nvPr/>
        </p:nvPicPr>
        <p:blipFill>
          <a:blip r:embed="rId4"/>
          <a:stretch>
            <a:fillRect/>
          </a:stretch>
        </p:blipFill>
        <p:spPr>
          <a:xfrm>
            <a:off x="1115031" y="2780620"/>
            <a:ext cx="2031174" cy="1030072"/>
          </a:xfrm>
          <a:prstGeom prst="rect">
            <a:avLst/>
          </a:prstGeom>
        </p:spPr>
      </p:pic>
      <p:pic>
        <p:nvPicPr>
          <p:cNvPr id="7" name="Slika 6"/>
          <p:cNvPicPr>
            <a:picLocks noChangeAspect="1"/>
          </p:cNvPicPr>
          <p:nvPr/>
        </p:nvPicPr>
        <p:blipFill>
          <a:blip r:embed="rId5"/>
          <a:stretch>
            <a:fillRect/>
          </a:stretch>
        </p:blipFill>
        <p:spPr>
          <a:xfrm>
            <a:off x="6596682" y="2294475"/>
            <a:ext cx="1711321" cy="2002362"/>
          </a:xfrm>
          <a:prstGeom prst="rect">
            <a:avLst/>
          </a:prstGeom>
        </p:spPr>
      </p:pic>
      <p:sp>
        <p:nvSpPr>
          <p:cNvPr id="8" name="TekstniOkvir 7"/>
          <p:cNvSpPr txBox="1"/>
          <p:nvPr/>
        </p:nvSpPr>
        <p:spPr>
          <a:xfrm>
            <a:off x="1351756" y="4707131"/>
            <a:ext cx="1562583" cy="369332"/>
          </a:xfrm>
          <a:prstGeom prst="rect">
            <a:avLst/>
          </a:prstGeom>
          <a:noFill/>
        </p:spPr>
        <p:txBody>
          <a:bodyPr wrap="square" rtlCol="0">
            <a:spAutoFit/>
          </a:bodyPr>
          <a:lstStyle/>
          <a:p>
            <a:pPr algn="ctr"/>
            <a:r>
              <a:rPr lang="hr-HR" dirty="0" err="1"/>
              <a:t>Author</a:t>
            </a:r>
            <a:endParaRPr lang="hr-HR" dirty="0"/>
          </a:p>
        </p:txBody>
      </p:sp>
      <p:sp>
        <p:nvSpPr>
          <p:cNvPr id="9" name="TekstniOkvir 8"/>
          <p:cNvSpPr txBox="1"/>
          <p:nvPr/>
        </p:nvSpPr>
        <p:spPr>
          <a:xfrm>
            <a:off x="3893599" y="4707131"/>
            <a:ext cx="1771223" cy="369332"/>
          </a:xfrm>
          <a:prstGeom prst="rect">
            <a:avLst/>
          </a:prstGeom>
          <a:noFill/>
        </p:spPr>
        <p:txBody>
          <a:bodyPr wrap="square" rtlCol="0">
            <a:spAutoFit/>
          </a:bodyPr>
          <a:lstStyle/>
          <a:p>
            <a:pPr algn="ctr"/>
            <a:r>
              <a:rPr lang="hr-HR" dirty="0"/>
              <a:t>Eksperiment</a:t>
            </a:r>
          </a:p>
        </p:txBody>
      </p:sp>
      <p:sp>
        <p:nvSpPr>
          <p:cNvPr id="10" name="TekstniOkvir 9"/>
          <p:cNvSpPr txBox="1"/>
          <p:nvPr/>
        </p:nvSpPr>
        <p:spPr>
          <a:xfrm>
            <a:off x="6717091" y="4707131"/>
            <a:ext cx="1115897" cy="369332"/>
          </a:xfrm>
          <a:prstGeom prst="rect">
            <a:avLst/>
          </a:prstGeom>
          <a:noFill/>
        </p:spPr>
        <p:txBody>
          <a:bodyPr wrap="square" rtlCol="0">
            <a:spAutoFit/>
          </a:bodyPr>
          <a:lstStyle/>
          <a:p>
            <a:pPr algn="ctr"/>
            <a:r>
              <a:rPr lang="hr-HR" dirty="0"/>
              <a:t>Podaci</a:t>
            </a:r>
          </a:p>
        </p:txBody>
      </p:sp>
      <p:pic>
        <p:nvPicPr>
          <p:cNvPr id="11" name="Slika 10"/>
          <p:cNvPicPr>
            <a:picLocks noChangeAspect="1"/>
          </p:cNvPicPr>
          <p:nvPr/>
        </p:nvPicPr>
        <p:blipFill>
          <a:blip r:embed="rId6"/>
          <a:stretch>
            <a:fillRect/>
          </a:stretch>
        </p:blipFill>
        <p:spPr>
          <a:xfrm>
            <a:off x="8783019" y="1471400"/>
            <a:ext cx="2321781" cy="3648513"/>
          </a:xfrm>
          <a:prstGeom prst="rect">
            <a:avLst/>
          </a:prstGeom>
        </p:spPr>
      </p:pic>
      <p:sp>
        <p:nvSpPr>
          <p:cNvPr id="12" name="TekstniOkvir 11"/>
          <p:cNvSpPr txBox="1"/>
          <p:nvPr/>
        </p:nvSpPr>
        <p:spPr>
          <a:xfrm>
            <a:off x="9035415" y="4707131"/>
            <a:ext cx="1816988" cy="369332"/>
          </a:xfrm>
          <a:prstGeom prst="rect">
            <a:avLst/>
          </a:prstGeom>
          <a:noFill/>
        </p:spPr>
        <p:txBody>
          <a:bodyPr wrap="square" rtlCol="0">
            <a:spAutoFit/>
          </a:bodyPr>
          <a:lstStyle/>
          <a:p>
            <a:pPr algn="ctr"/>
            <a:r>
              <a:rPr lang="hr-HR" dirty="0"/>
              <a:t>Vizualni prikaz</a:t>
            </a:r>
          </a:p>
        </p:txBody>
      </p:sp>
      <p:cxnSp>
        <p:nvCxnSpPr>
          <p:cNvPr id="13" name="Ravni poveznik sa strelicom 12"/>
          <p:cNvCxnSpPr/>
          <p:nvPr/>
        </p:nvCxnSpPr>
        <p:spPr>
          <a:xfrm flipV="1">
            <a:off x="3279570" y="3295656"/>
            <a:ext cx="382772" cy="106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Ravni poveznik sa strelicom 13"/>
          <p:cNvCxnSpPr/>
          <p:nvPr/>
        </p:nvCxnSpPr>
        <p:spPr>
          <a:xfrm flipV="1">
            <a:off x="5990486" y="3256965"/>
            <a:ext cx="382772" cy="106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Ravni poveznik sa strelicom 14"/>
          <p:cNvCxnSpPr/>
          <p:nvPr/>
        </p:nvCxnSpPr>
        <p:spPr>
          <a:xfrm flipV="1">
            <a:off x="8386866" y="3256965"/>
            <a:ext cx="382772" cy="106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Elipsa 15"/>
          <p:cNvSpPr/>
          <p:nvPr/>
        </p:nvSpPr>
        <p:spPr>
          <a:xfrm>
            <a:off x="8308004" y="3089633"/>
            <a:ext cx="540000" cy="372140"/>
          </a:xfrm>
          <a:prstGeom prst="ellips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hr-HR" dirty="0"/>
          </a:p>
        </p:txBody>
      </p:sp>
      <p:sp>
        <p:nvSpPr>
          <p:cNvPr id="17" name="Elipsa 16"/>
          <p:cNvSpPr/>
          <p:nvPr/>
        </p:nvSpPr>
        <p:spPr>
          <a:xfrm>
            <a:off x="1181121" y="2179320"/>
            <a:ext cx="1098052" cy="66072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hr-HR" dirty="0">
                <a:solidFill>
                  <a:schemeClr val="tx1"/>
                </a:solidFill>
              </a:rPr>
              <a:t>Start</a:t>
            </a:r>
          </a:p>
        </p:txBody>
      </p:sp>
      <p:sp>
        <p:nvSpPr>
          <p:cNvPr id="18" name="Pravokutnik 17"/>
          <p:cNvSpPr/>
          <p:nvPr/>
        </p:nvSpPr>
        <p:spPr>
          <a:xfrm>
            <a:off x="2873533" y="2136301"/>
            <a:ext cx="1569720" cy="746760"/>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hr-HR" dirty="0">
                <a:solidFill>
                  <a:schemeClr val="tx1"/>
                </a:solidFill>
              </a:rPr>
              <a:t>Preuzimanje</a:t>
            </a:r>
          </a:p>
        </p:txBody>
      </p:sp>
      <p:sp>
        <p:nvSpPr>
          <p:cNvPr id="19" name="Pravokutnik 18"/>
          <p:cNvSpPr/>
          <p:nvPr/>
        </p:nvSpPr>
        <p:spPr>
          <a:xfrm>
            <a:off x="5037613" y="2103120"/>
            <a:ext cx="1752600" cy="746760"/>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hr-HR" dirty="0">
                <a:solidFill>
                  <a:schemeClr val="tx1"/>
                </a:solidFill>
              </a:rPr>
              <a:t>Pred-obrada podataka</a:t>
            </a:r>
          </a:p>
        </p:txBody>
      </p:sp>
      <p:sp>
        <p:nvSpPr>
          <p:cNvPr id="20" name="Pravokutnik 19"/>
          <p:cNvSpPr/>
          <p:nvPr/>
        </p:nvSpPr>
        <p:spPr>
          <a:xfrm>
            <a:off x="7384573" y="2103120"/>
            <a:ext cx="1752600" cy="746760"/>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hr-HR" dirty="0">
                <a:solidFill>
                  <a:schemeClr val="tx1"/>
                </a:solidFill>
              </a:rPr>
              <a:t>Obrada podataka</a:t>
            </a:r>
          </a:p>
        </p:txBody>
      </p:sp>
      <p:sp>
        <p:nvSpPr>
          <p:cNvPr id="21" name="Elipsa 20"/>
          <p:cNvSpPr/>
          <p:nvPr/>
        </p:nvSpPr>
        <p:spPr>
          <a:xfrm>
            <a:off x="9731533" y="2057400"/>
            <a:ext cx="1902876" cy="838200"/>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hr-HR" dirty="0">
                <a:solidFill>
                  <a:schemeClr val="tx1"/>
                </a:solidFill>
              </a:rPr>
              <a:t>Prikaz podataka</a:t>
            </a:r>
          </a:p>
        </p:txBody>
      </p:sp>
      <p:cxnSp>
        <p:nvCxnSpPr>
          <p:cNvPr id="22" name="Ravni poveznik sa strelicom 21"/>
          <p:cNvCxnSpPr/>
          <p:nvPr/>
        </p:nvCxnSpPr>
        <p:spPr>
          <a:xfrm flipV="1">
            <a:off x="2401539" y="2509681"/>
            <a:ext cx="382772" cy="106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Ravni poveznik sa strelicom 22"/>
          <p:cNvCxnSpPr/>
          <p:nvPr/>
        </p:nvCxnSpPr>
        <p:spPr>
          <a:xfrm flipV="1">
            <a:off x="4549047" y="2520313"/>
            <a:ext cx="382772" cy="106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Ravni poveznik sa strelicom 23"/>
          <p:cNvCxnSpPr/>
          <p:nvPr/>
        </p:nvCxnSpPr>
        <p:spPr>
          <a:xfrm flipV="1">
            <a:off x="6896007" y="2530945"/>
            <a:ext cx="382772" cy="106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Ravni poveznik sa strelicom 24"/>
          <p:cNvCxnSpPr/>
          <p:nvPr/>
        </p:nvCxnSpPr>
        <p:spPr>
          <a:xfrm flipV="1">
            <a:off x="9242967" y="2499049"/>
            <a:ext cx="382772" cy="106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Pravokutnik 25"/>
          <p:cNvSpPr/>
          <p:nvPr/>
        </p:nvSpPr>
        <p:spPr>
          <a:xfrm>
            <a:off x="2576706" y="4450080"/>
            <a:ext cx="2841468" cy="96012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hr-HR" dirty="0">
                <a:solidFill>
                  <a:schemeClr val="tx1"/>
                </a:solidFill>
              </a:rPr>
              <a:t>Učenje težina lekcija</a:t>
            </a:r>
          </a:p>
        </p:txBody>
      </p:sp>
      <p:sp>
        <p:nvSpPr>
          <p:cNvPr id="27" name="Pravokutnik 26"/>
          <p:cNvSpPr/>
          <p:nvPr/>
        </p:nvSpPr>
        <p:spPr>
          <a:xfrm>
            <a:off x="6013765" y="4450080"/>
            <a:ext cx="2841468" cy="96012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hr-HR" dirty="0">
                <a:solidFill>
                  <a:schemeClr val="tx1"/>
                </a:solidFill>
              </a:rPr>
              <a:t>Evaluacija učenika</a:t>
            </a:r>
          </a:p>
        </p:txBody>
      </p:sp>
      <p:sp>
        <p:nvSpPr>
          <p:cNvPr id="28" name="Pravokutnik 27"/>
          <p:cNvSpPr/>
          <p:nvPr/>
        </p:nvSpPr>
        <p:spPr>
          <a:xfrm>
            <a:off x="2118361" y="4236720"/>
            <a:ext cx="7345680" cy="1386840"/>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hr-HR" dirty="0">
              <a:solidFill>
                <a:schemeClr val="tx1"/>
              </a:solidFill>
            </a:endParaRPr>
          </a:p>
        </p:txBody>
      </p:sp>
      <p:sp>
        <p:nvSpPr>
          <p:cNvPr id="29" name="Strelica: lijevo-desno 28"/>
          <p:cNvSpPr/>
          <p:nvPr/>
        </p:nvSpPr>
        <p:spPr>
          <a:xfrm rot="19595316">
            <a:off x="6423049" y="3228421"/>
            <a:ext cx="1772859" cy="716280"/>
          </a:xfrm>
          <a:prstGeom prst="leftRightArrow">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hr-HR"/>
          </a:p>
        </p:txBody>
      </p:sp>
    </p:spTree>
    <p:extLst>
      <p:ext uri="{BB962C8B-B14F-4D97-AF65-F5344CB8AC3E}">
        <p14:creationId xmlns:p14="http://schemas.microsoft.com/office/powerpoint/2010/main" val="3207509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5"/>
                                        </p:tgtEl>
                                      </p:cBhvr>
                                    </p:animEffect>
                                    <p:set>
                                      <p:cBhvr>
                                        <p:cTn id="7" dur="1" fill="hold">
                                          <p:stCondLst>
                                            <p:cond delay="499"/>
                                          </p:stCondLst>
                                        </p:cTn>
                                        <p:tgtEl>
                                          <p:spTgt spid="5"/>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500"/>
                                        <p:tgtEl>
                                          <p:spTgt spid="6"/>
                                        </p:tgtEl>
                                      </p:cBhvr>
                                    </p:animEffect>
                                    <p:set>
                                      <p:cBhvr>
                                        <p:cTn id="10" dur="1" fill="hold">
                                          <p:stCondLst>
                                            <p:cond delay="499"/>
                                          </p:stCondLst>
                                        </p:cTn>
                                        <p:tgtEl>
                                          <p:spTgt spid="6"/>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500"/>
                                        <p:tgtEl>
                                          <p:spTgt spid="7"/>
                                        </p:tgtEl>
                                      </p:cBhvr>
                                    </p:animEffect>
                                    <p:set>
                                      <p:cBhvr>
                                        <p:cTn id="13" dur="1" fill="hold">
                                          <p:stCondLst>
                                            <p:cond delay="499"/>
                                          </p:stCondLst>
                                        </p:cTn>
                                        <p:tgtEl>
                                          <p:spTgt spid="7"/>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5" dur="500"/>
                                        <p:tgtEl>
                                          <p:spTgt spid="8"/>
                                        </p:tgtEl>
                                      </p:cBhvr>
                                    </p:animEffect>
                                    <p:set>
                                      <p:cBhvr>
                                        <p:cTn id="16" dur="1" fill="hold">
                                          <p:stCondLst>
                                            <p:cond delay="499"/>
                                          </p:stCondLst>
                                        </p:cTn>
                                        <p:tgtEl>
                                          <p:spTgt spid="8"/>
                                        </p:tgtEl>
                                        <p:attrNameLst>
                                          <p:attrName>style.visibility</p:attrName>
                                        </p:attrNameLst>
                                      </p:cBhvr>
                                      <p:to>
                                        <p:strVal val="hidden"/>
                                      </p:to>
                                    </p:set>
                                  </p:childTnLst>
                                </p:cTn>
                              </p:par>
                              <p:par>
                                <p:cTn id="17" presetID="10" presetClass="exit" presetSubtype="0" fill="hold" grpId="0" nodeType="withEffect">
                                  <p:stCondLst>
                                    <p:cond delay="0"/>
                                  </p:stCondLst>
                                  <p:childTnLst>
                                    <p:animEffect transition="out" filter="fade">
                                      <p:cBhvr>
                                        <p:cTn id="18" dur="500"/>
                                        <p:tgtEl>
                                          <p:spTgt spid="9"/>
                                        </p:tgtEl>
                                      </p:cBhvr>
                                    </p:animEffect>
                                    <p:set>
                                      <p:cBhvr>
                                        <p:cTn id="19" dur="1" fill="hold">
                                          <p:stCondLst>
                                            <p:cond delay="499"/>
                                          </p:stCondLst>
                                        </p:cTn>
                                        <p:tgtEl>
                                          <p:spTgt spid="9"/>
                                        </p:tgtEl>
                                        <p:attrNameLst>
                                          <p:attrName>style.visibility</p:attrName>
                                        </p:attrNameLst>
                                      </p:cBhvr>
                                      <p:to>
                                        <p:strVal val="hidden"/>
                                      </p:to>
                                    </p:set>
                                  </p:childTnLst>
                                </p:cTn>
                              </p:par>
                              <p:par>
                                <p:cTn id="20" presetID="10" presetClass="exit" presetSubtype="0" fill="hold" grpId="0" nodeType="withEffect">
                                  <p:stCondLst>
                                    <p:cond delay="0"/>
                                  </p:stCondLst>
                                  <p:childTnLst>
                                    <p:animEffect transition="out" filter="fade">
                                      <p:cBhvr>
                                        <p:cTn id="21" dur="500"/>
                                        <p:tgtEl>
                                          <p:spTgt spid="10"/>
                                        </p:tgtEl>
                                      </p:cBhvr>
                                    </p:animEffect>
                                    <p:set>
                                      <p:cBhvr>
                                        <p:cTn id="22" dur="1" fill="hold">
                                          <p:stCondLst>
                                            <p:cond delay="499"/>
                                          </p:stCondLst>
                                        </p:cTn>
                                        <p:tgtEl>
                                          <p:spTgt spid="10"/>
                                        </p:tgtEl>
                                        <p:attrNameLst>
                                          <p:attrName>style.visibility</p:attrName>
                                        </p:attrNameLst>
                                      </p:cBhvr>
                                      <p:to>
                                        <p:strVal val="hidden"/>
                                      </p:to>
                                    </p:set>
                                  </p:childTnLst>
                                </p:cTn>
                              </p:par>
                              <p:par>
                                <p:cTn id="23" presetID="10" presetClass="exit" presetSubtype="0" fill="hold" nodeType="withEffect">
                                  <p:stCondLst>
                                    <p:cond delay="0"/>
                                  </p:stCondLst>
                                  <p:childTnLst>
                                    <p:animEffect transition="out" filter="fade">
                                      <p:cBhvr>
                                        <p:cTn id="24" dur="500"/>
                                        <p:tgtEl>
                                          <p:spTgt spid="11"/>
                                        </p:tgtEl>
                                      </p:cBhvr>
                                    </p:animEffect>
                                    <p:set>
                                      <p:cBhvr>
                                        <p:cTn id="25" dur="1" fill="hold">
                                          <p:stCondLst>
                                            <p:cond delay="499"/>
                                          </p:stCondLst>
                                        </p:cTn>
                                        <p:tgtEl>
                                          <p:spTgt spid="11"/>
                                        </p:tgtEl>
                                        <p:attrNameLst>
                                          <p:attrName>style.visibility</p:attrName>
                                        </p:attrNameLst>
                                      </p:cBhvr>
                                      <p:to>
                                        <p:strVal val="hidden"/>
                                      </p:to>
                                    </p:set>
                                  </p:childTnLst>
                                </p:cTn>
                              </p:par>
                              <p:par>
                                <p:cTn id="26" presetID="10" presetClass="exit" presetSubtype="0" fill="hold" grpId="0" nodeType="withEffect">
                                  <p:stCondLst>
                                    <p:cond delay="0"/>
                                  </p:stCondLst>
                                  <p:childTnLst>
                                    <p:animEffect transition="out" filter="fade">
                                      <p:cBhvr>
                                        <p:cTn id="27" dur="500"/>
                                        <p:tgtEl>
                                          <p:spTgt spid="12"/>
                                        </p:tgtEl>
                                      </p:cBhvr>
                                    </p:animEffect>
                                    <p:set>
                                      <p:cBhvr>
                                        <p:cTn id="28" dur="1" fill="hold">
                                          <p:stCondLst>
                                            <p:cond delay="499"/>
                                          </p:stCondLst>
                                        </p:cTn>
                                        <p:tgtEl>
                                          <p:spTgt spid="12"/>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500"/>
                                        <p:tgtEl>
                                          <p:spTgt spid="13"/>
                                        </p:tgtEl>
                                      </p:cBhvr>
                                    </p:animEffect>
                                    <p:set>
                                      <p:cBhvr>
                                        <p:cTn id="31" dur="1" fill="hold">
                                          <p:stCondLst>
                                            <p:cond delay="499"/>
                                          </p:stCondLst>
                                        </p:cTn>
                                        <p:tgtEl>
                                          <p:spTgt spid="13"/>
                                        </p:tgtEl>
                                        <p:attrNameLst>
                                          <p:attrName>style.visibility</p:attrName>
                                        </p:attrNameLst>
                                      </p:cBhvr>
                                      <p:to>
                                        <p:strVal val="hidden"/>
                                      </p:to>
                                    </p:set>
                                  </p:childTnLst>
                                </p:cTn>
                              </p:par>
                              <p:par>
                                <p:cTn id="32" presetID="10" presetClass="exit" presetSubtype="0" fill="hold" nodeType="withEffect">
                                  <p:stCondLst>
                                    <p:cond delay="0"/>
                                  </p:stCondLst>
                                  <p:childTnLst>
                                    <p:animEffect transition="out" filter="fade">
                                      <p:cBhvr>
                                        <p:cTn id="33" dur="500"/>
                                        <p:tgtEl>
                                          <p:spTgt spid="14"/>
                                        </p:tgtEl>
                                      </p:cBhvr>
                                    </p:animEffect>
                                    <p:set>
                                      <p:cBhvr>
                                        <p:cTn id="34" dur="1" fill="hold">
                                          <p:stCondLst>
                                            <p:cond delay="499"/>
                                          </p:stCondLst>
                                        </p:cTn>
                                        <p:tgtEl>
                                          <p:spTgt spid="14"/>
                                        </p:tgtEl>
                                        <p:attrNameLst>
                                          <p:attrName>style.visibility</p:attrName>
                                        </p:attrNameLst>
                                      </p:cBhvr>
                                      <p:to>
                                        <p:strVal val="hidden"/>
                                      </p:to>
                                    </p:set>
                                  </p:childTnLst>
                                </p:cTn>
                              </p:par>
                              <p:par>
                                <p:cTn id="35" presetID="10" presetClass="exit" presetSubtype="0" fill="hold" nodeType="withEffect">
                                  <p:stCondLst>
                                    <p:cond delay="0"/>
                                  </p:stCondLst>
                                  <p:childTnLst>
                                    <p:animEffect transition="out" filter="fade">
                                      <p:cBhvr>
                                        <p:cTn id="36" dur="500"/>
                                        <p:tgtEl>
                                          <p:spTgt spid="15"/>
                                        </p:tgtEl>
                                      </p:cBhvr>
                                    </p:animEffect>
                                    <p:set>
                                      <p:cBhvr>
                                        <p:cTn id="37" dur="1" fill="hold">
                                          <p:stCondLst>
                                            <p:cond delay="499"/>
                                          </p:stCondLst>
                                        </p:cTn>
                                        <p:tgtEl>
                                          <p:spTgt spid="15"/>
                                        </p:tgtEl>
                                        <p:attrNameLst>
                                          <p:attrName>style.visibility</p:attrName>
                                        </p:attrNameLst>
                                      </p:cBhvr>
                                      <p:to>
                                        <p:strVal val="hidden"/>
                                      </p:to>
                                    </p:set>
                                  </p:childTnLst>
                                </p:cTn>
                              </p:par>
                              <p:par>
                                <p:cTn id="38" presetID="10" presetClass="exit" presetSubtype="0" fill="hold" grpId="0" nodeType="withEffect">
                                  <p:stCondLst>
                                    <p:cond delay="0"/>
                                  </p:stCondLst>
                                  <p:childTnLst>
                                    <p:animEffect transition="out" filter="fade">
                                      <p:cBhvr>
                                        <p:cTn id="39" dur="500"/>
                                        <p:tgtEl>
                                          <p:spTgt spid="16"/>
                                        </p:tgtEl>
                                      </p:cBhvr>
                                    </p:animEffect>
                                    <p:set>
                                      <p:cBhvr>
                                        <p:cTn id="40" dur="1" fill="hold">
                                          <p:stCondLst>
                                            <p:cond delay="499"/>
                                          </p:stCondLst>
                                        </p:cTn>
                                        <p:tgtEl>
                                          <p:spTgt spid="16"/>
                                        </p:tgtEl>
                                        <p:attrNameLst>
                                          <p:attrName>style.visibility</p:attrName>
                                        </p:attrNameLst>
                                      </p:cBhvr>
                                      <p:to>
                                        <p:strVal val="hidden"/>
                                      </p:to>
                                    </p:set>
                                  </p:childTnLst>
                                </p:cTn>
                              </p:par>
                              <p:par>
                                <p:cTn id="41" presetID="1"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29"/>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2" grpId="0"/>
      <p:bldP spid="16" grpId="0" animBg="1"/>
      <p:bldP spid="17" grpId="0" animBg="1"/>
      <p:bldP spid="18" grpId="0" animBg="1"/>
      <p:bldP spid="19" grpId="0" animBg="1"/>
      <p:bldP spid="20" grpId="0" animBg="1"/>
      <p:bldP spid="21" grpId="0" animBg="1"/>
      <p:bldP spid="26" grpId="0" animBg="1"/>
      <p:bldP spid="27" grpId="0" animBg="1"/>
      <p:bldP spid="28" grpId="0" animBg="1"/>
      <p:bldP spid="2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Učenje težina zadataka </a:t>
            </a:r>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6</a:t>
            </a:fld>
            <a:endParaRPr lang="hr-HR" dirty="0"/>
          </a:p>
        </p:txBody>
      </p:sp>
      <mc:AlternateContent xmlns:mc="http://schemas.openxmlformats.org/markup-compatibility/2006">
        <mc:Choice xmlns:a14="http://schemas.microsoft.com/office/drawing/2010/main" Requires="a14">
          <p:sp>
            <p:nvSpPr>
              <p:cNvPr id="5" name="Pravokutnik 4"/>
              <p:cNvSpPr/>
              <p:nvPr/>
            </p:nvSpPr>
            <p:spPr>
              <a:xfrm>
                <a:off x="2592925" y="3058262"/>
                <a:ext cx="3019109" cy="769441"/>
              </a:xfrm>
              <a:prstGeom prst="rect">
                <a:avLst/>
              </a:prstGeom>
            </p:spPr>
            <p:txBody>
              <a:bodyPr wrap="square">
                <a:spAutoFit/>
              </a:bodyPr>
              <a:lstStyle/>
              <a:p>
                <a:r>
                  <a:rPr lang="hr-HR" sz="2000" b="1" dirty="0"/>
                  <a:t>L </a:t>
                </a:r>
                <a14:m>
                  <m:oMath xmlns:m="http://schemas.openxmlformats.org/officeDocument/2006/math">
                    <m:r>
                      <a:rPr lang="hr-HR" sz="2000">
                        <a:latin typeface="Cambria Math" panose="02040503050406030204" pitchFamily="18" charset="0"/>
                      </a:rPr>
                      <m:t>=</m:t>
                    </m:r>
                    <m:r>
                      <a:rPr lang="hr-HR" sz="2000" i="1">
                        <a:latin typeface="Cambria Math" panose="02040503050406030204" pitchFamily="18" charset="0"/>
                      </a:rPr>
                      <m:t>𝑓</m:t>
                    </m:r>
                    <m:d>
                      <m:dPr>
                        <m:ctrlPr>
                          <a:rPr lang="hr-HR" sz="2000" i="1">
                            <a:latin typeface="Cambria Math" panose="02040503050406030204" pitchFamily="18" charset="0"/>
                          </a:rPr>
                        </m:ctrlPr>
                      </m:dPr>
                      <m:e>
                        <m:r>
                          <a:rPr lang="hr-HR" sz="2000" b="1" i="0" smtClean="0">
                            <a:latin typeface="Cambria Math" panose="02040503050406030204" pitchFamily="18" charset="0"/>
                          </a:rPr>
                          <m:t>𝐒</m:t>
                        </m:r>
                      </m:e>
                    </m:d>
                    <m:r>
                      <m:rPr>
                        <m:nor/>
                      </m:rPr>
                      <a:rPr lang="hr-HR" sz="2000" i="0" smtClean="0">
                        <a:latin typeface="Cambria Math" panose="02040503050406030204" pitchFamily="18" charset="0"/>
                      </a:rPr>
                      <m:t>, </m:t>
                    </m:r>
                  </m:oMath>
                </a14:m>
                <a:r>
                  <a:rPr lang="hr-HR" sz="2000" b="1" dirty="0"/>
                  <a:t>S </a:t>
                </a:r>
                <a14:m>
                  <m:oMath xmlns:m="http://schemas.openxmlformats.org/officeDocument/2006/math">
                    <m:r>
                      <a:rPr lang="hr-HR" sz="2000" i="0">
                        <a:latin typeface="Cambria Math" panose="02040503050406030204" pitchFamily="18" charset="0"/>
                      </a:rPr>
                      <m:t>=</m:t>
                    </m:r>
                    <m:r>
                      <a:rPr lang="hr-HR" sz="2000" i="1">
                        <a:latin typeface="Cambria Math" panose="02040503050406030204" pitchFamily="18" charset="0"/>
                      </a:rPr>
                      <m:t>𝑓</m:t>
                    </m:r>
                    <m:d>
                      <m:dPr>
                        <m:ctrlPr>
                          <a:rPr lang="hr-HR" sz="2000" i="1">
                            <a:latin typeface="Cambria Math" panose="02040503050406030204" pitchFamily="18" charset="0"/>
                          </a:rPr>
                        </m:ctrlPr>
                      </m:dPr>
                      <m:e>
                        <m:r>
                          <a:rPr lang="hr-HR" sz="2000" b="1" i="0">
                            <a:latin typeface="Cambria Math" panose="02040503050406030204" pitchFamily="18" charset="0"/>
                          </a:rPr>
                          <m:t>𝐋</m:t>
                        </m:r>
                      </m:e>
                    </m:d>
                    <m:r>
                      <m:rPr>
                        <m:nor/>
                      </m:rPr>
                      <a:rPr lang="hr-HR" sz="2000" b="1" i="0" smtClean="0">
                        <a:latin typeface="Cambria Math" panose="02040503050406030204" pitchFamily="18" charset="0"/>
                      </a:rPr>
                      <m:t> </m:t>
                    </m:r>
                  </m:oMath>
                </a14:m>
                <a:endParaRPr lang="hr-HR" sz="2000" dirty="0"/>
              </a:p>
              <a:p>
                <a:endParaRPr lang="hr-HR" sz="2400" dirty="0"/>
              </a:p>
            </p:txBody>
          </p:sp>
        </mc:Choice>
        <mc:Fallback>
          <p:sp>
            <p:nvSpPr>
              <p:cNvPr id="5" name="Pravokutnik 4"/>
              <p:cNvSpPr>
                <a:spLocks noRot="1" noChangeAspect="1" noMove="1" noResize="1" noEditPoints="1" noAdjustHandles="1" noChangeArrowheads="1" noChangeShapeType="1" noTextEdit="1"/>
              </p:cNvSpPr>
              <p:nvPr/>
            </p:nvSpPr>
            <p:spPr>
              <a:xfrm>
                <a:off x="2592925" y="3058262"/>
                <a:ext cx="3019109" cy="769441"/>
              </a:xfrm>
              <a:prstGeom prst="rect">
                <a:avLst/>
              </a:prstGeom>
              <a:blipFill>
                <a:blip r:embed="rId3"/>
                <a:stretch>
                  <a:fillRect l="-2016" t="-4762"/>
                </a:stretch>
              </a:blipFill>
            </p:spPr>
            <p:txBody>
              <a:bodyPr/>
              <a:lstStyle/>
              <a:p>
                <a:r>
                  <a:rPr lang="hr-HR">
                    <a:noFill/>
                  </a:rPr>
                  <a:t> </a:t>
                </a:r>
              </a:p>
            </p:txBody>
          </p:sp>
        </mc:Fallback>
      </mc:AlternateContent>
      <p:sp>
        <p:nvSpPr>
          <p:cNvPr id="6" name="Rezervirano mjesto sadržaja 2"/>
          <p:cNvSpPr>
            <a:spLocks noGrp="1"/>
          </p:cNvSpPr>
          <p:nvPr>
            <p:ph idx="1"/>
          </p:nvPr>
        </p:nvSpPr>
        <p:spPr>
          <a:xfrm>
            <a:off x="1918650" y="2669324"/>
            <a:ext cx="3302303" cy="366532"/>
          </a:xfrm>
        </p:spPr>
        <p:txBody>
          <a:bodyPr>
            <a:normAutofit/>
          </a:bodyPr>
          <a:lstStyle/>
          <a:p>
            <a:r>
              <a:rPr lang="hr-HR" dirty="0"/>
              <a:t>Ciklička ovisnost</a:t>
            </a:r>
          </a:p>
        </p:txBody>
      </p:sp>
      <p:sp>
        <p:nvSpPr>
          <p:cNvPr id="8" name="Rezervirano mjesto sadržaja 2"/>
          <p:cNvSpPr txBox="1">
            <a:spLocks/>
          </p:cNvSpPr>
          <p:nvPr/>
        </p:nvSpPr>
        <p:spPr>
          <a:xfrm>
            <a:off x="1918651" y="3519049"/>
            <a:ext cx="4725990" cy="36653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Metoda iterativne konvergencije</a:t>
            </a:r>
          </a:p>
        </p:txBody>
      </p:sp>
      <mc:AlternateContent xmlns:mc="http://schemas.openxmlformats.org/markup-compatibility/2006">
        <mc:Choice xmlns:a14="http://schemas.microsoft.com/office/drawing/2010/main" Requires="a14">
          <p:sp>
            <p:nvSpPr>
              <p:cNvPr id="10" name="Pravokutnik 9"/>
              <p:cNvSpPr/>
              <p:nvPr/>
            </p:nvSpPr>
            <p:spPr>
              <a:xfrm>
                <a:off x="2592925" y="3986549"/>
                <a:ext cx="2965620" cy="43973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hr-HR" sz="2000" b="1">
                          <a:latin typeface="Cambria Math" panose="02040503050406030204" pitchFamily="18" charset="0"/>
                        </a:rPr>
                        <m:t>𝐒</m:t>
                      </m:r>
                      <m:d>
                        <m:dPr>
                          <m:ctrlPr>
                            <a:rPr lang="hr-HR" sz="2000" b="1" i="1">
                              <a:latin typeface="Cambria Math" panose="02040503050406030204" pitchFamily="18" charset="0"/>
                            </a:rPr>
                          </m:ctrlPr>
                        </m:dPr>
                        <m:e>
                          <m:r>
                            <a:rPr lang="hr-HR" sz="2000" b="0" i="1">
                              <a:latin typeface="Cambria Math" panose="02040503050406030204" pitchFamily="18" charset="0"/>
                            </a:rPr>
                            <m:t>𝑖</m:t>
                          </m:r>
                          <m:r>
                            <a:rPr lang="hr-HR" sz="2000" b="0" i="0">
                              <a:latin typeface="Cambria Math" panose="02040503050406030204" pitchFamily="18" charset="0"/>
                            </a:rPr>
                            <m:t>+1</m:t>
                          </m:r>
                        </m:e>
                      </m:d>
                      <m:r>
                        <a:rPr lang="hr-HR" sz="2000" b="0" i="0">
                          <a:latin typeface="Cambria Math" panose="02040503050406030204" pitchFamily="18" charset="0"/>
                        </a:rPr>
                        <m:t>=</m:t>
                      </m:r>
                      <m:r>
                        <a:rPr lang="hr-HR" sz="2000" b="0" i="1">
                          <a:latin typeface="Cambria Math" panose="02040503050406030204" pitchFamily="18" charset="0"/>
                        </a:rPr>
                        <m:t>𝑓</m:t>
                      </m:r>
                      <m:d>
                        <m:dPr>
                          <m:ctrlPr>
                            <a:rPr lang="hr-HR" sz="2000" b="0" i="1">
                              <a:latin typeface="Cambria Math" panose="02040503050406030204" pitchFamily="18" charset="0"/>
                            </a:rPr>
                          </m:ctrlPr>
                        </m:dPr>
                        <m:e>
                          <m:r>
                            <a:rPr lang="hr-HR" sz="2000" b="1" i="0">
                              <a:latin typeface="Cambria Math" panose="02040503050406030204" pitchFamily="18" charset="0"/>
                            </a:rPr>
                            <m:t>𝐋</m:t>
                          </m:r>
                          <m:d>
                            <m:dPr>
                              <m:ctrlPr>
                                <a:rPr lang="hr-HR" sz="2000" b="1" i="1">
                                  <a:latin typeface="Cambria Math" panose="02040503050406030204" pitchFamily="18" charset="0"/>
                                </a:rPr>
                              </m:ctrlPr>
                            </m:dPr>
                            <m:e>
                              <m:r>
                                <a:rPr lang="hr-HR" sz="2000" b="0" i="1">
                                  <a:latin typeface="Cambria Math" panose="02040503050406030204" pitchFamily="18" charset="0"/>
                                </a:rPr>
                                <m:t>𝑖</m:t>
                              </m:r>
                            </m:e>
                          </m:d>
                        </m:e>
                      </m:d>
                      <m:r>
                        <a:rPr lang="hr-HR" sz="2000" b="0" i="0">
                          <a:latin typeface="Cambria Math" panose="02040503050406030204" pitchFamily="18" charset="0"/>
                        </a:rPr>
                        <m:t>, </m:t>
                      </m:r>
                      <m:r>
                        <a:rPr lang="hr-HR" sz="2000" b="0" i="1">
                          <a:latin typeface="Cambria Math" panose="02040503050406030204" pitchFamily="18" charset="0"/>
                        </a:rPr>
                        <m:t>𝑖</m:t>
                      </m:r>
                      <m:r>
                        <a:rPr lang="hr-HR" sz="2000" b="0" i="0">
                          <a:latin typeface="Cambria Math" panose="02040503050406030204" pitchFamily="18" charset="0"/>
                        </a:rPr>
                        <m:t>≥0</m:t>
                      </m:r>
                    </m:oMath>
                  </m:oMathPara>
                </a14:m>
                <a:endParaRPr lang="hr-HR" sz="2000" dirty="0"/>
              </a:p>
            </p:txBody>
          </p:sp>
        </mc:Choice>
        <mc:Fallback>
          <p:sp>
            <p:nvSpPr>
              <p:cNvPr id="10" name="Pravokutnik 9"/>
              <p:cNvSpPr>
                <a:spLocks noRot="1" noChangeAspect="1" noMove="1" noResize="1" noEditPoints="1" noAdjustHandles="1" noChangeArrowheads="1" noChangeShapeType="1" noTextEdit="1"/>
              </p:cNvSpPr>
              <p:nvPr/>
            </p:nvSpPr>
            <p:spPr>
              <a:xfrm>
                <a:off x="2592925" y="3986549"/>
                <a:ext cx="2965620" cy="439736"/>
              </a:xfrm>
              <a:prstGeom prst="rect">
                <a:avLst/>
              </a:prstGeom>
              <a:blipFill>
                <a:blip r:embed="rId4"/>
                <a:stretch>
                  <a:fillRect b="-9722"/>
                </a:stretch>
              </a:blipFill>
            </p:spPr>
            <p:txBody>
              <a:bodyPr/>
              <a:lstStyle/>
              <a:p>
                <a:r>
                  <a:rPr lang="hr-HR">
                    <a:noFill/>
                  </a:rPr>
                  <a:t> </a:t>
                </a:r>
              </a:p>
            </p:txBody>
          </p:sp>
        </mc:Fallback>
      </mc:AlternateContent>
      <mc:AlternateContent xmlns:mc="http://schemas.openxmlformats.org/markup-compatibility/2006">
        <mc:Choice xmlns:a14="http://schemas.microsoft.com/office/drawing/2010/main" Requires="a14">
          <p:sp>
            <p:nvSpPr>
              <p:cNvPr id="11" name="Pravokutnik 10"/>
              <p:cNvSpPr/>
              <p:nvPr/>
            </p:nvSpPr>
            <p:spPr>
              <a:xfrm>
                <a:off x="2592925" y="4500635"/>
                <a:ext cx="2965620" cy="43973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hr-HR" sz="2000" b="1" smtClean="0">
                          <a:latin typeface="Cambria Math" panose="02040503050406030204" pitchFamily="18" charset="0"/>
                        </a:rPr>
                        <m:t>𝐋</m:t>
                      </m:r>
                      <m:d>
                        <m:dPr>
                          <m:ctrlPr>
                            <a:rPr lang="hr-HR" sz="2000" b="1" i="1">
                              <a:latin typeface="Cambria Math" panose="02040503050406030204" pitchFamily="18" charset="0"/>
                            </a:rPr>
                          </m:ctrlPr>
                        </m:dPr>
                        <m:e>
                          <m:r>
                            <a:rPr lang="hr-HR" sz="2000" b="0" i="1">
                              <a:latin typeface="Cambria Math" panose="02040503050406030204" pitchFamily="18" charset="0"/>
                            </a:rPr>
                            <m:t>𝑖</m:t>
                          </m:r>
                          <m:r>
                            <a:rPr lang="hr-HR" sz="2000" b="0" i="0">
                              <a:latin typeface="Cambria Math" panose="02040503050406030204" pitchFamily="18" charset="0"/>
                            </a:rPr>
                            <m:t>+1</m:t>
                          </m:r>
                        </m:e>
                      </m:d>
                      <m:r>
                        <a:rPr lang="hr-HR" sz="2000" b="0" i="0">
                          <a:latin typeface="Cambria Math" panose="02040503050406030204" pitchFamily="18" charset="0"/>
                        </a:rPr>
                        <m:t>=</m:t>
                      </m:r>
                      <m:r>
                        <a:rPr lang="hr-HR" sz="2000" b="0" i="1">
                          <a:latin typeface="Cambria Math" panose="02040503050406030204" pitchFamily="18" charset="0"/>
                        </a:rPr>
                        <m:t>𝑓</m:t>
                      </m:r>
                      <m:d>
                        <m:dPr>
                          <m:ctrlPr>
                            <a:rPr lang="hr-HR" sz="2000" b="0" i="1">
                              <a:latin typeface="Cambria Math" panose="02040503050406030204" pitchFamily="18" charset="0"/>
                            </a:rPr>
                          </m:ctrlPr>
                        </m:dPr>
                        <m:e>
                          <m:r>
                            <a:rPr lang="hr-HR" sz="2000" b="1" i="0">
                              <a:latin typeface="Cambria Math" panose="02040503050406030204" pitchFamily="18" charset="0"/>
                            </a:rPr>
                            <m:t>𝐒</m:t>
                          </m:r>
                          <m:d>
                            <m:dPr>
                              <m:ctrlPr>
                                <a:rPr lang="hr-HR" sz="2000" b="1" i="1">
                                  <a:latin typeface="Cambria Math" panose="02040503050406030204" pitchFamily="18" charset="0"/>
                                </a:rPr>
                              </m:ctrlPr>
                            </m:dPr>
                            <m:e>
                              <m:r>
                                <a:rPr lang="hr-HR" sz="2000" b="0" i="1">
                                  <a:latin typeface="Cambria Math" panose="02040503050406030204" pitchFamily="18" charset="0"/>
                                </a:rPr>
                                <m:t>𝑖</m:t>
                              </m:r>
                            </m:e>
                          </m:d>
                        </m:e>
                      </m:d>
                      <m:r>
                        <a:rPr lang="hr-HR" sz="2000" b="0" i="0">
                          <a:latin typeface="Cambria Math" panose="02040503050406030204" pitchFamily="18" charset="0"/>
                        </a:rPr>
                        <m:t>, </m:t>
                      </m:r>
                      <m:r>
                        <a:rPr lang="hr-HR" sz="2000" b="0" i="1">
                          <a:latin typeface="Cambria Math" panose="02040503050406030204" pitchFamily="18" charset="0"/>
                        </a:rPr>
                        <m:t>𝑖</m:t>
                      </m:r>
                      <m:r>
                        <a:rPr lang="hr-HR" sz="2000" b="0" i="0">
                          <a:latin typeface="Cambria Math" panose="02040503050406030204" pitchFamily="18" charset="0"/>
                        </a:rPr>
                        <m:t>≥0</m:t>
                      </m:r>
                    </m:oMath>
                  </m:oMathPara>
                </a14:m>
                <a:endParaRPr lang="hr-HR" sz="2000" dirty="0"/>
              </a:p>
            </p:txBody>
          </p:sp>
        </mc:Choice>
        <mc:Fallback>
          <p:sp>
            <p:nvSpPr>
              <p:cNvPr id="11" name="Pravokutnik 10"/>
              <p:cNvSpPr>
                <a:spLocks noRot="1" noChangeAspect="1" noMove="1" noResize="1" noEditPoints="1" noAdjustHandles="1" noChangeArrowheads="1" noChangeShapeType="1" noTextEdit="1"/>
              </p:cNvSpPr>
              <p:nvPr/>
            </p:nvSpPr>
            <p:spPr>
              <a:xfrm>
                <a:off x="2592925" y="4500635"/>
                <a:ext cx="2965620" cy="439736"/>
              </a:xfrm>
              <a:prstGeom prst="rect">
                <a:avLst/>
              </a:prstGeom>
              <a:blipFill>
                <a:blip r:embed="rId5"/>
                <a:stretch>
                  <a:fillRect b="-9722"/>
                </a:stretch>
              </a:blipFill>
            </p:spPr>
            <p:txBody>
              <a:bodyPr/>
              <a:lstStyle/>
              <a:p>
                <a:r>
                  <a:rPr lang="hr-HR">
                    <a:noFill/>
                  </a:rPr>
                  <a:t> </a:t>
                </a:r>
              </a:p>
            </p:txBody>
          </p:sp>
        </mc:Fallback>
      </mc:AlternateContent>
      <mc:AlternateContent xmlns:mc="http://schemas.openxmlformats.org/markup-compatibility/2006">
        <mc:Choice xmlns:a14="http://schemas.microsoft.com/office/drawing/2010/main" Requires="a14">
          <p:sp>
            <p:nvSpPr>
              <p:cNvPr id="12" name="Pravokutnik 11"/>
              <p:cNvSpPr/>
              <p:nvPr/>
            </p:nvSpPr>
            <p:spPr>
              <a:xfrm>
                <a:off x="2592925" y="5014721"/>
                <a:ext cx="3255443" cy="49289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func>
                        <m:funcPr>
                          <m:ctrlPr>
                            <a:rPr lang="hr-HR" sz="2000" i="1" smtClean="0">
                              <a:latin typeface="Cambria Math" panose="02040503050406030204" pitchFamily="18" charset="0"/>
                            </a:rPr>
                          </m:ctrlPr>
                        </m:funcPr>
                        <m:fName>
                          <m:limLow>
                            <m:limLowPr>
                              <m:ctrlPr>
                                <a:rPr lang="hr-HR" sz="2000" i="1">
                                  <a:latin typeface="Cambria Math" panose="02040503050406030204" pitchFamily="18" charset="0"/>
                                </a:rPr>
                              </m:ctrlPr>
                            </m:limLowPr>
                            <m:e>
                              <m:r>
                                <m:rPr>
                                  <m:sty m:val="p"/>
                                </m:rPr>
                                <a:rPr lang="hr-HR" sz="2000">
                                  <a:latin typeface="Cambria Math" panose="02040503050406030204" pitchFamily="18" charset="0"/>
                                </a:rPr>
                                <m:t>lim</m:t>
                              </m:r>
                            </m:e>
                            <m:lim>
                              <m:r>
                                <a:rPr lang="hr-HR" sz="2000" i="1">
                                  <a:latin typeface="Cambria Math" panose="02040503050406030204" pitchFamily="18" charset="0"/>
                                </a:rPr>
                                <m:t>𝑛</m:t>
                              </m:r>
                              <m:r>
                                <a:rPr lang="hr-HR" sz="2000" i="0">
                                  <a:latin typeface="Cambria Math" panose="02040503050406030204" pitchFamily="18" charset="0"/>
                                </a:rPr>
                                <m:t>→∞</m:t>
                              </m:r>
                            </m:lim>
                          </m:limLow>
                        </m:fName>
                        <m:e>
                          <m:r>
                            <a:rPr lang="hr-HR" sz="2000" b="1" i="0">
                              <a:latin typeface="Cambria Math" panose="02040503050406030204" pitchFamily="18" charset="0"/>
                            </a:rPr>
                            <m:t>𝐒</m:t>
                          </m:r>
                          <m:d>
                            <m:dPr>
                              <m:ctrlPr>
                                <a:rPr lang="hr-HR" sz="2000" b="1" i="1">
                                  <a:latin typeface="Cambria Math" panose="02040503050406030204" pitchFamily="18" charset="0"/>
                                </a:rPr>
                              </m:ctrlPr>
                            </m:dPr>
                            <m:e>
                              <m:r>
                                <a:rPr lang="hr-HR" sz="2000" b="0" i="1">
                                  <a:latin typeface="Cambria Math" panose="02040503050406030204" pitchFamily="18" charset="0"/>
                                </a:rPr>
                                <m:t>𝑛</m:t>
                              </m:r>
                            </m:e>
                          </m:d>
                        </m:e>
                      </m:func>
                      <m:r>
                        <a:rPr lang="hr-HR" sz="2000" b="0" i="0">
                          <a:latin typeface="Cambria Math" panose="02040503050406030204" pitchFamily="18" charset="0"/>
                        </a:rPr>
                        <m:t>= ?</m:t>
                      </m:r>
                      <m:r>
                        <a:rPr lang="hr-HR" sz="2000" b="0" i="0" smtClean="0">
                          <a:latin typeface="Cambria Math" panose="02040503050406030204" pitchFamily="18" charset="0"/>
                        </a:rPr>
                        <m:t>,</m:t>
                      </m:r>
                      <m:func>
                        <m:funcPr>
                          <m:ctrlPr>
                            <a:rPr lang="hr-HR" sz="2000" i="1">
                              <a:latin typeface="Cambria Math" panose="02040503050406030204" pitchFamily="18" charset="0"/>
                            </a:rPr>
                          </m:ctrlPr>
                        </m:funcPr>
                        <m:fName>
                          <m:limLow>
                            <m:limLowPr>
                              <m:ctrlPr>
                                <a:rPr lang="hr-HR" sz="2000" i="1">
                                  <a:latin typeface="Cambria Math" panose="02040503050406030204" pitchFamily="18" charset="0"/>
                                </a:rPr>
                              </m:ctrlPr>
                            </m:limLowPr>
                            <m:e>
                              <m:r>
                                <m:rPr>
                                  <m:sty m:val="p"/>
                                </m:rPr>
                                <a:rPr lang="hr-HR" sz="2000">
                                  <a:latin typeface="Cambria Math" panose="02040503050406030204" pitchFamily="18" charset="0"/>
                                </a:rPr>
                                <m:t>lim</m:t>
                              </m:r>
                            </m:e>
                            <m:lim>
                              <m:r>
                                <a:rPr lang="hr-HR" sz="2000" i="1">
                                  <a:latin typeface="Cambria Math" panose="02040503050406030204" pitchFamily="18" charset="0"/>
                                </a:rPr>
                                <m:t>𝑛</m:t>
                              </m:r>
                              <m:r>
                                <a:rPr lang="hr-HR" sz="2000">
                                  <a:latin typeface="Cambria Math" panose="02040503050406030204" pitchFamily="18" charset="0"/>
                                </a:rPr>
                                <m:t>→∞</m:t>
                              </m:r>
                            </m:lim>
                          </m:limLow>
                        </m:fName>
                        <m:e>
                          <m:r>
                            <a:rPr lang="hr-HR" sz="2000" b="1">
                              <a:latin typeface="Cambria Math" panose="02040503050406030204" pitchFamily="18" charset="0"/>
                            </a:rPr>
                            <m:t>𝐋</m:t>
                          </m:r>
                          <m:d>
                            <m:dPr>
                              <m:ctrlPr>
                                <a:rPr lang="hr-HR" sz="2000" b="1" i="1">
                                  <a:latin typeface="Cambria Math" panose="02040503050406030204" pitchFamily="18" charset="0"/>
                                </a:rPr>
                              </m:ctrlPr>
                            </m:dPr>
                            <m:e>
                              <m:r>
                                <a:rPr lang="hr-HR" sz="2000" i="1">
                                  <a:latin typeface="Cambria Math" panose="02040503050406030204" pitchFamily="18" charset="0"/>
                                </a:rPr>
                                <m:t>𝑛</m:t>
                              </m:r>
                            </m:e>
                          </m:d>
                        </m:e>
                      </m:func>
                      <m:r>
                        <a:rPr lang="hr-HR" sz="2000">
                          <a:latin typeface="Cambria Math" panose="02040503050406030204" pitchFamily="18" charset="0"/>
                        </a:rPr>
                        <m:t>= ?</m:t>
                      </m:r>
                    </m:oMath>
                  </m:oMathPara>
                </a14:m>
                <a:endParaRPr lang="hr-HR" sz="2000" dirty="0"/>
              </a:p>
            </p:txBody>
          </p:sp>
        </mc:Choice>
        <mc:Fallback>
          <p:sp>
            <p:nvSpPr>
              <p:cNvPr id="12" name="Pravokutnik 11"/>
              <p:cNvSpPr>
                <a:spLocks noRot="1" noChangeAspect="1" noMove="1" noResize="1" noEditPoints="1" noAdjustHandles="1" noChangeArrowheads="1" noChangeShapeType="1" noTextEdit="1"/>
              </p:cNvSpPr>
              <p:nvPr/>
            </p:nvSpPr>
            <p:spPr>
              <a:xfrm>
                <a:off x="2592925" y="5014721"/>
                <a:ext cx="3255443" cy="492892"/>
              </a:xfrm>
              <a:prstGeom prst="rect">
                <a:avLst/>
              </a:prstGeom>
              <a:blipFill>
                <a:blip r:embed="rId6"/>
                <a:stretch>
                  <a:fillRect/>
                </a:stretch>
              </a:blipFill>
            </p:spPr>
            <p:txBody>
              <a:bodyPr/>
              <a:lstStyle/>
              <a:p>
                <a:r>
                  <a:rPr lang="hr-HR">
                    <a:noFill/>
                  </a:rPr>
                  <a:t> </a:t>
                </a:r>
              </a:p>
            </p:txBody>
          </p:sp>
        </mc:Fallback>
      </mc:AlternateContent>
      <p:sp>
        <p:nvSpPr>
          <p:cNvPr id="14" name="Rezervirano mjesto sadržaja 2"/>
          <p:cNvSpPr txBox="1">
            <a:spLocks/>
          </p:cNvSpPr>
          <p:nvPr/>
        </p:nvSpPr>
        <p:spPr>
          <a:xfrm>
            <a:off x="6417839" y="1461268"/>
            <a:ext cx="3302303" cy="36653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Riješenost</a:t>
            </a:r>
          </a:p>
        </p:txBody>
      </p:sp>
      <mc:AlternateContent xmlns:mc="http://schemas.openxmlformats.org/markup-compatibility/2006" xmlns:a14="http://schemas.microsoft.com/office/drawing/2010/main">
        <mc:Choice Requires="a14">
          <p:sp>
            <p:nvSpPr>
              <p:cNvPr id="15" name="Pravokutnik 14"/>
              <p:cNvSpPr/>
              <p:nvPr/>
            </p:nvSpPr>
            <p:spPr>
              <a:xfrm>
                <a:off x="6631527" y="1751925"/>
                <a:ext cx="5547359" cy="1340880"/>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hr-HR" b="1"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r>
                        <a:rPr lang="hr-HR" b="0" i="0">
                          <a:latin typeface="Cambria Math" panose="02040503050406030204" pitchFamily="18" charset="0"/>
                        </a:rPr>
                        <m:t>=</m:t>
                      </m:r>
                      <m:d>
                        <m:dPr>
                          <m:begChr m:val="{"/>
                          <m:endChr m:val=""/>
                          <m:ctrlPr>
                            <a:rPr lang="hr-HR" b="0" i="1">
                              <a:latin typeface="Cambria Math" panose="02040503050406030204" pitchFamily="18" charset="0"/>
                            </a:rPr>
                          </m:ctrlPr>
                        </m:dPr>
                        <m:e>
                          <m:eqArr>
                            <m:eqArrPr>
                              <m:ctrlPr>
                                <a:rPr lang="hr-HR" b="0" i="1">
                                  <a:latin typeface="Cambria Math" panose="02040503050406030204" pitchFamily="18" charset="0"/>
                                </a:rPr>
                              </m:ctrlPr>
                            </m:eqArrPr>
                            <m:e>
                              <m:r>
                                <a:rPr lang="hr-HR" b="0" i="0">
                                  <a:latin typeface="Cambria Math" panose="02040503050406030204" pitchFamily="18" charset="0"/>
                                </a:rPr>
                                <m:t>−1, &amp; </m:t>
                              </m:r>
                              <m:r>
                                <a:rPr lang="hr-HR" b="0" i="1">
                                  <a:latin typeface="Cambria Math" panose="02040503050406030204" pitchFamily="18" charset="0"/>
                                </a:rPr>
                                <m:t>𝑢</m:t>
                              </m:r>
                              <m:r>
                                <a:rPr lang="hr-HR" b="0" i="0">
                                  <a:latin typeface="Cambria Math" panose="02040503050406030204" pitchFamily="18" charset="0"/>
                                </a:rPr>
                                <m:t>č</m:t>
                              </m:r>
                              <m:r>
                                <a:rPr lang="hr-HR" b="0" i="1">
                                  <a:latin typeface="Cambria Math" panose="02040503050406030204" pitchFamily="18" charset="0"/>
                                </a:rPr>
                                <m:t>𝑒𝑛𝑖𝑘</m:t>
                              </m:r>
                              <m:r>
                                <a:rPr lang="hr-HR" b="0" i="0">
                                  <a:latin typeface="Cambria Math" panose="02040503050406030204" pitchFamily="18" charset="0"/>
                                </a:rPr>
                                <m:t> </m:t>
                              </m:r>
                              <m:r>
                                <a:rPr lang="hr-HR" b="0" i="1">
                                  <a:latin typeface="Cambria Math" panose="02040503050406030204" pitchFamily="18" charset="0"/>
                                </a:rPr>
                                <m:t>𝑖</m:t>
                              </m:r>
                              <m:r>
                                <a:rPr lang="hr-HR" b="0" i="0">
                                  <a:latin typeface="Cambria Math" panose="02040503050406030204" pitchFamily="18" charset="0"/>
                                </a:rPr>
                                <m:t> </m:t>
                              </m:r>
                              <m:r>
                                <a:rPr lang="hr-HR" b="0" i="1">
                                  <a:latin typeface="Cambria Math" panose="02040503050406030204" pitchFamily="18" charset="0"/>
                                </a:rPr>
                                <m:t>𝑛𝑖𝑗𝑒</m:t>
                              </m:r>
                              <m:r>
                                <a:rPr lang="hr-HR" b="0" i="0">
                                  <a:latin typeface="Cambria Math" panose="02040503050406030204" pitchFamily="18" charset="0"/>
                                </a:rPr>
                                <m:t> </m:t>
                              </m:r>
                              <m:r>
                                <a:rPr lang="hr-HR" b="0" i="1">
                                  <a:latin typeface="Cambria Math" panose="02040503050406030204" pitchFamily="18" charset="0"/>
                                </a:rPr>
                                <m:t>𝑢𝑠𝑝𝑗𝑒</m:t>
                              </m:r>
                              <m:r>
                                <a:rPr lang="hr-HR" b="0" i="0">
                                  <a:latin typeface="Cambria Math" panose="02040503050406030204" pitchFamily="18" charset="0"/>
                                </a:rPr>
                                <m:t>š</m:t>
                              </m:r>
                              <m:r>
                                <a:rPr lang="hr-HR" b="0" i="1">
                                  <a:latin typeface="Cambria Math" panose="02040503050406030204" pitchFamily="18" charset="0"/>
                                </a:rPr>
                                <m:t>𝑛𝑜</m:t>
                              </m:r>
                              <m:r>
                                <a:rPr lang="hr-HR" b="0" i="0">
                                  <a:latin typeface="Cambria Math" panose="02040503050406030204" pitchFamily="18" charset="0"/>
                                </a:rPr>
                                <m:t> </m:t>
                              </m:r>
                              <m:r>
                                <a:rPr lang="hr-HR" b="0" i="1">
                                  <a:latin typeface="Cambria Math" panose="02040503050406030204" pitchFamily="18" charset="0"/>
                                </a:rPr>
                                <m:t>𝑟𝑖𝑗𝑒</m:t>
                              </m:r>
                              <m:r>
                                <a:rPr lang="hr-HR" b="0" i="0">
                                  <a:latin typeface="Cambria Math" panose="02040503050406030204" pitchFamily="18" charset="0"/>
                                </a:rPr>
                                <m:t>š</m:t>
                              </m:r>
                              <m:r>
                                <a:rPr lang="hr-HR" b="0" i="1">
                                  <a:latin typeface="Cambria Math" panose="02040503050406030204" pitchFamily="18" charset="0"/>
                                </a:rPr>
                                <m:t>𝑖𝑜</m:t>
                              </m:r>
                              <m:r>
                                <a:rPr lang="hr-HR" b="0" i="0">
                                  <a:latin typeface="Cambria Math" panose="02040503050406030204" pitchFamily="18" charset="0"/>
                                </a:rPr>
                                <m:t> </m:t>
                              </m:r>
                              <m:r>
                                <a:rPr lang="hr-HR" b="0" i="1">
                                  <a:latin typeface="Cambria Math" panose="02040503050406030204" pitchFamily="18" charset="0"/>
                                </a:rPr>
                                <m:t>𝑧𝑎𝑑𝑎𝑡𝑎𝑘</m:t>
                              </m:r>
                              <m:r>
                                <a:rPr lang="hr-HR" b="0" i="0">
                                  <a:latin typeface="Cambria Math" panose="02040503050406030204" pitchFamily="18" charset="0"/>
                                </a:rPr>
                                <m:t> </m:t>
                              </m:r>
                              <m:r>
                                <a:rPr lang="hr-HR" b="0" i="1">
                                  <a:latin typeface="Cambria Math" panose="02040503050406030204" pitchFamily="18" charset="0"/>
                                </a:rPr>
                                <m:t>𝑗</m:t>
                              </m:r>
                              <m:r>
                                <a:rPr lang="hr-HR" b="0" i="0">
                                  <a:latin typeface="Cambria Math" panose="02040503050406030204" pitchFamily="18" charset="0"/>
                                </a:rPr>
                                <m:t> </m:t>
                              </m:r>
                            </m:e>
                            <m:e>
                              <m:r>
                                <a:rPr lang="hr-HR" b="0" i="0">
                                  <a:latin typeface="Cambria Math" panose="02040503050406030204" pitchFamily="18" charset="0"/>
                                </a:rPr>
                                <m:t>0, &amp;</m:t>
                              </m:r>
                              <m:r>
                                <a:rPr lang="hr-HR" b="0" i="1">
                                  <a:latin typeface="Cambria Math" panose="02040503050406030204" pitchFamily="18" charset="0"/>
                                </a:rPr>
                                <m:t>𝑢</m:t>
                              </m:r>
                              <m:r>
                                <a:rPr lang="hr-HR" b="0" i="0">
                                  <a:latin typeface="Cambria Math" panose="02040503050406030204" pitchFamily="18" charset="0"/>
                                </a:rPr>
                                <m:t>č</m:t>
                              </m:r>
                              <m:r>
                                <a:rPr lang="hr-HR" b="0" i="1">
                                  <a:latin typeface="Cambria Math" panose="02040503050406030204" pitchFamily="18" charset="0"/>
                                </a:rPr>
                                <m:t>𝑒𝑛𝑖𝑘</m:t>
                              </m:r>
                              <m:r>
                                <a:rPr lang="hr-HR" b="0" i="0">
                                  <a:latin typeface="Cambria Math" panose="02040503050406030204" pitchFamily="18" charset="0"/>
                                </a:rPr>
                                <m:t> </m:t>
                              </m:r>
                              <m:r>
                                <a:rPr lang="hr-HR" b="0" i="1">
                                  <a:latin typeface="Cambria Math" panose="02040503050406030204" pitchFamily="18" charset="0"/>
                                </a:rPr>
                                <m:t>𝑖</m:t>
                              </m:r>
                              <m:r>
                                <a:rPr lang="hr-HR" b="0" i="0">
                                  <a:latin typeface="Cambria Math" panose="02040503050406030204" pitchFamily="18" charset="0"/>
                                </a:rPr>
                                <m:t> </m:t>
                              </m:r>
                              <m:r>
                                <a:rPr lang="hr-HR" b="0" i="1">
                                  <a:latin typeface="Cambria Math" panose="02040503050406030204" pitchFamily="18" charset="0"/>
                                </a:rPr>
                                <m:t>𝑛𝑖𝑗𝑒</m:t>
                              </m:r>
                              <m:r>
                                <a:rPr lang="hr-HR" b="0" i="0">
                                  <a:latin typeface="Cambria Math" panose="02040503050406030204" pitchFamily="18" charset="0"/>
                                </a:rPr>
                                <m:t> </m:t>
                              </m:r>
                              <m:r>
                                <a:rPr lang="hr-HR" b="0" i="1">
                                  <a:latin typeface="Cambria Math" panose="02040503050406030204" pitchFamily="18" charset="0"/>
                                </a:rPr>
                                <m:t>𝑟𝑖𝑗𝑒</m:t>
                              </m:r>
                              <m:r>
                                <a:rPr lang="hr-HR" b="0" i="0">
                                  <a:latin typeface="Cambria Math" panose="02040503050406030204" pitchFamily="18" charset="0"/>
                                </a:rPr>
                                <m:t>š</m:t>
                              </m:r>
                              <m:r>
                                <a:rPr lang="hr-HR" b="0" i="1">
                                  <a:latin typeface="Cambria Math" panose="02040503050406030204" pitchFamily="18" charset="0"/>
                                </a:rPr>
                                <m:t>𝑎𝑣𝑎𝑜</m:t>
                              </m:r>
                              <m:r>
                                <a:rPr lang="hr-HR" b="0" i="0">
                                  <a:latin typeface="Cambria Math" panose="02040503050406030204" pitchFamily="18" charset="0"/>
                                </a:rPr>
                                <m:t> </m:t>
                              </m:r>
                              <m:r>
                                <a:rPr lang="hr-HR" b="0" i="1">
                                  <a:latin typeface="Cambria Math" panose="02040503050406030204" pitchFamily="18" charset="0"/>
                                </a:rPr>
                                <m:t>𝑧𝑎𝑑𝑎𝑡𝑎𝑘</m:t>
                              </m:r>
                              <m:r>
                                <a:rPr lang="hr-HR" b="0" i="0">
                                  <a:latin typeface="Cambria Math" panose="02040503050406030204" pitchFamily="18" charset="0"/>
                                </a:rPr>
                                <m:t> </m:t>
                              </m:r>
                              <m:r>
                                <a:rPr lang="hr-HR" b="0" i="1">
                                  <a:latin typeface="Cambria Math" panose="02040503050406030204" pitchFamily="18" charset="0"/>
                                </a:rPr>
                                <m:t>𝑗</m:t>
                              </m:r>
                            </m:e>
                            <m:e>
                              <m:r>
                                <a:rPr lang="hr-HR" b="0" i="0">
                                  <a:latin typeface="Cambria Math" panose="02040503050406030204" pitchFamily="18" charset="0"/>
                                </a:rPr>
                                <m:t>1, &amp;</m:t>
                              </m:r>
                              <m:r>
                                <a:rPr lang="hr-HR" b="0" i="1">
                                  <a:latin typeface="Cambria Math" panose="02040503050406030204" pitchFamily="18" charset="0"/>
                                </a:rPr>
                                <m:t>𝑢</m:t>
                              </m:r>
                              <m:r>
                                <a:rPr lang="hr-HR" b="0" i="0">
                                  <a:latin typeface="Cambria Math" panose="02040503050406030204" pitchFamily="18" charset="0"/>
                                </a:rPr>
                                <m:t>č</m:t>
                              </m:r>
                              <m:r>
                                <a:rPr lang="hr-HR" b="0" i="1">
                                  <a:latin typeface="Cambria Math" panose="02040503050406030204" pitchFamily="18" charset="0"/>
                                </a:rPr>
                                <m:t>𝑒𝑛𝑖𝑘</m:t>
                              </m:r>
                              <m:r>
                                <a:rPr lang="hr-HR" b="0" i="0">
                                  <a:latin typeface="Cambria Math" panose="02040503050406030204" pitchFamily="18" charset="0"/>
                                </a:rPr>
                                <m:t> </m:t>
                              </m:r>
                              <m:r>
                                <a:rPr lang="hr-HR" b="0" i="1">
                                  <a:latin typeface="Cambria Math" panose="02040503050406030204" pitchFamily="18" charset="0"/>
                                </a:rPr>
                                <m:t>𝑖</m:t>
                              </m:r>
                              <m:r>
                                <a:rPr lang="hr-HR" b="0" i="0">
                                  <a:latin typeface="Cambria Math" panose="02040503050406030204" pitchFamily="18" charset="0"/>
                                </a:rPr>
                                <m:t> </m:t>
                              </m:r>
                              <m:r>
                                <a:rPr lang="hr-HR" b="0" i="1">
                                  <a:latin typeface="Cambria Math" panose="02040503050406030204" pitchFamily="18" charset="0"/>
                                </a:rPr>
                                <m:t>𝑗𝑒</m:t>
                              </m:r>
                              <m:r>
                                <a:rPr lang="hr-HR" b="0" i="0">
                                  <a:latin typeface="Cambria Math" panose="02040503050406030204" pitchFamily="18" charset="0"/>
                                </a:rPr>
                                <m:t> </m:t>
                              </m:r>
                              <m:r>
                                <a:rPr lang="hr-HR" b="0" i="1">
                                  <a:latin typeface="Cambria Math" panose="02040503050406030204" pitchFamily="18" charset="0"/>
                                </a:rPr>
                                <m:t>𝑢𝑠𝑝𝑗𝑒</m:t>
                              </m:r>
                              <m:r>
                                <a:rPr lang="hr-HR" b="0" i="0">
                                  <a:latin typeface="Cambria Math" panose="02040503050406030204" pitchFamily="18" charset="0"/>
                                </a:rPr>
                                <m:t>š</m:t>
                              </m:r>
                              <m:r>
                                <a:rPr lang="hr-HR" b="0" i="1">
                                  <a:latin typeface="Cambria Math" panose="02040503050406030204" pitchFamily="18" charset="0"/>
                                </a:rPr>
                                <m:t>𝑛𝑜</m:t>
                              </m:r>
                              <m:r>
                                <a:rPr lang="hr-HR" b="0" i="0">
                                  <a:latin typeface="Cambria Math" panose="02040503050406030204" pitchFamily="18" charset="0"/>
                                </a:rPr>
                                <m:t> </m:t>
                              </m:r>
                              <m:r>
                                <a:rPr lang="hr-HR" b="0" i="1">
                                  <a:latin typeface="Cambria Math" panose="02040503050406030204" pitchFamily="18" charset="0"/>
                                </a:rPr>
                                <m:t>𝑟𝑖𝑗𝑒</m:t>
                              </m:r>
                              <m:r>
                                <a:rPr lang="hr-HR" b="0" i="0">
                                  <a:latin typeface="Cambria Math" panose="02040503050406030204" pitchFamily="18" charset="0"/>
                                </a:rPr>
                                <m:t>š</m:t>
                              </m:r>
                              <m:r>
                                <a:rPr lang="hr-HR" b="0" i="1">
                                  <a:latin typeface="Cambria Math" panose="02040503050406030204" pitchFamily="18" charset="0"/>
                                </a:rPr>
                                <m:t>𝑖𝑜</m:t>
                              </m:r>
                              <m:r>
                                <a:rPr lang="hr-HR" b="0" i="0">
                                  <a:latin typeface="Cambria Math" panose="02040503050406030204" pitchFamily="18" charset="0"/>
                                </a:rPr>
                                <m:t> </m:t>
                              </m:r>
                              <m:r>
                                <a:rPr lang="hr-HR" b="0" i="1">
                                  <a:latin typeface="Cambria Math" panose="02040503050406030204" pitchFamily="18" charset="0"/>
                                </a:rPr>
                                <m:t>𝑧𝑎𝑑𝑎𝑡𝑎𝑘</m:t>
                              </m:r>
                              <m:r>
                                <a:rPr lang="hr-HR" b="0" i="0">
                                  <a:latin typeface="Cambria Math" panose="02040503050406030204" pitchFamily="18" charset="0"/>
                                </a:rPr>
                                <m:t> </m:t>
                              </m:r>
                              <m:r>
                                <a:rPr lang="hr-HR" b="0" i="1">
                                  <a:latin typeface="Cambria Math" panose="02040503050406030204" pitchFamily="18" charset="0"/>
                                </a:rPr>
                                <m:t>𝑗</m:t>
                              </m:r>
                            </m:e>
                            <m:e>
                              <m:r>
                                <a:rPr lang="hr-HR" b="0" i="0">
                                  <a:latin typeface="Cambria Math" panose="02040503050406030204" pitchFamily="18" charset="0"/>
                                </a:rPr>
                                <m:t>&amp; </m:t>
                              </m:r>
                            </m:e>
                          </m:eqArr>
                        </m:e>
                      </m:d>
                    </m:oMath>
                  </m:oMathPara>
                </a14:m>
                <a:endParaRPr lang="hr-HR" dirty="0"/>
              </a:p>
            </p:txBody>
          </p:sp>
        </mc:Choice>
        <mc:Fallback xmlns="">
          <p:sp>
            <p:nvSpPr>
              <p:cNvPr id="15" name="Pravokutnik 14"/>
              <p:cNvSpPr>
                <a:spLocks noRot="1" noChangeAspect="1" noMove="1" noResize="1" noEditPoints="1" noAdjustHandles="1" noChangeArrowheads="1" noChangeShapeType="1" noTextEdit="1"/>
              </p:cNvSpPr>
              <p:nvPr/>
            </p:nvSpPr>
            <p:spPr>
              <a:xfrm>
                <a:off x="6631527" y="1751925"/>
                <a:ext cx="5547359" cy="1340880"/>
              </a:xfrm>
              <a:prstGeom prst="rect">
                <a:avLst/>
              </a:prstGeom>
              <a:blipFill>
                <a:blip r:embed="rId7"/>
                <a:stretch>
                  <a:fillRect/>
                </a:stretch>
              </a:blipFill>
            </p:spPr>
            <p:txBody>
              <a:bodyPr/>
              <a:lstStyle/>
              <a:p>
                <a:r>
                  <a:rPr lang="hr-HR">
                    <a:noFill/>
                  </a:rPr>
                  <a:t> </a:t>
                </a:r>
              </a:p>
            </p:txBody>
          </p:sp>
        </mc:Fallback>
      </mc:AlternateContent>
      <p:sp>
        <p:nvSpPr>
          <p:cNvPr id="16" name="Rezervirano mjesto sadržaja 2"/>
          <p:cNvSpPr txBox="1">
            <a:spLocks/>
          </p:cNvSpPr>
          <p:nvPr/>
        </p:nvSpPr>
        <p:spPr>
          <a:xfrm>
            <a:off x="6417839" y="3087723"/>
            <a:ext cx="5428418" cy="36653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Preciznost riješenosti (vrijeme rješavanja, …)</a:t>
            </a:r>
          </a:p>
        </p:txBody>
      </p:sp>
      <mc:AlternateContent xmlns:mc="http://schemas.openxmlformats.org/markup-compatibility/2006" xmlns:a14="http://schemas.microsoft.com/office/drawing/2010/main">
        <mc:Choice Requires="a14">
          <p:sp>
            <p:nvSpPr>
              <p:cNvPr id="17" name="Pravokutnik 16"/>
              <p:cNvSpPr/>
              <p:nvPr/>
            </p:nvSpPr>
            <p:spPr>
              <a:xfrm>
                <a:off x="6417839" y="3564821"/>
                <a:ext cx="6096000" cy="710707"/>
              </a:xfrm>
              <a:prstGeom prst="rect">
                <a:avLst/>
              </a:prstGeom>
            </p:spPr>
            <p:txBody>
              <a:bodyPr>
                <a:spAutoFit/>
              </a:bodyPr>
              <a:lstStyle/>
              <a:p>
                <a:pPr/>
                <a14:m>
                  <m:oMathPara xmlns:m="http://schemas.openxmlformats.org/officeDocument/2006/math">
                    <m:oMathParaPr>
                      <m:jc m:val="centerGroup"/>
                    </m:oMathParaPr>
                    <m:oMath xmlns:m="http://schemas.openxmlformats.org/officeDocument/2006/math">
                      <m:sSub>
                        <m:sSubPr>
                          <m:ctrlPr>
                            <a:rPr lang="hr-HR" b="1" i="1">
                              <a:latin typeface="Cambria Math" panose="02040503050406030204" pitchFamily="18" charset="0"/>
                            </a:rPr>
                          </m:ctrlPr>
                        </m:sSubPr>
                        <m:e>
                          <m:r>
                            <a:rPr lang="hr-HR" b="1" i="1">
                              <a:latin typeface="Cambria Math" panose="02040503050406030204" pitchFamily="18" charset="0"/>
                            </a:rPr>
                            <m:t>𝑷</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r>
                        <a:rPr lang="hr-HR" b="0" i="0">
                          <a:latin typeface="Cambria Math" panose="02040503050406030204" pitchFamily="18" charset="0"/>
                        </a:rPr>
                        <m:t>=1−</m:t>
                      </m:r>
                      <m:f>
                        <m:fPr>
                          <m:ctrlPr>
                            <a:rPr lang="hr-HR" b="0" i="1">
                              <a:latin typeface="Cambria Math" panose="02040503050406030204" pitchFamily="18" charset="0"/>
                            </a:rPr>
                          </m:ctrlPr>
                        </m:fPr>
                        <m:num>
                          <m:func>
                            <m:funcPr>
                              <m:ctrlPr>
                                <a:rPr lang="hr-HR" b="0" i="1">
                                  <a:latin typeface="Cambria Math" panose="02040503050406030204" pitchFamily="18" charset="0"/>
                                </a:rPr>
                              </m:ctrlPr>
                            </m:funcPr>
                            <m:fName>
                              <m:r>
                                <m:rPr>
                                  <m:sty m:val="p"/>
                                </m:rPr>
                                <a:rPr lang="hr-HR" b="0" i="0">
                                  <a:latin typeface="Cambria Math" panose="02040503050406030204" pitchFamily="18" charset="0"/>
                                </a:rPr>
                                <m:t>min</m:t>
                              </m:r>
                            </m:fName>
                            <m:e>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0" i="1">
                                          <a:latin typeface="Cambria Math" panose="02040503050406030204" pitchFamily="18" charset="0"/>
                                        </a:rPr>
                                        <m:t>𝑡</m:t>
                                      </m:r>
                                    </m:e>
                                    <m:sub>
                                      <m:r>
                                        <a:rPr lang="hr-HR" b="0" i="1">
                                          <a:latin typeface="Cambria Math" panose="02040503050406030204" pitchFamily="18" charset="0"/>
                                        </a:rPr>
                                        <m:t>𝑚𝑎𝑥</m:t>
                                      </m:r>
                                    </m:sub>
                                  </m:sSub>
                                  <m:r>
                                    <a:rPr lang="hr-HR" b="0" i="0">
                                      <a:latin typeface="Cambria Math" panose="02040503050406030204" pitchFamily="18" charset="0"/>
                                    </a:rPr>
                                    <m:t>,</m:t>
                                  </m:r>
                                  <m:func>
                                    <m:funcPr>
                                      <m:ctrlPr>
                                        <a:rPr lang="hr-HR" b="0" i="1">
                                          <a:latin typeface="Cambria Math" panose="02040503050406030204" pitchFamily="18" charset="0"/>
                                        </a:rPr>
                                      </m:ctrlPr>
                                    </m:funcPr>
                                    <m:fName>
                                      <m:r>
                                        <m:rPr>
                                          <m:sty m:val="p"/>
                                        </m:rPr>
                                        <a:rPr lang="hr-HR" b="0" i="0">
                                          <a:latin typeface="Cambria Math" panose="02040503050406030204" pitchFamily="18" charset="0"/>
                                        </a:rPr>
                                        <m:t>max</m:t>
                                      </m:r>
                                    </m:fName>
                                    <m:e>
                                      <m:d>
                                        <m:dPr>
                                          <m:ctrlPr>
                                            <a:rPr lang="hr-HR" b="0" i="1">
                                              <a:latin typeface="Cambria Math" panose="02040503050406030204" pitchFamily="18" charset="0"/>
                                            </a:rPr>
                                          </m:ctrlPr>
                                        </m:dPr>
                                        <m:e>
                                          <m:d>
                                            <m:dPr>
                                              <m:begChr m:val=""/>
                                              <m:ctrlPr>
                                                <a:rPr lang="hr-HR" b="0" i="1">
                                                  <a:latin typeface="Cambria Math" panose="02040503050406030204" pitchFamily="18" charset="0"/>
                                                </a:rPr>
                                              </m:ctrlPr>
                                            </m:dPr>
                                            <m:e>
                                              <m:r>
                                                <a:rPr lang="hr-HR" b="0" i="0">
                                                  <a:latin typeface="Cambria Math" panose="02040503050406030204" pitchFamily="18" charset="0"/>
                                                </a:rPr>
                                                <m:t>0, </m:t>
                                              </m:r>
                                              <m:r>
                                                <a:rPr lang="hr-HR" b="0" i="1">
                                                  <a:latin typeface="Cambria Math" panose="02040503050406030204" pitchFamily="18" charset="0"/>
                                                </a:rPr>
                                                <m:t>𝑡</m:t>
                                              </m:r>
                                              <m:r>
                                                <a:rPr lang="hr-HR" b="0" i="0">
                                                  <a:latin typeface="Cambria Math" panose="02040503050406030204" pitchFamily="18" charset="0"/>
                                                </a:rPr>
                                                <m:t>−</m:t>
                                              </m:r>
                                              <m:sSub>
                                                <m:sSubPr>
                                                  <m:ctrlPr>
                                                    <a:rPr lang="hr-HR" b="0" i="1">
                                                      <a:latin typeface="Cambria Math" panose="02040503050406030204" pitchFamily="18" charset="0"/>
                                                    </a:rPr>
                                                  </m:ctrlPr>
                                                </m:sSubPr>
                                                <m:e>
                                                  <m:r>
                                                    <a:rPr lang="hr-HR" b="0" i="1">
                                                      <a:latin typeface="Cambria Math" panose="02040503050406030204" pitchFamily="18" charset="0"/>
                                                    </a:rPr>
                                                    <m:t>𝑡</m:t>
                                                  </m:r>
                                                </m:e>
                                                <m:sub>
                                                  <m:r>
                                                    <a:rPr lang="hr-HR" b="0" i="1">
                                                      <a:latin typeface="Cambria Math" panose="02040503050406030204" pitchFamily="18" charset="0"/>
                                                    </a:rPr>
                                                    <m:t>𝑚𝑖𝑛</m:t>
                                                  </m:r>
                                                </m:sub>
                                              </m:sSub>
                                              <m:r>
                                                <a:rPr lang="hr-HR" b="0" i="0">
                                                  <a:latin typeface="Cambria Math" panose="02040503050406030204" pitchFamily="18" charset="0"/>
                                                </a:rPr>
                                                <m:t>+</m:t>
                                              </m:r>
                                              <m:r>
                                                <m:rPr>
                                                  <m:sty m:val="p"/>
                                                </m:rPr>
                                                <a:rPr lang="hr-HR" b="0" i="0">
                                                  <a:latin typeface="Cambria Math" panose="02040503050406030204" pitchFamily="18" charset="0"/>
                                                </a:rPr>
                                                <m:t>f</m:t>
                                              </m:r>
                                              <m:r>
                                                <a:rPr lang="hr-HR" b="0" i="0">
                                                  <a:latin typeface="Cambria Math" panose="02040503050406030204" pitchFamily="18" charset="0"/>
                                                </a:rPr>
                                                <m:t>∗(</m:t>
                                              </m:r>
                                              <m:r>
                                                <a:rPr lang="hr-HR" b="0" i="1">
                                                  <a:latin typeface="Cambria Math" panose="02040503050406030204" pitchFamily="18" charset="0"/>
                                                </a:rPr>
                                                <m:t>𝑛</m:t>
                                              </m:r>
                                              <m:r>
                                                <a:rPr lang="hr-HR" b="0" i="0">
                                                  <a:latin typeface="Cambria Math" panose="02040503050406030204" pitchFamily="18" charset="0"/>
                                                </a:rPr>
                                                <m:t>−1</m:t>
                                              </m:r>
                                            </m:e>
                                          </m:d>
                                        </m:e>
                                      </m:d>
                                    </m:e>
                                  </m:func>
                                </m:e>
                              </m:d>
                            </m:e>
                          </m:func>
                        </m:num>
                        <m:den>
                          <m:sSub>
                            <m:sSubPr>
                              <m:ctrlPr>
                                <a:rPr lang="hr-HR" b="0" i="1">
                                  <a:latin typeface="Cambria Math" panose="02040503050406030204" pitchFamily="18" charset="0"/>
                                </a:rPr>
                              </m:ctrlPr>
                            </m:sSubPr>
                            <m:e>
                              <m:r>
                                <a:rPr lang="hr-HR" b="0" i="1">
                                  <a:latin typeface="Cambria Math" panose="02040503050406030204" pitchFamily="18" charset="0"/>
                                </a:rPr>
                                <m:t>𝑡</m:t>
                              </m:r>
                            </m:e>
                            <m:sub>
                              <m:r>
                                <a:rPr lang="hr-HR" b="0" i="1">
                                  <a:latin typeface="Cambria Math" panose="02040503050406030204" pitchFamily="18" charset="0"/>
                                </a:rPr>
                                <m:t>𝑚𝑎𝑥</m:t>
                              </m:r>
                            </m:sub>
                          </m:sSub>
                        </m:den>
                      </m:f>
                    </m:oMath>
                  </m:oMathPara>
                </a14:m>
                <a:endParaRPr lang="hr-HR" dirty="0"/>
              </a:p>
            </p:txBody>
          </p:sp>
        </mc:Choice>
        <mc:Fallback xmlns="">
          <p:sp>
            <p:nvSpPr>
              <p:cNvPr id="17" name="Pravokutnik 16"/>
              <p:cNvSpPr>
                <a:spLocks noRot="1" noChangeAspect="1" noMove="1" noResize="1" noEditPoints="1" noAdjustHandles="1" noChangeArrowheads="1" noChangeShapeType="1" noTextEdit="1"/>
              </p:cNvSpPr>
              <p:nvPr/>
            </p:nvSpPr>
            <p:spPr>
              <a:xfrm>
                <a:off x="6417839" y="3564821"/>
                <a:ext cx="6096000" cy="710707"/>
              </a:xfrm>
              <a:prstGeom prst="rect">
                <a:avLst/>
              </a:prstGeom>
              <a:blipFill>
                <a:blip r:embed="rId8"/>
                <a:stretch>
                  <a:fillRect/>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18" name="Pravokutnik 17"/>
              <p:cNvSpPr/>
              <p:nvPr/>
            </p:nvSpPr>
            <p:spPr>
              <a:xfrm>
                <a:off x="7330651" y="4228948"/>
                <a:ext cx="5090160" cy="369332"/>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hr-HR" i="1" smtClean="0">
                          <a:latin typeface="Cambria Math" panose="02040503050406030204" pitchFamily="18" charset="0"/>
                        </a:rPr>
                        <m:t>𝑡</m:t>
                      </m:r>
                      <m:r>
                        <a:rPr lang="hr-HR" i="0">
                          <a:latin typeface="Cambria Math" panose="02040503050406030204" pitchFamily="18" charset="0"/>
                        </a:rPr>
                        <m:t>−</m:t>
                      </m:r>
                      <m:r>
                        <a:rPr lang="hr-HR" i="1">
                          <a:latin typeface="Cambria Math" panose="02040503050406030204" pitchFamily="18" charset="0"/>
                        </a:rPr>
                        <m:t>𝑣𝑟𝑖𝑗𝑒𝑚𝑒</m:t>
                      </m:r>
                      <m:r>
                        <a:rPr lang="hr-HR" i="0">
                          <a:latin typeface="Cambria Math" panose="02040503050406030204" pitchFamily="18" charset="0"/>
                        </a:rPr>
                        <m:t> </m:t>
                      </m:r>
                      <m:r>
                        <a:rPr lang="hr-HR" b="0" i="1" smtClean="0">
                          <a:latin typeface="Cambria Math" panose="02040503050406030204" pitchFamily="18" charset="0"/>
                        </a:rPr>
                        <m:t>𝑟𝑗𝑒</m:t>
                      </m:r>
                      <m:r>
                        <a:rPr lang="hr-HR" b="0" i="1" smtClean="0">
                          <a:latin typeface="Cambria Math" panose="02040503050406030204" pitchFamily="18" charset="0"/>
                        </a:rPr>
                        <m:t>š</m:t>
                      </m:r>
                      <m:r>
                        <a:rPr lang="hr-HR" b="0" i="1" smtClean="0">
                          <a:latin typeface="Cambria Math" panose="02040503050406030204" pitchFamily="18" charset="0"/>
                        </a:rPr>
                        <m:t>𝑎𝑣𝑎𝑛𝑗𝑎</m:t>
                      </m:r>
                      <m:r>
                        <a:rPr lang="hr-HR" b="0" i="1" smtClean="0">
                          <a:latin typeface="Cambria Math" panose="02040503050406030204" pitchFamily="18" charset="0"/>
                        </a:rPr>
                        <m:t> </m:t>
                      </m:r>
                      <m:r>
                        <a:rPr lang="hr-HR" b="0" i="1" smtClean="0">
                          <a:latin typeface="Cambria Math" panose="02040503050406030204" pitchFamily="18" charset="0"/>
                        </a:rPr>
                        <m:t>𝑧𝑎𝑑𝑎𝑡𝑘𝑎</m:t>
                      </m:r>
                    </m:oMath>
                  </m:oMathPara>
                </a14:m>
                <a:endParaRPr lang="hr-HR" dirty="0"/>
              </a:p>
            </p:txBody>
          </p:sp>
        </mc:Choice>
        <mc:Fallback xmlns="">
          <p:sp>
            <p:nvSpPr>
              <p:cNvPr id="18" name="Pravokutnik 17"/>
              <p:cNvSpPr>
                <a:spLocks noRot="1" noChangeAspect="1" noMove="1" noResize="1" noEditPoints="1" noAdjustHandles="1" noChangeArrowheads="1" noChangeShapeType="1" noTextEdit="1"/>
              </p:cNvSpPr>
              <p:nvPr/>
            </p:nvSpPr>
            <p:spPr>
              <a:xfrm>
                <a:off x="7330651" y="4228948"/>
                <a:ext cx="5090160" cy="369332"/>
              </a:xfrm>
              <a:prstGeom prst="rect">
                <a:avLst/>
              </a:prstGeom>
              <a:blipFill>
                <a:blip r:embed="rId9"/>
                <a:stretch>
                  <a:fillRect b="-18333"/>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19" name="Pravokutnik 18"/>
              <p:cNvSpPr/>
              <p:nvPr/>
            </p:nvSpPr>
            <p:spPr>
              <a:xfrm>
                <a:off x="7330652" y="4546059"/>
                <a:ext cx="4888646" cy="369332"/>
              </a:xfrm>
              <a:prstGeom prst="rect">
                <a:avLst/>
              </a:prstGeom>
            </p:spPr>
            <p:txBody>
              <a:bodyPr wrap="none">
                <a:spAutoFit/>
              </a:bodyPr>
              <a:lstStyle/>
              <a:p>
                <a:pPr/>
                <a14:m>
                  <m:oMathPara xmlns:m="http://schemas.openxmlformats.org/officeDocument/2006/math">
                    <m:oMathParaPr>
                      <m:jc m:val="left"/>
                    </m:oMathParaPr>
                    <m:oMath xmlns:m="http://schemas.openxmlformats.org/officeDocument/2006/math">
                      <m:sSub>
                        <m:sSubPr>
                          <m:ctrlPr>
                            <a:rPr lang="hr-HR" i="1" smtClean="0">
                              <a:latin typeface="Cambria Math" panose="02040503050406030204" pitchFamily="18" charset="0"/>
                            </a:rPr>
                          </m:ctrlPr>
                        </m:sSubPr>
                        <m:e>
                          <m:r>
                            <a:rPr lang="hr-HR" i="1">
                              <a:latin typeface="Cambria Math" panose="02040503050406030204" pitchFamily="18" charset="0"/>
                            </a:rPr>
                            <m:t>𝑡</m:t>
                          </m:r>
                        </m:e>
                        <m:sub>
                          <m:r>
                            <a:rPr lang="hr-HR" i="1">
                              <a:latin typeface="Cambria Math" panose="02040503050406030204" pitchFamily="18" charset="0"/>
                            </a:rPr>
                            <m:t>𝑚𝑖𝑛</m:t>
                          </m:r>
                        </m:sub>
                      </m:sSub>
                      <m:r>
                        <a:rPr lang="hr-HR" i="0">
                          <a:latin typeface="Cambria Math" panose="02040503050406030204" pitchFamily="18" charset="0"/>
                        </a:rPr>
                        <m:t>−</m:t>
                      </m:r>
                      <m:r>
                        <a:rPr lang="hr-HR" i="1">
                          <a:latin typeface="Cambria Math" panose="02040503050406030204" pitchFamily="18" charset="0"/>
                        </a:rPr>
                        <m:t>𝑜</m:t>
                      </m:r>
                      <m:r>
                        <a:rPr lang="hr-HR" i="0">
                          <a:latin typeface="Cambria Math" panose="02040503050406030204" pitchFamily="18" charset="0"/>
                        </a:rPr>
                        <m:t>č</m:t>
                      </m:r>
                      <m:r>
                        <a:rPr lang="hr-HR" i="1">
                          <a:latin typeface="Cambria Math" panose="02040503050406030204" pitchFamily="18" charset="0"/>
                        </a:rPr>
                        <m:t>𝑒𝑘𝑖𝑣𝑎𝑛𝑜</m:t>
                      </m:r>
                      <m:r>
                        <a:rPr lang="hr-HR" i="0">
                          <a:latin typeface="Cambria Math" panose="02040503050406030204" pitchFamily="18" charset="0"/>
                        </a:rPr>
                        <m:t> </m:t>
                      </m:r>
                      <m:r>
                        <a:rPr lang="hr-HR" i="1">
                          <a:latin typeface="Cambria Math" panose="02040503050406030204" pitchFamily="18" charset="0"/>
                        </a:rPr>
                        <m:t>𝑣𝑟𝑖𝑗𝑒𝑚𝑒</m:t>
                      </m:r>
                      <m:r>
                        <a:rPr lang="hr-HR" i="0">
                          <a:latin typeface="Cambria Math" panose="02040503050406030204" pitchFamily="18" charset="0"/>
                        </a:rPr>
                        <m:t> </m:t>
                      </m:r>
                      <m:r>
                        <m:rPr>
                          <m:sty m:val="p"/>
                        </m:rPr>
                        <a:rPr lang="hr-HR" b="0" i="0" smtClean="0">
                          <a:latin typeface="Cambria Math" panose="02040503050406030204" pitchFamily="18" charset="0"/>
                        </a:rPr>
                        <m:t>rje</m:t>
                      </m:r>
                      <m:r>
                        <a:rPr lang="hr-HR" b="0" i="0" smtClean="0">
                          <a:latin typeface="Cambria Math" panose="02040503050406030204" pitchFamily="18" charset="0"/>
                        </a:rPr>
                        <m:t>š</m:t>
                      </m:r>
                      <m:r>
                        <m:rPr>
                          <m:sty m:val="p"/>
                        </m:rPr>
                        <a:rPr lang="hr-HR" b="0" i="0" smtClean="0">
                          <a:latin typeface="Cambria Math" panose="02040503050406030204" pitchFamily="18" charset="0"/>
                        </a:rPr>
                        <m:t>avanja</m:t>
                      </m:r>
                      <m:r>
                        <a:rPr lang="hr-HR" i="0">
                          <a:latin typeface="Cambria Math" panose="02040503050406030204" pitchFamily="18" charset="0"/>
                        </a:rPr>
                        <m:t> </m:t>
                      </m:r>
                      <m:r>
                        <a:rPr lang="hr-HR" i="1">
                          <a:latin typeface="Cambria Math" panose="02040503050406030204" pitchFamily="18" charset="0"/>
                        </a:rPr>
                        <m:t>𝑧𝑎𝑑𝑎𝑡𝑘𝑎</m:t>
                      </m:r>
                    </m:oMath>
                  </m:oMathPara>
                </a14:m>
                <a:endParaRPr lang="hr-HR" dirty="0"/>
              </a:p>
            </p:txBody>
          </p:sp>
        </mc:Choice>
        <mc:Fallback xmlns="">
          <p:sp>
            <p:nvSpPr>
              <p:cNvPr id="19" name="Pravokutnik 18"/>
              <p:cNvSpPr>
                <a:spLocks noRot="1" noChangeAspect="1" noMove="1" noResize="1" noEditPoints="1" noAdjustHandles="1" noChangeArrowheads="1" noChangeShapeType="1" noTextEdit="1"/>
              </p:cNvSpPr>
              <p:nvPr/>
            </p:nvSpPr>
            <p:spPr>
              <a:xfrm>
                <a:off x="7330652" y="4546059"/>
                <a:ext cx="4888646" cy="369332"/>
              </a:xfrm>
              <a:prstGeom prst="rect">
                <a:avLst/>
              </a:prstGeom>
              <a:blipFill>
                <a:blip r:embed="rId10"/>
                <a:stretch>
                  <a:fillRect b="-18333"/>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20" name="Pravokutnik 19"/>
              <p:cNvSpPr/>
              <p:nvPr/>
            </p:nvSpPr>
            <p:spPr>
              <a:xfrm>
                <a:off x="6658292" y="4939655"/>
                <a:ext cx="5439092" cy="646331"/>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hr-HR" i="1" smtClean="0">
                              <a:latin typeface="Cambria Math" panose="02040503050406030204" pitchFamily="18" charset="0"/>
                            </a:rPr>
                          </m:ctrlPr>
                        </m:sSubPr>
                        <m:e>
                          <m:r>
                            <a:rPr lang="hr-HR" i="1">
                              <a:latin typeface="Cambria Math" panose="02040503050406030204" pitchFamily="18" charset="0"/>
                            </a:rPr>
                            <m:t>𝑡</m:t>
                          </m:r>
                        </m:e>
                        <m:sub>
                          <m:r>
                            <a:rPr lang="hr-HR" i="1">
                              <a:latin typeface="Cambria Math" panose="02040503050406030204" pitchFamily="18" charset="0"/>
                            </a:rPr>
                            <m:t>𝑚𝑎𝑥</m:t>
                          </m:r>
                        </m:sub>
                      </m:sSub>
                      <m:r>
                        <a:rPr lang="hr-HR" i="0">
                          <a:latin typeface="Cambria Math" panose="02040503050406030204" pitchFamily="18" charset="0"/>
                        </a:rPr>
                        <m:t>−</m:t>
                      </m:r>
                      <m:r>
                        <a:rPr lang="hr-HR" i="1">
                          <a:latin typeface="Cambria Math" panose="02040503050406030204" pitchFamily="18" charset="0"/>
                        </a:rPr>
                        <m:t>𝑚𝑎𝑘𝑠𝑖𝑚𝑎𝑙𝑛𝑜</m:t>
                      </m:r>
                      <m:r>
                        <a:rPr lang="hr-HR" i="0">
                          <a:latin typeface="Cambria Math" panose="02040503050406030204" pitchFamily="18" charset="0"/>
                        </a:rPr>
                        <m:t> </m:t>
                      </m:r>
                      <m:r>
                        <a:rPr lang="hr-HR" i="1">
                          <a:latin typeface="Cambria Math" panose="02040503050406030204" pitchFamily="18" charset="0"/>
                        </a:rPr>
                        <m:t>𝑜</m:t>
                      </m:r>
                      <m:r>
                        <a:rPr lang="hr-HR" i="0">
                          <a:latin typeface="Cambria Math" panose="02040503050406030204" pitchFamily="18" charset="0"/>
                        </a:rPr>
                        <m:t>č</m:t>
                      </m:r>
                      <m:r>
                        <a:rPr lang="hr-HR" i="1" smtClean="0">
                          <a:latin typeface="Cambria Math" panose="02040503050406030204" pitchFamily="18" charset="0"/>
                        </a:rPr>
                        <m:t>𝑒𝑘𝑖𝑣𝑎𝑛𝑜</m:t>
                      </m:r>
                      <m:r>
                        <a:rPr lang="hr-HR" i="0">
                          <a:latin typeface="Cambria Math" panose="02040503050406030204" pitchFamily="18" charset="0"/>
                        </a:rPr>
                        <m:t> </m:t>
                      </m:r>
                      <m:r>
                        <a:rPr lang="hr-HR" i="1">
                          <a:latin typeface="Cambria Math" panose="02040503050406030204" pitchFamily="18" charset="0"/>
                        </a:rPr>
                        <m:t>𝑣𝑟𝑖𝑗𝑒𝑚𝑒</m:t>
                      </m:r>
                      <m:r>
                        <a:rPr lang="hr-HR" i="0">
                          <a:latin typeface="Cambria Math" panose="02040503050406030204" pitchFamily="18" charset="0"/>
                        </a:rPr>
                        <m:t> </m:t>
                      </m:r>
                    </m:oMath>
                  </m:oMathPara>
                </a14:m>
                <a:endParaRPr lang="hr-HR" i="0"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hr-HR" b="0" i="1" smtClean="0">
                          <a:latin typeface="Cambria Math" panose="02040503050406030204" pitchFamily="18" charset="0"/>
                        </a:rPr>
                        <m:t>𝑟𝑗𝑒</m:t>
                      </m:r>
                      <m:r>
                        <a:rPr lang="hr-HR" b="0" i="1" smtClean="0">
                          <a:latin typeface="Cambria Math" panose="02040503050406030204" pitchFamily="18" charset="0"/>
                        </a:rPr>
                        <m:t>š</m:t>
                      </m:r>
                      <m:r>
                        <a:rPr lang="hr-HR" b="0" i="1" smtClean="0">
                          <a:latin typeface="Cambria Math" panose="02040503050406030204" pitchFamily="18" charset="0"/>
                        </a:rPr>
                        <m:t>𝑎𝑣𝑎𝑛𝑗𝑎</m:t>
                      </m:r>
                      <m:r>
                        <a:rPr lang="hr-HR" b="0" i="1" smtClean="0">
                          <a:latin typeface="Cambria Math" panose="02040503050406030204" pitchFamily="18" charset="0"/>
                        </a:rPr>
                        <m:t> </m:t>
                      </m:r>
                      <m:r>
                        <a:rPr lang="hr-HR" i="1">
                          <a:latin typeface="Cambria Math" panose="02040503050406030204" pitchFamily="18" charset="0"/>
                        </a:rPr>
                        <m:t>𝑧𝑎𝑑𝑎𝑡𝑘𝑎</m:t>
                      </m:r>
                    </m:oMath>
                  </m:oMathPara>
                </a14:m>
                <a:endParaRPr lang="hr-HR" dirty="0"/>
              </a:p>
            </p:txBody>
          </p:sp>
        </mc:Choice>
        <mc:Fallback xmlns="">
          <p:sp>
            <p:nvSpPr>
              <p:cNvPr id="20" name="Pravokutnik 19"/>
              <p:cNvSpPr>
                <a:spLocks noRot="1" noChangeAspect="1" noMove="1" noResize="1" noEditPoints="1" noAdjustHandles="1" noChangeArrowheads="1" noChangeShapeType="1" noTextEdit="1"/>
              </p:cNvSpPr>
              <p:nvPr/>
            </p:nvSpPr>
            <p:spPr>
              <a:xfrm>
                <a:off x="6658292" y="4939655"/>
                <a:ext cx="5439092" cy="646331"/>
              </a:xfrm>
              <a:prstGeom prst="rect">
                <a:avLst/>
              </a:prstGeom>
              <a:blipFill>
                <a:blip r:embed="rId11"/>
                <a:stretch>
                  <a:fillRect b="-9434"/>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21" name="Pravokutnik 20"/>
              <p:cNvSpPr/>
              <p:nvPr/>
            </p:nvSpPr>
            <p:spPr>
              <a:xfrm>
                <a:off x="7224299" y="5927361"/>
                <a:ext cx="21138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hr-HR" i="1" smtClean="0">
                          <a:latin typeface="Cambria Math" panose="02040503050406030204" pitchFamily="18" charset="0"/>
                        </a:rPr>
                        <m:t>𝑛</m:t>
                      </m:r>
                      <m:r>
                        <a:rPr lang="hr-HR" i="0">
                          <a:latin typeface="Cambria Math" panose="02040503050406030204" pitchFamily="18" charset="0"/>
                        </a:rPr>
                        <m:t>−</m:t>
                      </m:r>
                      <m:r>
                        <a:rPr lang="hr-HR" i="1">
                          <a:latin typeface="Cambria Math" panose="02040503050406030204" pitchFamily="18" charset="0"/>
                        </a:rPr>
                        <m:t>𝑏𝑟𝑜𝑗</m:t>
                      </m:r>
                      <m:r>
                        <a:rPr lang="hr-HR" i="0">
                          <a:latin typeface="Cambria Math" panose="02040503050406030204" pitchFamily="18" charset="0"/>
                        </a:rPr>
                        <m:t> </m:t>
                      </m:r>
                      <m:r>
                        <a:rPr lang="hr-HR" i="1">
                          <a:latin typeface="Cambria Math" panose="02040503050406030204" pitchFamily="18" charset="0"/>
                        </a:rPr>
                        <m:t>𝑝𝑜𝑘𝑢</m:t>
                      </m:r>
                      <m:r>
                        <a:rPr lang="hr-HR" i="0">
                          <a:latin typeface="Cambria Math" panose="02040503050406030204" pitchFamily="18" charset="0"/>
                        </a:rPr>
                        <m:t>š</m:t>
                      </m:r>
                      <m:r>
                        <a:rPr lang="hr-HR" i="1">
                          <a:latin typeface="Cambria Math" panose="02040503050406030204" pitchFamily="18" charset="0"/>
                        </a:rPr>
                        <m:t>𝑎𝑗𝑎</m:t>
                      </m:r>
                    </m:oMath>
                  </m:oMathPara>
                </a14:m>
                <a:endParaRPr lang="hr-HR" dirty="0"/>
              </a:p>
            </p:txBody>
          </p:sp>
        </mc:Choice>
        <mc:Fallback xmlns="">
          <p:sp>
            <p:nvSpPr>
              <p:cNvPr id="21" name="Pravokutnik 20"/>
              <p:cNvSpPr>
                <a:spLocks noRot="1" noChangeAspect="1" noMove="1" noResize="1" noEditPoints="1" noAdjustHandles="1" noChangeArrowheads="1" noChangeShapeType="1" noTextEdit="1"/>
              </p:cNvSpPr>
              <p:nvPr/>
            </p:nvSpPr>
            <p:spPr>
              <a:xfrm>
                <a:off x="7224299" y="5927361"/>
                <a:ext cx="2113848" cy="369332"/>
              </a:xfrm>
              <a:prstGeom prst="rect">
                <a:avLst/>
              </a:prstGeom>
              <a:blipFill>
                <a:blip r:embed="rId12"/>
                <a:stretch>
                  <a:fillRect b="-16393"/>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22" name="Pravokutnik 21"/>
              <p:cNvSpPr/>
              <p:nvPr/>
            </p:nvSpPr>
            <p:spPr>
              <a:xfrm>
                <a:off x="7224299" y="5513090"/>
                <a:ext cx="384304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sty m:val="p"/>
                        </m:rPr>
                        <a:rPr lang="hr-HR">
                          <a:latin typeface="Cambria Math" panose="02040503050406030204" pitchFamily="18" charset="0"/>
                        </a:rPr>
                        <m:t>f</m:t>
                      </m:r>
                      <m:r>
                        <a:rPr lang="hr-HR" i="0">
                          <a:latin typeface="Cambria Math" panose="02040503050406030204" pitchFamily="18" charset="0"/>
                        </a:rPr>
                        <m:t>−</m:t>
                      </m:r>
                      <m:r>
                        <a:rPr lang="hr-HR" i="1">
                          <a:latin typeface="Cambria Math" panose="02040503050406030204" pitchFamily="18" charset="0"/>
                        </a:rPr>
                        <m:t>𝑓𝑎𝑘𝑡𝑜𝑟</m:t>
                      </m:r>
                      <m:r>
                        <a:rPr lang="hr-HR" i="0">
                          <a:latin typeface="Cambria Math" panose="02040503050406030204" pitchFamily="18" charset="0"/>
                        </a:rPr>
                        <m:t> </m:t>
                      </m:r>
                      <m:r>
                        <a:rPr lang="hr-HR" i="1">
                          <a:latin typeface="Cambria Math" panose="02040503050406030204" pitchFamily="18" charset="0"/>
                        </a:rPr>
                        <m:t>𝑘𝑎</m:t>
                      </m:r>
                      <m:r>
                        <a:rPr lang="hr-HR" i="0">
                          <a:latin typeface="Cambria Math" panose="02040503050406030204" pitchFamily="18" charset="0"/>
                        </a:rPr>
                        <m:t>ž</m:t>
                      </m:r>
                      <m:r>
                        <a:rPr lang="hr-HR" i="1">
                          <a:latin typeface="Cambria Math" panose="02040503050406030204" pitchFamily="18" charset="0"/>
                        </a:rPr>
                        <m:t>𝑛𝑗𝑎𝑣𝑎𝑛𝑗𝑎</m:t>
                      </m:r>
                      <m:r>
                        <a:rPr lang="hr-HR" i="0">
                          <a:latin typeface="Cambria Math" panose="02040503050406030204" pitchFamily="18" charset="0"/>
                        </a:rPr>
                        <m:t> </m:t>
                      </m:r>
                      <m:r>
                        <a:rPr lang="hr-HR" i="1">
                          <a:latin typeface="Cambria Math" panose="02040503050406030204" pitchFamily="18" charset="0"/>
                        </a:rPr>
                        <m:t>𝑝𝑜𝑔𝑎</m:t>
                      </m:r>
                      <m:r>
                        <a:rPr lang="hr-HR" i="0">
                          <a:latin typeface="Cambria Math" panose="02040503050406030204" pitchFamily="18" charset="0"/>
                        </a:rPr>
                        <m:t>đ</m:t>
                      </m:r>
                      <m:r>
                        <a:rPr lang="hr-HR" i="1">
                          <a:latin typeface="Cambria Math" panose="02040503050406030204" pitchFamily="18" charset="0"/>
                        </a:rPr>
                        <m:t>𝑎𝑛𝑗𝑎</m:t>
                      </m:r>
                    </m:oMath>
                  </m:oMathPara>
                </a14:m>
                <a:endParaRPr lang="hr-HR" dirty="0"/>
              </a:p>
            </p:txBody>
          </p:sp>
        </mc:Choice>
        <mc:Fallback xmlns="">
          <p:sp>
            <p:nvSpPr>
              <p:cNvPr id="22" name="Pravokutnik 21"/>
              <p:cNvSpPr>
                <a:spLocks noRot="1" noChangeAspect="1" noMove="1" noResize="1" noEditPoints="1" noAdjustHandles="1" noChangeArrowheads="1" noChangeShapeType="1" noTextEdit="1"/>
              </p:cNvSpPr>
              <p:nvPr/>
            </p:nvSpPr>
            <p:spPr>
              <a:xfrm>
                <a:off x="7224299" y="5513090"/>
                <a:ext cx="3843040" cy="369332"/>
              </a:xfrm>
              <a:prstGeom prst="rect">
                <a:avLst/>
              </a:prstGeom>
              <a:blipFill>
                <a:blip r:embed="rId13"/>
                <a:stretch>
                  <a:fillRect b="-16393"/>
                </a:stretch>
              </a:blipFill>
            </p:spPr>
            <p:txBody>
              <a:bodyPr/>
              <a:lstStyle/>
              <a:p>
                <a:r>
                  <a:rPr lang="hr-HR">
                    <a:noFill/>
                  </a:rPr>
                  <a:t> </a:t>
                </a:r>
              </a:p>
            </p:txBody>
          </p:sp>
        </mc:Fallback>
      </mc:AlternateContent>
      <p:sp>
        <p:nvSpPr>
          <p:cNvPr id="23" name="Rezervirano mjesto sadržaja 2"/>
          <p:cNvSpPr txBox="1">
            <a:spLocks/>
          </p:cNvSpPr>
          <p:nvPr/>
        </p:nvSpPr>
        <p:spPr>
          <a:xfrm>
            <a:off x="1918651" y="1461268"/>
            <a:ext cx="3302303" cy="36653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Težina zadatka</a:t>
            </a:r>
          </a:p>
        </p:txBody>
      </p:sp>
      <mc:AlternateContent xmlns:mc="http://schemas.openxmlformats.org/markup-compatibility/2006">
        <mc:Choice xmlns:a14="http://schemas.microsoft.com/office/drawing/2010/main" Requires="a14">
          <p:sp>
            <p:nvSpPr>
              <p:cNvPr id="24" name="Pravokutnik 23"/>
              <p:cNvSpPr/>
              <p:nvPr/>
            </p:nvSpPr>
            <p:spPr>
              <a:xfrm>
                <a:off x="2447027" y="1868552"/>
                <a:ext cx="5090160" cy="369332"/>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hr-HR" i="1" smtClean="0">
                          <a:latin typeface="Cambria Math" panose="02040503050406030204" pitchFamily="18" charset="0"/>
                        </a:rPr>
                        <m:t>𝑡</m:t>
                      </m:r>
                      <m:r>
                        <a:rPr lang="hr-HR" i="0">
                          <a:latin typeface="Cambria Math" panose="02040503050406030204" pitchFamily="18" charset="0"/>
                        </a:rPr>
                        <m:t>−</m:t>
                      </m:r>
                      <m:r>
                        <a:rPr lang="hr-HR" i="1" smtClean="0">
                          <a:latin typeface="Cambria Math" panose="02040503050406030204" pitchFamily="18" charset="0"/>
                        </a:rPr>
                        <m:t>𝑖</m:t>
                      </m:r>
                      <m:r>
                        <a:rPr lang="hr-HR" b="0" i="1" smtClean="0">
                          <a:latin typeface="Cambria Math" panose="02040503050406030204" pitchFamily="18" charset="0"/>
                        </a:rPr>
                        <m:t>𝑧</m:t>
                      </m:r>
                      <m:r>
                        <a:rPr lang="hr-HR" b="0" i="1" smtClean="0">
                          <a:latin typeface="Cambria Math" panose="02040503050406030204" pitchFamily="18" charset="0"/>
                        </a:rPr>
                        <m:t> </m:t>
                      </m:r>
                      <m:r>
                        <a:rPr lang="hr-HR" b="0" i="1" smtClean="0">
                          <a:latin typeface="Cambria Math" panose="02040503050406030204" pitchFamily="18" charset="0"/>
                        </a:rPr>
                        <m:t>𝑟𝑎𝑠𝑝𝑜𝑛𝑎</m:t>
                      </m:r>
                      <m:r>
                        <a:rPr lang="hr-HR" b="0" i="1" smtClean="0">
                          <a:latin typeface="Cambria Math" panose="02040503050406030204" pitchFamily="18" charset="0"/>
                        </a:rPr>
                        <m:t> [0, 1]</m:t>
                      </m:r>
                    </m:oMath>
                  </m:oMathPara>
                </a14:m>
                <a:endParaRPr lang="hr-HR" dirty="0"/>
              </a:p>
            </p:txBody>
          </p:sp>
        </mc:Choice>
        <mc:Fallback>
          <p:sp>
            <p:nvSpPr>
              <p:cNvPr id="24" name="Pravokutnik 23"/>
              <p:cNvSpPr>
                <a:spLocks noRot="1" noChangeAspect="1" noMove="1" noResize="1" noEditPoints="1" noAdjustHandles="1" noChangeArrowheads="1" noChangeShapeType="1" noTextEdit="1"/>
              </p:cNvSpPr>
              <p:nvPr/>
            </p:nvSpPr>
            <p:spPr>
              <a:xfrm>
                <a:off x="2447027" y="1868552"/>
                <a:ext cx="5090160" cy="369332"/>
              </a:xfrm>
              <a:prstGeom prst="rect">
                <a:avLst/>
              </a:prstGeom>
              <a:blipFill>
                <a:blip r:embed="rId14"/>
                <a:stretch>
                  <a:fillRect b="-20000"/>
                </a:stretch>
              </a:blipFill>
            </p:spPr>
            <p:txBody>
              <a:bodyPr/>
              <a:lstStyle/>
              <a:p>
                <a:r>
                  <a:rPr lang="hr-HR">
                    <a:noFill/>
                  </a:rPr>
                  <a:t> </a:t>
                </a:r>
              </a:p>
            </p:txBody>
          </p:sp>
        </mc:Fallback>
      </mc:AlternateContent>
      <mc:AlternateContent xmlns:mc="http://schemas.openxmlformats.org/markup-compatibility/2006">
        <mc:Choice xmlns:a14="http://schemas.microsoft.com/office/drawing/2010/main" Requires="a14">
          <p:sp>
            <p:nvSpPr>
              <p:cNvPr id="25" name="Pravokutnik 24"/>
              <p:cNvSpPr/>
              <p:nvPr/>
            </p:nvSpPr>
            <p:spPr>
              <a:xfrm>
                <a:off x="2460997" y="2265267"/>
                <a:ext cx="5090160" cy="369332"/>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hr-HR" i="1" smtClean="0">
                          <a:latin typeface="Cambria Math" panose="02040503050406030204" pitchFamily="18" charset="0"/>
                        </a:rPr>
                        <m:t>1</m:t>
                      </m:r>
                      <m:r>
                        <a:rPr lang="hr-HR" b="0" i="1" smtClean="0">
                          <a:latin typeface="Cambria Math" panose="02040503050406030204" pitchFamily="18" charset="0"/>
                        </a:rPr>
                        <m:t> −</m:t>
                      </m:r>
                      <m:r>
                        <a:rPr lang="hr-HR" b="0" i="1" smtClean="0">
                          <a:latin typeface="Cambria Math" panose="02040503050406030204" pitchFamily="18" charset="0"/>
                        </a:rPr>
                        <m:t>𝑙𝑎𝑔𝑎𝑛</m:t>
                      </m:r>
                      <m:r>
                        <a:rPr lang="hr-HR" b="0" i="1" smtClean="0">
                          <a:latin typeface="Cambria Math" panose="02040503050406030204" pitchFamily="18" charset="0"/>
                        </a:rPr>
                        <m:t>, 0 −</m:t>
                      </m:r>
                      <m:r>
                        <a:rPr lang="hr-HR" b="0" i="1" smtClean="0">
                          <a:latin typeface="Cambria Math" panose="02040503050406030204" pitchFamily="18" charset="0"/>
                        </a:rPr>
                        <m:t>𝑡𝑒</m:t>
                      </m:r>
                      <m:r>
                        <a:rPr lang="hr-HR" b="0" i="1" smtClean="0">
                          <a:latin typeface="Cambria Math" panose="02040503050406030204" pitchFamily="18" charset="0"/>
                        </a:rPr>
                        <m:t>ž</m:t>
                      </m:r>
                      <m:r>
                        <a:rPr lang="hr-HR" b="0" i="1" smtClean="0">
                          <a:latin typeface="Cambria Math" panose="02040503050406030204" pitchFamily="18" charset="0"/>
                        </a:rPr>
                        <m:t>𝑎𝑘</m:t>
                      </m:r>
                    </m:oMath>
                  </m:oMathPara>
                </a14:m>
                <a:endParaRPr lang="hr-HR" dirty="0"/>
              </a:p>
            </p:txBody>
          </p:sp>
        </mc:Choice>
        <mc:Fallback>
          <p:sp>
            <p:nvSpPr>
              <p:cNvPr id="25" name="Pravokutnik 24"/>
              <p:cNvSpPr>
                <a:spLocks noRot="1" noChangeAspect="1" noMove="1" noResize="1" noEditPoints="1" noAdjustHandles="1" noChangeArrowheads="1" noChangeShapeType="1" noTextEdit="1"/>
              </p:cNvSpPr>
              <p:nvPr/>
            </p:nvSpPr>
            <p:spPr>
              <a:xfrm>
                <a:off x="2460997" y="2265267"/>
                <a:ext cx="5090160" cy="369332"/>
              </a:xfrm>
              <a:prstGeom prst="rect">
                <a:avLst/>
              </a:prstGeom>
              <a:blipFill>
                <a:blip r:embed="rId15"/>
                <a:stretch>
                  <a:fillRect b="-16667"/>
                </a:stretch>
              </a:blipFill>
            </p:spPr>
            <p:txBody>
              <a:bodyPr/>
              <a:lstStyle/>
              <a:p>
                <a:r>
                  <a:rPr lang="hr-HR">
                    <a:noFill/>
                  </a:rPr>
                  <a:t> </a:t>
                </a:r>
              </a:p>
            </p:txBody>
          </p:sp>
        </mc:Fallback>
      </mc:AlternateContent>
    </p:spTree>
    <p:extLst>
      <p:ext uri="{BB962C8B-B14F-4D97-AF65-F5344CB8AC3E}">
        <p14:creationId xmlns:p14="http://schemas.microsoft.com/office/powerpoint/2010/main" val="36315357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Učenje težina (2)</a:t>
            </a:r>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7</a:t>
            </a:fld>
            <a:endParaRPr lang="hr-HR" dirty="0"/>
          </a:p>
        </p:txBody>
      </p:sp>
      <mc:AlternateContent xmlns:mc="http://schemas.openxmlformats.org/markup-compatibility/2006" xmlns:a14="http://schemas.microsoft.com/office/drawing/2010/main">
        <mc:Choice Requires="a14">
          <p:sp>
            <p:nvSpPr>
              <p:cNvPr id="5" name="Pravokutnik 4"/>
              <p:cNvSpPr/>
              <p:nvPr/>
            </p:nvSpPr>
            <p:spPr>
              <a:xfrm>
                <a:off x="2110806" y="1905000"/>
                <a:ext cx="5675593" cy="128323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hr-HR" b="1" i="1">
                              <a:latin typeface="Cambria Math" panose="02040503050406030204" pitchFamily="18" charset="0"/>
                            </a:rPr>
                          </m:ctrlPr>
                        </m:sSubPr>
                        <m:e>
                          <m:d>
                            <m:dPr>
                              <m:begChr m:val=""/>
                              <m:ctrlPr>
                                <a:rPr lang="hr-HR" b="1" i="1">
                                  <a:latin typeface="Cambria Math" panose="02040503050406030204" pitchFamily="18" charset="0"/>
                                </a:rPr>
                              </m:ctrlPr>
                            </m:dPr>
                            <m:e>
                              <m:r>
                                <a:rPr lang="hr-HR" b="1" i="1">
                                  <a:latin typeface="Cambria Math" panose="02040503050406030204" pitchFamily="18" charset="0"/>
                                </a:rPr>
                                <m:t>𝑺</m:t>
                              </m:r>
                              <m:r>
                                <a:rPr lang="hr-HR" b="0" i="0">
                                  <a:latin typeface="Cambria Math" panose="02040503050406030204" pitchFamily="18" charset="0"/>
                                </a:rPr>
                                <m:t>(</m:t>
                              </m:r>
                              <m:r>
                                <a:rPr lang="hr-HR" b="0" i="1">
                                  <a:latin typeface="Cambria Math" panose="02040503050406030204" pitchFamily="18" charset="0"/>
                                </a:rPr>
                                <m:t>𝑘</m:t>
                              </m:r>
                              <m:r>
                                <a:rPr lang="hr-HR" b="0" i="0">
                                  <a:latin typeface="Cambria Math" panose="02040503050406030204" pitchFamily="18" charset="0"/>
                                </a:rPr>
                                <m:t>+1</m:t>
                              </m:r>
                            </m:e>
                          </m:d>
                        </m:e>
                        <m:sub>
                          <m:r>
                            <a:rPr lang="hr-HR" b="0" i="1">
                              <a:latin typeface="Cambria Math" panose="02040503050406030204" pitchFamily="18" charset="0"/>
                            </a:rPr>
                            <m:t>𝑖</m:t>
                          </m:r>
                        </m:sub>
                      </m:sSub>
                      <m:r>
                        <a:rPr lang="hr-HR" b="0" i="0">
                          <a:latin typeface="Cambria Math" panose="02040503050406030204" pitchFamily="18" charset="0"/>
                        </a:rPr>
                        <m:t>=</m:t>
                      </m:r>
                      <m:f>
                        <m:fPr>
                          <m:ctrlPr>
                            <a:rPr lang="hr-HR" b="0" i="1">
                              <a:latin typeface="Cambria Math" panose="02040503050406030204" pitchFamily="18" charset="0"/>
                            </a:rPr>
                          </m:ctrlPr>
                        </m:fPr>
                        <m:num>
                          <m:nary>
                            <m:naryPr>
                              <m:chr m:val="∑"/>
                              <m:limLoc m:val="subSup"/>
                              <m:grow m:val="on"/>
                              <m:ctrlPr>
                                <a:rPr lang="hr-HR" b="0" i="1">
                                  <a:latin typeface="Cambria Math" panose="02040503050406030204" pitchFamily="18" charset="0"/>
                                </a:rPr>
                              </m:ctrlPr>
                            </m:naryPr>
                            <m:sub>
                              <m:r>
                                <a:rPr lang="hr-HR" b="0" i="1">
                                  <a:latin typeface="Cambria Math" panose="02040503050406030204" pitchFamily="18" charset="0"/>
                                </a:rPr>
                                <m:t>𝑗</m:t>
                              </m:r>
                              <m:r>
                                <a:rPr lang="hr-HR" b="0" i="0">
                                  <a:latin typeface="Cambria Math" panose="02040503050406030204" pitchFamily="18" charset="0"/>
                                </a:rPr>
                                <m:t>=1</m:t>
                              </m:r>
                            </m:sub>
                            <m:sup>
                              <m:r>
                                <a:rPr lang="hr-HR" b="0" i="1">
                                  <a:latin typeface="Cambria Math" panose="02040503050406030204" pitchFamily="18" charset="0"/>
                                </a:rPr>
                                <m:t>𝑚</m:t>
                              </m:r>
                            </m:sup>
                            <m:e>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𝑎</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𝑡</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sSup>
                                    <m:sSupPr>
                                      <m:ctrlPr>
                                        <a:rPr lang="hr-HR" b="0" i="1">
                                          <a:latin typeface="Cambria Math" panose="02040503050406030204" pitchFamily="18" charset="0"/>
                                        </a:rPr>
                                      </m:ctrlPr>
                                    </m:sSup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𝑝</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d>
                                                <m:dPr>
                                                  <m:begChr m:val=""/>
                                                  <m:ctrlPr>
                                                    <a:rPr lang="hr-HR" b="0" i="1">
                                                      <a:latin typeface="Cambria Math" panose="02040503050406030204" pitchFamily="18" charset="0"/>
                                                    </a:rPr>
                                                  </m:ctrlPr>
                                                </m:dPr>
                                                <m:e>
                                                  <m:r>
                                                    <a:rPr lang="hr-HR" b="1" i="1">
                                                      <a:latin typeface="Cambria Math" panose="02040503050406030204" pitchFamily="18" charset="0"/>
                                                    </a:rPr>
                                                    <m:t>𝑳</m:t>
                                                  </m:r>
                                                  <m:r>
                                                    <a:rPr lang="hr-HR" b="0" i="0">
                                                      <a:latin typeface="Cambria Math" panose="02040503050406030204" pitchFamily="18" charset="0"/>
                                                    </a:rPr>
                                                    <m:t>(</m:t>
                                                  </m:r>
                                                  <m:r>
                                                    <a:rPr lang="hr-HR" b="0" i="1">
                                                      <a:latin typeface="Cambria Math" panose="02040503050406030204" pitchFamily="18" charset="0"/>
                                                    </a:rPr>
                                                    <m:t>𝑘</m:t>
                                                  </m:r>
                                                </m:e>
                                              </m:d>
                                            </m:e>
                                            <m:sub>
                                              <m:r>
                                                <a:rPr lang="hr-HR" b="0" i="1">
                                                  <a:latin typeface="Cambria Math" panose="02040503050406030204" pitchFamily="18" charset="0"/>
                                                </a:rPr>
                                                <m:t>𝑗</m:t>
                                              </m:r>
                                            </m:sub>
                                          </m:sSub>
                                        </m:e>
                                      </m:d>
                                    </m:e>
                                    <m:sup>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sup>
                                  </m:sSup>
                                  <m:r>
                                    <a:rPr lang="hr-HR" b="0" i="0">
                                      <a:latin typeface="Cambria Math" panose="02040503050406030204" pitchFamily="18" charset="0"/>
                                    </a:rPr>
                                    <m:t>∗ </m:t>
                                  </m:r>
                                  <m:sSub>
                                    <m:sSubPr>
                                      <m:ctrlPr>
                                        <a:rPr lang="hr-HR" b="0" i="1">
                                          <a:latin typeface="Cambria Math" panose="02040503050406030204" pitchFamily="18" charset="0"/>
                                        </a:rPr>
                                      </m:ctrlPr>
                                    </m:sSubPr>
                                    <m:e>
                                      <m:r>
                                        <a:rPr lang="hr-HR" b="1" i="1">
                                          <a:latin typeface="Cambria Math" panose="02040503050406030204" pitchFamily="18" charset="0"/>
                                        </a:rPr>
                                        <m:t>𝑷</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e>
                          </m:nary>
                        </m:num>
                        <m:den>
                          <m:nary>
                            <m:naryPr>
                              <m:chr m:val="∑"/>
                              <m:limLoc m:val="subSup"/>
                              <m:grow m:val="on"/>
                              <m:ctrlPr>
                                <a:rPr lang="hr-HR" b="0" i="1">
                                  <a:latin typeface="Cambria Math" panose="02040503050406030204" pitchFamily="18" charset="0"/>
                                </a:rPr>
                              </m:ctrlPr>
                            </m:naryPr>
                            <m:sub>
                              <m:r>
                                <a:rPr lang="hr-HR" b="0" i="1">
                                  <a:latin typeface="Cambria Math" panose="02040503050406030204" pitchFamily="18" charset="0"/>
                                </a:rPr>
                                <m:t>𝑗</m:t>
                              </m:r>
                              <m:r>
                                <a:rPr lang="hr-HR" b="0" i="0">
                                  <a:latin typeface="Cambria Math" panose="02040503050406030204" pitchFamily="18" charset="0"/>
                                </a:rPr>
                                <m:t>=1</m:t>
                              </m:r>
                            </m:sub>
                            <m:sup>
                              <m:r>
                                <a:rPr lang="hr-HR" b="0" i="1">
                                  <a:latin typeface="Cambria Math" panose="02040503050406030204" pitchFamily="18" charset="0"/>
                                </a:rPr>
                                <m:t>𝑚</m:t>
                              </m:r>
                            </m:sup>
                            <m:e>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𝑎</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sSup>
                                    <m:sSupPr>
                                      <m:ctrlPr>
                                        <a:rPr lang="hr-HR" b="0" i="1">
                                          <a:latin typeface="Cambria Math" panose="02040503050406030204" pitchFamily="18" charset="0"/>
                                        </a:rPr>
                                      </m:ctrlPr>
                                    </m:sSup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𝑝</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d>
                                                <m:dPr>
                                                  <m:begChr m:val=""/>
                                                  <m:ctrlPr>
                                                    <a:rPr lang="hr-HR" b="0" i="1">
                                                      <a:latin typeface="Cambria Math" panose="02040503050406030204" pitchFamily="18" charset="0"/>
                                                    </a:rPr>
                                                  </m:ctrlPr>
                                                </m:dPr>
                                                <m:e>
                                                  <m:r>
                                                    <a:rPr lang="hr-HR" b="1" i="1">
                                                      <a:latin typeface="Cambria Math" panose="02040503050406030204" pitchFamily="18" charset="0"/>
                                                    </a:rPr>
                                                    <m:t>𝑳</m:t>
                                                  </m:r>
                                                  <m:r>
                                                    <a:rPr lang="hr-HR" b="0" i="0">
                                                      <a:latin typeface="Cambria Math" panose="02040503050406030204" pitchFamily="18" charset="0"/>
                                                    </a:rPr>
                                                    <m:t>(</m:t>
                                                  </m:r>
                                                  <m:r>
                                                    <a:rPr lang="hr-HR" b="0" i="1">
                                                      <a:latin typeface="Cambria Math" panose="02040503050406030204" pitchFamily="18" charset="0"/>
                                                    </a:rPr>
                                                    <m:t>𝑘</m:t>
                                                  </m:r>
                                                </m:e>
                                              </m:d>
                                            </m:e>
                                            <m:sub>
                                              <m:r>
                                                <a:rPr lang="hr-HR" b="0" i="1">
                                                  <a:latin typeface="Cambria Math" panose="02040503050406030204" pitchFamily="18" charset="0"/>
                                                </a:rPr>
                                                <m:t>𝑗</m:t>
                                              </m:r>
                                            </m:sub>
                                          </m:sSub>
                                        </m:e>
                                      </m:d>
                                    </m:e>
                                    <m:sup>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sup>
                                  </m:sSup>
                                  <m:r>
                                    <a:rPr lang="hr-HR" b="0" i="0">
                                      <a:latin typeface="Cambria Math" panose="02040503050406030204" pitchFamily="18" charset="0"/>
                                    </a:rPr>
                                    <m:t>∗ </m:t>
                                  </m:r>
                                  <m:sSub>
                                    <m:sSubPr>
                                      <m:ctrlPr>
                                        <a:rPr lang="hr-HR" b="0" i="1">
                                          <a:latin typeface="Cambria Math" panose="02040503050406030204" pitchFamily="18" charset="0"/>
                                        </a:rPr>
                                      </m:ctrlPr>
                                    </m:sSubPr>
                                    <m:e>
                                      <m:r>
                                        <a:rPr lang="hr-HR" b="1" i="1">
                                          <a:latin typeface="Cambria Math" panose="02040503050406030204" pitchFamily="18" charset="0"/>
                                        </a:rPr>
                                        <m:t>𝑷</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e>
                          </m:nary>
                        </m:den>
                      </m:f>
                    </m:oMath>
                  </m:oMathPara>
                </a14:m>
                <a:endParaRPr lang="hr-HR" dirty="0"/>
              </a:p>
            </p:txBody>
          </p:sp>
        </mc:Choice>
        <mc:Fallback xmlns="">
          <p:sp>
            <p:nvSpPr>
              <p:cNvPr id="5" name="Pravokutnik 4"/>
              <p:cNvSpPr>
                <a:spLocks noRot="1" noChangeAspect="1" noMove="1" noResize="1" noEditPoints="1" noAdjustHandles="1" noChangeArrowheads="1" noChangeShapeType="1" noTextEdit="1"/>
              </p:cNvSpPr>
              <p:nvPr/>
            </p:nvSpPr>
            <p:spPr>
              <a:xfrm>
                <a:off x="2110806" y="1905000"/>
                <a:ext cx="5675593" cy="1283236"/>
              </a:xfrm>
              <a:prstGeom prst="rect">
                <a:avLst/>
              </a:prstGeom>
              <a:blipFill>
                <a:blip r:embed="rId3"/>
                <a:stretch>
                  <a:fillRect/>
                </a:stretch>
              </a:blipFill>
            </p:spPr>
            <p:txBody>
              <a:bodyPr/>
              <a:lstStyle/>
              <a:p>
                <a:r>
                  <a:rPr lang="hr-HR">
                    <a:noFill/>
                  </a:rPr>
                  <a:t> </a:t>
                </a:r>
              </a:p>
            </p:txBody>
          </p:sp>
        </mc:Fallback>
      </mc:AlternateContent>
      <p:sp>
        <p:nvSpPr>
          <p:cNvPr id="7" name="Rezervirano mjesto sadržaja 2"/>
          <p:cNvSpPr txBox="1">
            <a:spLocks/>
          </p:cNvSpPr>
          <p:nvPr/>
        </p:nvSpPr>
        <p:spPr>
          <a:xfrm>
            <a:off x="1618567" y="1475308"/>
            <a:ext cx="4725990" cy="36653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Metoda iterativne konvergencije</a:t>
            </a:r>
          </a:p>
        </p:txBody>
      </p:sp>
      <mc:AlternateContent xmlns:mc="http://schemas.openxmlformats.org/markup-compatibility/2006" xmlns:a14="http://schemas.microsoft.com/office/drawing/2010/main">
        <mc:Choice Requires="a14">
          <p:sp>
            <p:nvSpPr>
              <p:cNvPr id="8" name="Pravokutnik 7"/>
              <p:cNvSpPr/>
              <p:nvPr/>
            </p:nvSpPr>
            <p:spPr>
              <a:xfrm>
                <a:off x="2110806" y="3185890"/>
                <a:ext cx="5583130" cy="122065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hr-HR" b="1" i="1">
                              <a:latin typeface="Cambria Math" panose="02040503050406030204" pitchFamily="18" charset="0"/>
                            </a:rPr>
                          </m:ctrlPr>
                        </m:sSubPr>
                        <m:e>
                          <m:d>
                            <m:dPr>
                              <m:begChr m:val=""/>
                              <m:ctrlPr>
                                <a:rPr lang="hr-HR" b="1" i="1">
                                  <a:latin typeface="Cambria Math" panose="02040503050406030204" pitchFamily="18" charset="0"/>
                                </a:rPr>
                              </m:ctrlPr>
                            </m:dPr>
                            <m:e>
                              <m:r>
                                <a:rPr lang="hr-HR" b="1" i="1">
                                  <a:latin typeface="Cambria Math" panose="02040503050406030204" pitchFamily="18" charset="0"/>
                                </a:rPr>
                                <m:t>𝑳</m:t>
                              </m:r>
                              <m:r>
                                <a:rPr lang="hr-HR" b="0" i="0">
                                  <a:latin typeface="Cambria Math" panose="02040503050406030204" pitchFamily="18" charset="0"/>
                                </a:rPr>
                                <m:t>(</m:t>
                              </m:r>
                              <m:r>
                                <a:rPr lang="hr-HR" b="0" i="1">
                                  <a:latin typeface="Cambria Math" panose="02040503050406030204" pitchFamily="18" charset="0"/>
                                </a:rPr>
                                <m:t>𝑘</m:t>
                              </m:r>
                              <m:r>
                                <a:rPr lang="hr-HR" b="0" i="0">
                                  <a:latin typeface="Cambria Math" panose="02040503050406030204" pitchFamily="18" charset="0"/>
                                </a:rPr>
                                <m:t>+1</m:t>
                              </m:r>
                            </m:e>
                          </m:d>
                        </m:e>
                        <m:sub>
                          <m:r>
                            <a:rPr lang="hr-HR" b="0" i="1">
                              <a:latin typeface="Cambria Math" panose="02040503050406030204" pitchFamily="18" charset="0"/>
                            </a:rPr>
                            <m:t>𝑗</m:t>
                          </m:r>
                        </m:sub>
                      </m:sSub>
                      <m:r>
                        <a:rPr lang="hr-HR" b="0" i="0">
                          <a:latin typeface="Cambria Math" panose="02040503050406030204" pitchFamily="18" charset="0"/>
                        </a:rPr>
                        <m:t>=</m:t>
                      </m:r>
                      <m:f>
                        <m:fPr>
                          <m:ctrlPr>
                            <a:rPr lang="hr-HR" b="0" i="1">
                              <a:latin typeface="Cambria Math" panose="02040503050406030204" pitchFamily="18" charset="0"/>
                            </a:rPr>
                          </m:ctrlPr>
                        </m:fPr>
                        <m:num>
                          <m:nary>
                            <m:naryPr>
                              <m:chr m:val="∑"/>
                              <m:limLoc m:val="subSup"/>
                              <m:grow m:val="on"/>
                              <m:ctrlPr>
                                <a:rPr lang="hr-HR" b="0" i="1">
                                  <a:latin typeface="Cambria Math" panose="02040503050406030204" pitchFamily="18" charset="0"/>
                                </a:rPr>
                              </m:ctrlPr>
                            </m:naryPr>
                            <m:sub>
                              <m:r>
                                <a:rPr lang="hr-HR" b="0" i="1">
                                  <a:latin typeface="Cambria Math" panose="02040503050406030204" pitchFamily="18" charset="0"/>
                                </a:rPr>
                                <m:t>𝑖</m:t>
                              </m:r>
                              <m:r>
                                <a:rPr lang="hr-HR" b="0" i="0">
                                  <a:latin typeface="Cambria Math" panose="02040503050406030204" pitchFamily="18" charset="0"/>
                                </a:rPr>
                                <m:t>=1</m:t>
                              </m:r>
                            </m:sub>
                            <m:sup>
                              <m:r>
                                <a:rPr lang="hr-HR" b="0" i="1">
                                  <a:latin typeface="Cambria Math" panose="02040503050406030204" pitchFamily="18" charset="0"/>
                                </a:rPr>
                                <m:t>𝑛</m:t>
                              </m:r>
                            </m:sup>
                            <m:e>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𝑎</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𝑡</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sSup>
                                    <m:sSupPr>
                                      <m:ctrlPr>
                                        <a:rPr lang="hr-HR" b="0" i="1">
                                          <a:latin typeface="Cambria Math" panose="02040503050406030204" pitchFamily="18" charset="0"/>
                                        </a:rPr>
                                      </m:ctrlPr>
                                    </m:sSup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𝑝</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d>
                                                <m:dPr>
                                                  <m:begChr m:val=""/>
                                                  <m:ctrlPr>
                                                    <a:rPr lang="hr-HR" b="0" i="1">
                                                      <a:latin typeface="Cambria Math" panose="02040503050406030204" pitchFamily="18" charset="0"/>
                                                    </a:rPr>
                                                  </m:ctrlPr>
                                                </m:dPr>
                                                <m:e>
                                                  <m:r>
                                                    <a:rPr lang="hr-HR" b="1" i="1">
                                                      <a:latin typeface="Cambria Math" panose="02040503050406030204" pitchFamily="18" charset="0"/>
                                                    </a:rPr>
                                                    <m:t>𝑺</m:t>
                                                  </m:r>
                                                  <m:r>
                                                    <a:rPr lang="hr-HR" b="0" i="0">
                                                      <a:latin typeface="Cambria Math" panose="02040503050406030204" pitchFamily="18" charset="0"/>
                                                    </a:rPr>
                                                    <m:t>(</m:t>
                                                  </m:r>
                                                  <m:r>
                                                    <a:rPr lang="hr-HR" b="0" i="1">
                                                      <a:latin typeface="Cambria Math" panose="02040503050406030204" pitchFamily="18" charset="0"/>
                                                    </a:rPr>
                                                    <m:t>𝑘</m:t>
                                                  </m:r>
                                                </m:e>
                                              </m:d>
                                            </m:e>
                                            <m:sub>
                                              <m:r>
                                                <a:rPr lang="hr-HR" b="0" i="1">
                                                  <a:latin typeface="Cambria Math" panose="02040503050406030204" pitchFamily="18" charset="0"/>
                                                </a:rPr>
                                                <m:t>𝑖</m:t>
                                              </m:r>
                                            </m:sub>
                                          </m:sSub>
                                        </m:e>
                                      </m:d>
                                    </m:e>
                                    <m:sup>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sup>
                                  </m:sSup>
                                  <m:r>
                                    <a:rPr lang="hr-HR" b="0" i="0">
                                      <a:latin typeface="Cambria Math" panose="02040503050406030204" pitchFamily="18" charset="0"/>
                                    </a:rPr>
                                    <m:t>∗ </m:t>
                                  </m:r>
                                  <m:sSub>
                                    <m:sSubPr>
                                      <m:ctrlPr>
                                        <a:rPr lang="hr-HR" b="0" i="1">
                                          <a:latin typeface="Cambria Math" panose="02040503050406030204" pitchFamily="18" charset="0"/>
                                        </a:rPr>
                                      </m:ctrlPr>
                                    </m:sSubPr>
                                    <m:e>
                                      <m:r>
                                        <a:rPr lang="hr-HR" b="1" i="1">
                                          <a:latin typeface="Cambria Math" panose="02040503050406030204" pitchFamily="18" charset="0"/>
                                        </a:rPr>
                                        <m:t>𝑷</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e>
                          </m:nary>
                        </m:num>
                        <m:den>
                          <m:nary>
                            <m:naryPr>
                              <m:chr m:val="∑"/>
                              <m:limLoc m:val="subSup"/>
                              <m:grow m:val="on"/>
                              <m:ctrlPr>
                                <a:rPr lang="hr-HR" b="0" i="1">
                                  <a:latin typeface="Cambria Math" panose="02040503050406030204" pitchFamily="18" charset="0"/>
                                </a:rPr>
                              </m:ctrlPr>
                            </m:naryPr>
                            <m:sub>
                              <m:r>
                                <a:rPr lang="hr-HR" b="0" i="1">
                                  <a:latin typeface="Cambria Math" panose="02040503050406030204" pitchFamily="18" charset="0"/>
                                </a:rPr>
                                <m:t>𝑖</m:t>
                              </m:r>
                              <m:r>
                                <a:rPr lang="hr-HR" b="0" i="0">
                                  <a:latin typeface="Cambria Math" panose="02040503050406030204" pitchFamily="18" charset="0"/>
                                </a:rPr>
                                <m:t>=1</m:t>
                              </m:r>
                            </m:sub>
                            <m:sup>
                              <m:r>
                                <a:rPr lang="hr-HR" b="0" i="1">
                                  <a:latin typeface="Cambria Math" panose="02040503050406030204" pitchFamily="18" charset="0"/>
                                </a:rPr>
                                <m:t>𝑛</m:t>
                              </m:r>
                            </m:sup>
                            <m:e>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𝑎</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sSup>
                                    <m:sSupPr>
                                      <m:ctrlPr>
                                        <a:rPr lang="hr-HR" b="0" i="1">
                                          <a:latin typeface="Cambria Math" panose="02040503050406030204" pitchFamily="18" charset="0"/>
                                        </a:rPr>
                                      </m:ctrlPr>
                                    </m:sSup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𝑝</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d>
                                                <m:dPr>
                                                  <m:begChr m:val=""/>
                                                  <m:ctrlPr>
                                                    <a:rPr lang="hr-HR" b="0" i="1">
                                                      <a:latin typeface="Cambria Math" panose="02040503050406030204" pitchFamily="18" charset="0"/>
                                                    </a:rPr>
                                                  </m:ctrlPr>
                                                </m:dPr>
                                                <m:e>
                                                  <m:r>
                                                    <a:rPr lang="hr-HR" b="1" i="1">
                                                      <a:latin typeface="Cambria Math" panose="02040503050406030204" pitchFamily="18" charset="0"/>
                                                    </a:rPr>
                                                    <m:t>𝑺</m:t>
                                                  </m:r>
                                                  <m:r>
                                                    <a:rPr lang="hr-HR" b="0" i="0">
                                                      <a:latin typeface="Cambria Math" panose="02040503050406030204" pitchFamily="18" charset="0"/>
                                                    </a:rPr>
                                                    <m:t>(</m:t>
                                                  </m:r>
                                                  <m:r>
                                                    <a:rPr lang="hr-HR" b="0" i="1">
                                                      <a:latin typeface="Cambria Math" panose="02040503050406030204" pitchFamily="18" charset="0"/>
                                                    </a:rPr>
                                                    <m:t>𝑘</m:t>
                                                  </m:r>
                                                </m:e>
                                              </m:d>
                                            </m:e>
                                            <m:sub>
                                              <m:r>
                                                <a:rPr lang="hr-HR" b="0" i="1">
                                                  <a:latin typeface="Cambria Math" panose="02040503050406030204" pitchFamily="18" charset="0"/>
                                                </a:rPr>
                                                <m:t>𝑖</m:t>
                                              </m:r>
                                            </m:sub>
                                          </m:sSub>
                                        </m:e>
                                      </m:d>
                                    </m:e>
                                    <m:sup>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sup>
                                  </m:sSup>
                                  <m:r>
                                    <a:rPr lang="hr-HR" b="0" i="0">
                                      <a:latin typeface="Cambria Math" panose="02040503050406030204" pitchFamily="18" charset="0"/>
                                    </a:rPr>
                                    <m:t>∗ </m:t>
                                  </m:r>
                                  <m:sSub>
                                    <m:sSubPr>
                                      <m:ctrlPr>
                                        <a:rPr lang="hr-HR" b="0" i="1">
                                          <a:latin typeface="Cambria Math" panose="02040503050406030204" pitchFamily="18" charset="0"/>
                                        </a:rPr>
                                      </m:ctrlPr>
                                    </m:sSubPr>
                                    <m:e>
                                      <m:r>
                                        <a:rPr lang="hr-HR" b="1" i="1">
                                          <a:latin typeface="Cambria Math" panose="02040503050406030204" pitchFamily="18" charset="0"/>
                                        </a:rPr>
                                        <m:t>𝑷</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e>
                          </m:nary>
                        </m:den>
                      </m:f>
                    </m:oMath>
                  </m:oMathPara>
                </a14:m>
                <a:endParaRPr lang="hr-HR" dirty="0"/>
              </a:p>
            </p:txBody>
          </p:sp>
        </mc:Choice>
        <mc:Fallback xmlns="">
          <p:sp>
            <p:nvSpPr>
              <p:cNvPr id="8" name="Pravokutnik 7"/>
              <p:cNvSpPr>
                <a:spLocks noRot="1" noChangeAspect="1" noMove="1" noResize="1" noEditPoints="1" noAdjustHandles="1" noChangeArrowheads="1" noChangeShapeType="1" noTextEdit="1"/>
              </p:cNvSpPr>
              <p:nvPr/>
            </p:nvSpPr>
            <p:spPr>
              <a:xfrm>
                <a:off x="2110806" y="3185890"/>
                <a:ext cx="5583130" cy="1220655"/>
              </a:xfrm>
              <a:prstGeom prst="rect">
                <a:avLst/>
              </a:prstGeom>
              <a:blipFill>
                <a:blip r:embed="rId4"/>
                <a:stretch>
                  <a:fillRect/>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9" name="Pravokutnik 8"/>
              <p:cNvSpPr/>
              <p:nvPr/>
            </p:nvSpPr>
            <p:spPr>
              <a:xfrm>
                <a:off x="2080346" y="4590517"/>
                <a:ext cx="3231975" cy="49289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func>
                        <m:funcPr>
                          <m:ctrlPr>
                            <a:rPr lang="hr-HR" sz="2000" i="1" smtClean="0">
                              <a:latin typeface="Cambria Math" panose="02040503050406030204" pitchFamily="18" charset="0"/>
                            </a:rPr>
                          </m:ctrlPr>
                        </m:funcPr>
                        <m:fName>
                          <m:limLow>
                            <m:limLowPr>
                              <m:ctrlPr>
                                <a:rPr lang="hr-HR" sz="2000" i="1">
                                  <a:latin typeface="Cambria Math" panose="02040503050406030204" pitchFamily="18" charset="0"/>
                                </a:rPr>
                              </m:ctrlPr>
                            </m:limLowPr>
                            <m:e>
                              <m:r>
                                <m:rPr>
                                  <m:sty m:val="p"/>
                                </m:rPr>
                                <a:rPr lang="hr-HR" sz="2000">
                                  <a:latin typeface="Cambria Math" panose="02040503050406030204" pitchFamily="18" charset="0"/>
                                </a:rPr>
                                <m:t>lim</m:t>
                              </m:r>
                            </m:e>
                            <m:lim>
                              <m:r>
                                <a:rPr lang="hr-HR" sz="2000" i="1">
                                  <a:latin typeface="Cambria Math" panose="02040503050406030204" pitchFamily="18" charset="0"/>
                                </a:rPr>
                                <m:t>𝑘</m:t>
                              </m:r>
                              <m:r>
                                <a:rPr lang="hr-HR" sz="2000" i="0">
                                  <a:latin typeface="Cambria Math" panose="02040503050406030204" pitchFamily="18" charset="0"/>
                                </a:rPr>
                                <m:t>→∞</m:t>
                              </m:r>
                            </m:lim>
                          </m:limLow>
                        </m:fName>
                        <m:e>
                          <m:r>
                            <a:rPr lang="hr-HR" sz="2000" b="1" i="0">
                              <a:latin typeface="Cambria Math" panose="02040503050406030204" pitchFamily="18" charset="0"/>
                            </a:rPr>
                            <m:t>𝐒</m:t>
                          </m:r>
                          <m:d>
                            <m:dPr>
                              <m:ctrlPr>
                                <a:rPr lang="hr-HR" sz="2000" b="1" i="1">
                                  <a:latin typeface="Cambria Math" panose="02040503050406030204" pitchFamily="18" charset="0"/>
                                </a:rPr>
                              </m:ctrlPr>
                            </m:dPr>
                            <m:e>
                              <m:r>
                                <a:rPr lang="hr-HR" sz="2000" i="1">
                                  <a:latin typeface="Cambria Math" panose="02040503050406030204" pitchFamily="18" charset="0"/>
                                </a:rPr>
                                <m:t>𝑘</m:t>
                              </m:r>
                            </m:e>
                          </m:d>
                        </m:e>
                      </m:func>
                      <m:r>
                        <a:rPr lang="hr-HR" sz="2000" b="0" i="0">
                          <a:latin typeface="Cambria Math" panose="02040503050406030204" pitchFamily="18" charset="0"/>
                        </a:rPr>
                        <m:t>= ?</m:t>
                      </m:r>
                      <m:r>
                        <a:rPr lang="hr-HR" sz="2000" b="0" i="0" smtClean="0">
                          <a:latin typeface="Cambria Math" panose="02040503050406030204" pitchFamily="18" charset="0"/>
                        </a:rPr>
                        <m:t>,</m:t>
                      </m:r>
                      <m:func>
                        <m:funcPr>
                          <m:ctrlPr>
                            <a:rPr lang="hr-HR" sz="2000" i="1">
                              <a:latin typeface="Cambria Math" panose="02040503050406030204" pitchFamily="18" charset="0"/>
                            </a:rPr>
                          </m:ctrlPr>
                        </m:funcPr>
                        <m:fName>
                          <m:limLow>
                            <m:limLowPr>
                              <m:ctrlPr>
                                <a:rPr lang="hr-HR" sz="2000" i="1">
                                  <a:latin typeface="Cambria Math" panose="02040503050406030204" pitchFamily="18" charset="0"/>
                                </a:rPr>
                              </m:ctrlPr>
                            </m:limLowPr>
                            <m:e>
                              <m:r>
                                <m:rPr>
                                  <m:sty m:val="p"/>
                                </m:rPr>
                                <a:rPr lang="hr-HR" sz="2000">
                                  <a:latin typeface="Cambria Math" panose="02040503050406030204" pitchFamily="18" charset="0"/>
                                </a:rPr>
                                <m:t>lim</m:t>
                              </m:r>
                            </m:e>
                            <m:lim>
                              <m:r>
                                <a:rPr lang="hr-HR" sz="2000" i="1">
                                  <a:latin typeface="Cambria Math" panose="02040503050406030204" pitchFamily="18" charset="0"/>
                                </a:rPr>
                                <m:t>𝑘</m:t>
                              </m:r>
                              <m:r>
                                <a:rPr lang="hr-HR" sz="2000">
                                  <a:latin typeface="Cambria Math" panose="02040503050406030204" pitchFamily="18" charset="0"/>
                                </a:rPr>
                                <m:t>→∞</m:t>
                              </m:r>
                            </m:lim>
                          </m:limLow>
                        </m:fName>
                        <m:e>
                          <m:r>
                            <a:rPr lang="hr-HR" sz="2000" b="1">
                              <a:latin typeface="Cambria Math" panose="02040503050406030204" pitchFamily="18" charset="0"/>
                            </a:rPr>
                            <m:t>𝐋</m:t>
                          </m:r>
                          <m:d>
                            <m:dPr>
                              <m:ctrlPr>
                                <a:rPr lang="hr-HR" sz="2000" b="1" i="1">
                                  <a:latin typeface="Cambria Math" panose="02040503050406030204" pitchFamily="18" charset="0"/>
                                </a:rPr>
                              </m:ctrlPr>
                            </m:dPr>
                            <m:e>
                              <m:r>
                                <a:rPr lang="hr-HR" sz="2000" i="1">
                                  <a:latin typeface="Cambria Math" panose="02040503050406030204" pitchFamily="18" charset="0"/>
                                </a:rPr>
                                <m:t>𝑘</m:t>
                              </m:r>
                            </m:e>
                          </m:d>
                        </m:e>
                      </m:func>
                      <m:r>
                        <a:rPr lang="hr-HR" sz="2000">
                          <a:latin typeface="Cambria Math" panose="02040503050406030204" pitchFamily="18" charset="0"/>
                        </a:rPr>
                        <m:t>= ?</m:t>
                      </m:r>
                    </m:oMath>
                  </m:oMathPara>
                </a14:m>
                <a:endParaRPr lang="hr-HR" sz="2000" dirty="0"/>
              </a:p>
            </p:txBody>
          </p:sp>
        </mc:Choice>
        <mc:Fallback xmlns="">
          <p:sp>
            <p:nvSpPr>
              <p:cNvPr id="9" name="Pravokutnik 8"/>
              <p:cNvSpPr>
                <a:spLocks noRot="1" noChangeAspect="1" noMove="1" noResize="1" noEditPoints="1" noAdjustHandles="1" noChangeArrowheads="1" noChangeShapeType="1" noTextEdit="1"/>
              </p:cNvSpPr>
              <p:nvPr/>
            </p:nvSpPr>
            <p:spPr>
              <a:xfrm>
                <a:off x="2080346" y="4590517"/>
                <a:ext cx="3231975" cy="492892"/>
              </a:xfrm>
              <a:prstGeom prst="rect">
                <a:avLst/>
              </a:prstGeom>
              <a:blipFill>
                <a:blip r:embed="rId5"/>
                <a:stretch>
                  <a:fillRect b="-3704"/>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10" name="Pravokutnik 9"/>
              <p:cNvSpPr/>
              <p:nvPr/>
            </p:nvSpPr>
            <p:spPr>
              <a:xfrm>
                <a:off x="2110806" y="5267381"/>
                <a:ext cx="2194832"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sty m:val="p"/>
                        </m:rPr>
                        <a:rPr lang="hr-HR" b="0" i="0" smtClean="0">
                          <a:latin typeface="Cambria Math" panose="02040503050406030204" pitchFamily="18" charset="0"/>
                        </a:rPr>
                        <m:t>m</m:t>
                      </m:r>
                      <m:r>
                        <a:rPr lang="hr-HR" i="0">
                          <a:latin typeface="Cambria Math" panose="02040503050406030204" pitchFamily="18" charset="0"/>
                        </a:rPr>
                        <m:t>−</m:t>
                      </m:r>
                      <m:r>
                        <a:rPr lang="hr-HR" i="1">
                          <a:latin typeface="Cambria Math" panose="02040503050406030204" pitchFamily="18" charset="0"/>
                        </a:rPr>
                        <m:t>𝑏𝑟𝑜𝑗</m:t>
                      </m:r>
                      <m:r>
                        <a:rPr lang="hr-HR" i="0">
                          <a:latin typeface="Cambria Math" panose="02040503050406030204" pitchFamily="18" charset="0"/>
                        </a:rPr>
                        <m:t> </m:t>
                      </m:r>
                      <m:r>
                        <a:rPr lang="hr-HR" b="0" i="1" smtClean="0">
                          <a:latin typeface="Cambria Math" panose="02040503050406030204" pitchFamily="18" charset="0"/>
                        </a:rPr>
                        <m:t>𝑧𝑎𝑑𝑎𝑡𝑎𝑘𝑎</m:t>
                      </m:r>
                    </m:oMath>
                  </m:oMathPara>
                </a14:m>
                <a:endParaRPr lang="hr-HR" dirty="0"/>
              </a:p>
            </p:txBody>
          </p:sp>
        </mc:Choice>
        <mc:Fallback xmlns="">
          <p:sp>
            <p:nvSpPr>
              <p:cNvPr id="10" name="Pravokutnik 9"/>
              <p:cNvSpPr>
                <a:spLocks noRot="1" noChangeAspect="1" noMove="1" noResize="1" noEditPoints="1" noAdjustHandles="1" noChangeArrowheads="1" noChangeShapeType="1" noTextEdit="1"/>
              </p:cNvSpPr>
              <p:nvPr/>
            </p:nvSpPr>
            <p:spPr>
              <a:xfrm>
                <a:off x="2110806" y="5267381"/>
                <a:ext cx="2194832" cy="369332"/>
              </a:xfrm>
              <a:prstGeom prst="rect">
                <a:avLst/>
              </a:prstGeom>
              <a:blipFill>
                <a:blip r:embed="rId6"/>
                <a:stretch>
                  <a:fillRect b="-16393"/>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11" name="Pravokutnik 10"/>
              <p:cNvSpPr/>
              <p:nvPr/>
            </p:nvSpPr>
            <p:spPr>
              <a:xfrm>
                <a:off x="2110806" y="5592896"/>
                <a:ext cx="222285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hr-HR" i="1" smtClean="0">
                          <a:latin typeface="Cambria Math" panose="02040503050406030204" pitchFamily="18" charset="0"/>
                        </a:rPr>
                        <m:t>𝑛</m:t>
                      </m:r>
                      <m:r>
                        <a:rPr lang="hr-HR" i="0">
                          <a:latin typeface="Cambria Math" panose="02040503050406030204" pitchFamily="18" charset="0"/>
                        </a:rPr>
                        <m:t>−</m:t>
                      </m:r>
                      <m:r>
                        <a:rPr lang="hr-HR" i="1">
                          <a:latin typeface="Cambria Math" panose="02040503050406030204" pitchFamily="18" charset="0"/>
                        </a:rPr>
                        <m:t>𝑏𝑟𝑜𝑗</m:t>
                      </m:r>
                      <m:r>
                        <a:rPr lang="hr-HR" i="0">
                          <a:latin typeface="Cambria Math" panose="02040503050406030204" pitchFamily="18" charset="0"/>
                        </a:rPr>
                        <m:t> </m:t>
                      </m:r>
                      <m:r>
                        <a:rPr lang="hr-HR" b="0" i="1" smtClean="0">
                          <a:latin typeface="Cambria Math" panose="02040503050406030204" pitchFamily="18" charset="0"/>
                        </a:rPr>
                        <m:t>𝑠𝑡𝑢𝑑𝑒𝑛𝑎𝑡𝑎</m:t>
                      </m:r>
                    </m:oMath>
                  </m:oMathPara>
                </a14:m>
                <a:endParaRPr lang="hr-HR" dirty="0"/>
              </a:p>
            </p:txBody>
          </p:sp>
        </mc:Choice>
        <mc:Fallback xmlns="">
          <p:sp>
            <p:nvSpPr>
              <p:cNvPr id="11" name="Pravokutnik 10"/>
              <p:cNvSpPr>
                <a:spLocks noRot="1" noChangeAspect="1" noMove="1" noResize="1" noEditPoints="1" noAdjustHandles="1" noChangeArrowheads="1" noChangeShapeType="1" noTextEdit="1"/>
              </p:cNvSpPr>
              <p:nvPr/>
            </p:nvSpPr>
            <p:spPr>
              <a:xfrm>
                <a:off x="2110806" y="5592896"/>
                <a:ext cx="2222853" cy="369332"/>
              </a:xfrm>
              <a:prstGeom prst="rect">
                <a:avLst/>
              </a:prstGeom>
              <a:blipFill>
                <a:blip r:embed="rId7"/>
                <a:stretch>
                  <a:fillRect b="-16393"/>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12" name="Rezervirano mjesto sadržaja 2"/>
              <p:cNvSpPr txBox="1">
                <a:spLocks/>
              </p:cNvSpPr>
              <p:nvPr/>
            </p:nvSpPr>
            <p:spPr>
              <a:xfrm>
                <a:off x="7764575" y="1460680"/>
                <a:ext cx="3360625" cy="36653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Funkcija </a:t>
                </a:r>
                <a14:m>
                  <m:oMath xmlns:m="http://schemas.openxmlformats.org/officeDocument/2006/math">
                    <m:sSub>
                      <m:sSubPr>
                        <m:ctrlPr>
                          <a:rPr lang="hr-HR" i="1">
                            <a:latin typeface="Cambria Math" panose="02040503050406030204" pitchFamily="18" charset="0"/>
                          </a:rPr>
                        </m:ctrlPr>
                      </m:sSubPr>
                      <m:e>
                        <m:r>
                          <a:rPr lang="hr-HR" i="1">
                            <a:latin typeface="Cambria Math" panose="02040503050406030204" pitchFamily="18" charset="0"/>
                          </a:rPr>
                          <m:t>𝑓</m:t>
                        </m:r>
                      </m:e>
                      <m:sub>
                        <m:r>
                          <a:rPr lang="hr-HR" i="1">
                            <a:latin typeface="Cambria Math" panose="02040503050406030204" pitchFamily="18" charset="0"/>
                          </a:rPr>
                          <m:t>𝑎</m:t>
                        </m:r>
                      </m:sub>
                    </m:sSub>
                  </m:oMath>
                </a14:m>
                <a:endParaRPr lang="hr-HR" dirty="0"/>
              </a:p>
            </p:txBody>
          </p:sp>
        </mc:Choice>
        <mc:Fallback xmlns="">
          <p:sp>
            <p:nvSpPr>
              <p:cNvPr id="12" name="Rezervirano mjesto sadržaja 2"/>
              <p:cNvSpPr txBox="1">
                <a:spLocks noRot="1" noChangeAspect="1" noMove="1" noResize="1" noEditPoints="1" noAdjustHandles="1" noChangeArrowheads="1" noChangeShapeType="1" noTextEdit="1"/>
              </p:cNvSpPr>
              <p:nvPr/>
            </p:nvSpPr>
            <p:spPr>
              <a:xfrm>
                <a:off x="7764575" y="1460680"/>
                <a:ext cx="3360625" cy="366532"/>
              </a:xfrm>
              <a:prstGeom prst="rect">
                <a:avLst/>
              </a:prstGeom>
              <a:blipFill>
                <a:blip r:embed="rId8"/>
                <a:stretch>
                  <a:fillRect l="-1270" t="-10000" b="-26667"/>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13" name="Pravokutnik 12"/>
              <p:cNvSpPr/>
              <p:nvPr/>
            </p:nvSpPr>
            <p:spPr>
              <a:xfrm>
                <a:off x="8268518" y="1909664"/>
                <a:ext cx="2536642" cy="369332"/>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sSub>
                        <m:sSubPr>
                          <m:ctrlPr>
                            <a:rPr lang="hr-HR" i="1">
                              <a:latin typeface="Cambria Math" panose="02040503050406030204" pitchFamily="18" charset="0"/>
                            </a:rPr>
                          </m:ctrlPr>
                        </m:sSubPr>
                        <m:e>
                          <m:r>
                            <a:rPr lang="hr-HR" i="1">
                              <a:latin typeface="Cambria Math" panose="02040503050406030204" pitchFamily="18" charset="0"/>
                            </a:rPr>
                            <m:t>𝑓</m:t>
                          </m:r>
                        </m:e>
                        <m:sub>
                          <m:r>
                            <a:rPr lang="hr-HR" i="1">
                              <a:latin typeface="Cambria Math" panose="02040503050406030204" pitchFamily="18" charset="0"/>
                            </a:rPr>
                            <m:t>𝑎</m:t>
                          </m:r>
                        </m:sub>
                      </m:sSub>
                      <m:d>
                        <m:dPr>
                          <m:ctrlPr>
                            <a:rPr lang="hr-HR" i="1">
                              <a:latin typeface="Cambria Math" panose="02040503050406030204" pitchFamily="18" charset="0"/>
                            </a:rPr>
                          </m:ctrlPr>
                        </m:dPr>
                        <m:e>
                          <m:r>
                            <a:rPr lang="hr-HR" i="1">
                              <a:latin typeface="Cambria Math" panose="02040503050406030204" pitchFamily="18" charset="0"/>
                            </a:rPr>
                            <m:t>𝑥</m:t>
                          </m:r>
                        </m:e>
                      </m:d>
                      <m:r>
                        <a:rPr lang="hr-HR" i="0">
                          <a:latin typeface="Cambria Math" panose="02040503050406030204" pitchFamily="18" charset="0"/>
                        </a:rPr>
                        <m:t>=</m:t>
                      </m:r>
                      <m:sSup>
                        <m:sSupPr>
                          <m:ctrlPr>
                            <a:rPr lang="hr-HR" i="1">
                              <a:latin typeface="Cambria Math" panose="02040503050406030204" pitchFamily="18" charset="0"/>
                            </a:rPr>
                          </m:ctrlPr>
                        </m:sSupPr>
                        <m:e>
                          <m:r>
                            <a:rPr lang="hr-HR" i="1">
                              <a:latin typeface="Cambria Math" panose="02040503050406030204" pitchFamily="18" charset="0"/>
                            </a:rPr>
                            <m:t>𝑥</m:t>
                          </m:r>
                        </m:e>
                        <m:sup>
                          <m:r>
                            <a:rPr lang="hr-HR" i="0">
                              <a:latin typeface="Cambria Math" panose="02040503050406030204" pitchFamily="18" charset="0"/>
                            </a:rPr>
                            <m:t>2</m:t>
                          </m:r>
                        </m:sup>
                      </m:sSup>
                    </m:oMath>
                  </m:oMathPara>
                </a14:m>
                <a:endParaRPr lang="hr-HR" dirty="0"/>
              </a:p>
            </p:txBody>
          </p:sp>
        </mc:Choice>
        <mc:Fallback xmlns="">
          <p:sp>
            <p:nvSpPr>
              <p:cNvPr id="13" name="Pravokutnik 12"/>
              <p:cNvSpPr>
                <a:spLocks noRot="1" noChangeAspect="1" noMove="1" noResize="1" noEditPoints="1" noAdjustHandles="1" noChangeArrowheads="1" noChangeShapeType="1" noTextEdit="1"/>
              </p:cNvSpPr>
              <p:nvPr/>
            </p:nvSpPr>
            <p:spPr>
              <a:xfrm>
                <a:off x="8268518" y="1909664"/>
                <a:ext cx="2536642" cy="369332"/>
              </a:xfrm>
              <a:prstGeom prst="rect">
                <a:avLst/>
              </a:prstGeom>
              <a:blipFill>
                <a:blip r:embed="rId9"/>
                <a:stretch>
                  <a:fillRect l="-719" b="-16393"/>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15" name="TekstniOkvir 14"/>
              <p:cNvSpPr txBox="1"/>
              <p:nvPr/>
            </p:nvSpPr>
            <p:spPr>
              <a:xfrm>
                <a:off x="8288808" y="2354851"/>
                <a:ext cx="3735552" cy="617861"/>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sSub>
                        <m:sSubPr>
                          <m:ctrlPr>
                            <a:rPr lang="hr-HR" i="1" smtClean="0">
                              <a:latin typeface="Cambria Math" panose="02040503050406030204" pitchFamily="18" charset="0"/>
                            </a:rPr>
                          </m:ctrlPr>
                        </m:sSubPr>
                        <m:e>
                          <m:r>
                            <a:rPr lang="hr-HR" i="1">
                              <a:latin typeface="Cambria Math" panose="02040503050406030204" pitchFamily="18" charset="0"/>
                            </a:rPr>
                            <m:t>𝑓</m:t>
                          </m:r>
                        </m:e>
                        <m:sub>
                          <m:r>
                            <a:rPr lang="hr-HR" i="1">
                              <a:latin typeface="Cambria Math" panose="02040503050406030204" pitchFamily="18" charset="0"/>
                            </a:rPr>
                            <m:t>𝑎</m:t>
                          </m:r>
                        </m:sub>
                      </m:sSub>
                      <m:r>
                        <a:rPr lang="hr-HR" b="0" i="1" smtClean="0">
                          <a:latin typeface="Cambria Math" panose="02040503050406030204" pitchFamily="18" charset="0"/>
                        </a:rPr>
                        <m:t>(</m:t>
                      </m:r>
                      <m:sSub>
                        <m:sSubPr>
                          <m:ctrlPr>
                            <a:rPr lang="hr-HR" b="1" i="1">
                              <a:latin typeface="Cambria Math" panose="02040503050406030204" pitchFamily="18" charset="0"/>
                            </a:rPr>
                          </m:ctrlPr>
                        </m:sSubPr>
                        <m:e>
                          <m:r>
                            <a:rPr lang="hr-HR" b="1" i="1">
                              <a:latin typeface="Cambria Math" panose="02040503050406030204" pitchFamily="18" charset="0"/>
                            </a:rPr>
                            <m:t>𝑻</m:t>
                          </m:r>
                        </m:e>
                        <m:sub>
                          <m:r>
                            <a:rPr lang="hr-HR" i="1">
                              <a:latin typeface="Cambria Math" panose="02040503050406030204" pitchFamily="18" charset="0"/>
                            </a:rPr>
                            <m:t>𝑖</m:t>
                          </m:r>
                          <m:r>
                            <a:rPr lang="hr-HR">
                              <a:latin typeface="Cambria Math" panose="02040503050406030204" pitchFamily="18" charset="0"/>
                            </a:rPr>
                            <m:t>,</m:t>
                          </m:r>
                          <m:r>
                            <a:rPr lang="hr-HR" i="1">
                              <a:latin typeface="Cambria Math" panose="02040503050406030204" pitchFamily="18" charset="0"/>
                            </a:rPr>
                            <m:t>𝑗</m:t>
                          </m:r>
                        </m:sub>
                      </m:sSub>
                      <m:r>
                        <a:rPr lang="hr-HR" b="0" i="1" smtClean="0">
                          <a:latin typeface="Cambria Math" panose="02040503050406030204" pitchFamily="18" charset="0"/>
                        </a:rPr>
                        <m:t>)=</m:t>
                      </m:r>
                      <m:d>
                        <m:dPr>
                          <m:begChr m:val="{"/>
                          <m:endChr m:val=""/>
                          <m:ctrlPr>
                            <a:rPr lang="hr-HR" i="1" smtClean="0">
                              <a:latin typeface="Cambria Math" panose="02040503050406030204" pitchFamily="18" charset="0"/>
                            </a:rPr>
                          </m:ctrlPr>
                        </m:dPr>
                        <m:e>
                          <m:eqArr>
                            <m:eqArrPr>
                              <m:ctrlPr>
                                <a:rPr lang="hr-HR" i="1" smtClean="0">
                                  <a:latin typeface="Cambria Math" panose="02040503050406030204" pitchFamily="18" charset="0"/>
                                </a:rPr>
                              </m:ctrlPr>
                            </m:eqArrPr>
                            <m:e>
                              <m:r>
                                <a:rPr lang="hr-HR" b="0" i="1" smtClean="0">
                                  <a:latin typeface="Cambria Math" panose="02040503050406030204" pitchFamily="18" charset="0"/>
                                </a:rPr>
                                <m:t>1,</m:t>
                              </m:r>
                              <m:r>
                                <a:rPr lang="hr-HR" b="0" i="1" smtClean="0">
                                  <a:latin typeface="Cambria Math" panose="02040503050406030204" pitchFamily="18" charset="0"/>
                                </a:rPr>
                                <m:t>𝑧𝑎𝑑𝑎𝑡𝑎𝑘</m:t>
                              </m:r>
                              <m:r>
                                <a:rPr lang="hr-HR" b="0" i="1" smtClean="0">
                                  <a:latin typeface="Cambria Math" panose="02040503050406030204" pitchFamily="18" charset="0"/>
                                </a:rPr>
                                <m:t> </m:t>
                              </m:r>
                              <m:r>
                                <a:rPr lang="hr-HR" b="0" i="1" smtClean="0">
                                  <a:latin typeface="Cambria Math" panose="02040503050406030204" pitchFamily="18" charset="0"/>
                                </a:rPr>
                                <m:t>𝑟𝑗𝑒</m:t>
                              </m:r>
                              <m:r>
                                <a:rPr lang="hr-HR" b="0" i="1" smtClean="0">
                                  <a:latin typeface="Cambria Math" panose="02040503050406030204" pitchFamily="18" charset="0"/>
                                </a:rPr>
                                <m:t>š</m:t>
                              </m:r>
                              <m:r>
                                <a:rPr lang="hr-HR" b="0" i="1" smtClean="0">
                                  <a:latin typeface="Cambria Math" panose="02040503050406030204" pitchFamily="18" charset="0"/>
                                </a:rPr>
                                <m:t>𝑎𝑣𝑎𝑛</m:t>
                              </m:r>
                              <m:r>
                                <a:rPr lang="hr-HR" b="0" i="1" smtClean="0">
                                  <a:latin typeface="Cambria Math" panose="02040503050406030204" pitchFamily="18" charset="0"/>
                                </a:rPr>
                                <m:t>         </m:t>
                              </m:r>
                            </m:e>
                            <m:e>
                              <m:r>
                                <a:rPr lang="hr-HR" b="0" i="1" smtClean="0">
                                  <a:latin typeface="Cambria Math" panose="02040503050406030204" pitchFamily="18" charset="0"/>
                                </a:rPr>
                                <m:t>0, </m:t>
                              </m:r>
                              <m:r>
                                <a:rPr lang="hr-HR" b="0" i="1" smtClean="0">
                                  <a:latin typeface="Cambria Math" panose="02040503050406030204" pitchFamily="18" charset="0"/>
                                </a:rPr>
                                <m:t>𝑧𝑎𝑑𝑎𝑡𝑎𝑘</m:t>
                              </m:r>
                              <m:r>
                                <a:rPr lang="hr-HR" b="0" i="1" smtClean="0">
                                  <a:latin typeface="Cambria Math" panose="02040503050406030204" pitchFamily="18" charset="0"/>
                                </a:rPr>
                                <m:t> </m:t>
                              </m:r>
                              <m:r>
                                <a:rPr lang="hr-HR" b="0" i="1" smtClean="0">
                                  <a:latin typeface="Cambria Math" panose="02040503050406030204" pitchFamily="18" charset="0"/>
                                </a:rPr>
                                <m:t>𝑛𝑖𝑗𝑒</m:t>
                              </m:r>
                              <m:r>
                                <a:rPr lang="hr-HR" b="0" i="1" smtClean="0">
                                  <a:latin typeface="Cambria Math" panose="02040503050406030204" pitchFamily="18" charset="0"/>
                                </a:rPr>
                                <m:t>  </m:t>
                              </m:r>
                              <m:r>
                                <a:rPr lang="hr-HR" b="0" i="1" smtClean="0">
                                  <a:latin typeface="Cambria Math" panose="02040503050406030204" pitchFamily="18" charset="0"/>
                                </a:rPr>
                                <m:t>𝑟𝑗𝑒</m:t>
                              </m:r>
                              <m:r>
                                <a:rPr lang="hr-HR" b="0" i="1" smtClean="0">
                                  <a:latin typeface="Cambria Math" panose="02040503050406030204" pitchFamily="18" charset="0"/>
                                </a:rPr>
                                <m:t>š</m:t>
                              </m:r>
                              <m:r>
                                <a:rPr lang="hr-HR" b="0" i="1" smtClean="0">
                                  <a:latin typeface="Cambria Math" panose="02040503050406030204" pitchFamily="18" charset="0"/>
                                </a:rPr>
                                <m:t>𝑎𝑣𝑎𝑛</m:t>
                              </m:r>
                            </m:e>
                          </m:eqArr>
                        </m:e>
                      </m:d>
                    </m:oMath>
                  </m:oMathPara>
                </a14:m>
                <a:endParaRPr lang="hr-HR" dirty="0"/>
              </a:p>
            </p:txBody>
          </p:sp>
        </mc:Choice>
        <mc:Fallback xmlns="">
          <p:sp>
            <p:nvSpPr>
              <p:cNvPr id="15" name="TekstniOkvir 14"/>
              <p:cNvSpPr txBox="1">
                <a:spLocks noRot="1" noChangeAspect="1" noMove="1" noResize="1" noEditPoints="1" noAdjustHandles="1" noChangeArrowheads="1" noChangeShapeType="1" noTextEdit="1"/>
              </p:cNvSpPr>
              <p:nvPr/>
            </p:nvSpPr>
            <p:spPr>
              <a:xfrm>
                <a:off x="8288808" y="2354851"/>
                <a:ext cx="3735552" cy="617861"/>
              </a:xfrm>
              <a:prstGeom prst="rect">
                <a:avLst/>
              </a:prstGeom>
              <a:blipFill>
                <a:blip r:embed="rId10"/>
                <a:stretch>
                  <a:fillRect l="-163"/>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16" name="Rezervirano mjesto sadržaja 2"/>
              <p:cNvSpPr txBox="1">
                <a:spLocks/>
              </p:cNvSpPr>
              <p:nvPr/>
            </p:nvSpPr>
            <p:spPr>
              <a:xfrm>
                <a:off x="7764575" y="3271555"/>
                <a:ext cx="4725990" cy="366532"/>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Funkcija </a:t>
                </a:r>
                <a14:m>
                  <m:oMath xmlns:m="http://schemas.openxmlformats.org/officeDocument/2006/math">
                    <m:sSub>
                      <m:sSubPr>
                        <m:ctrlPr>
                          <a:rPr lang="hr-HR" i="1">
                            <a:latin typeface="Cambria Math" panose="02040503050406030204" pitchFamily="18" charset="0"/>
                          </a:rPr>
                        </m:ctrlPr>
                      </m:sSubPr>
                      <m:e>
                        <m:r>
                          <a:rPr lang="hr-HR" i="1">
                            <a:latin typeface="Cambria Math" panose="02040503050406030204" pitchFamily="18" charset="0"/>
                          </a:rPr>
                          <m:t>𝑓</m:t>
                        </m:r>
                      </m:e>
                      <m:sub>
                        <m:r>
                          <a:rPr lang="hr-HR" b="0" i="1" smtClean="0">
                            <a:latin typeface="Cambria Math" panose="02040503050406030204" pitchFamily="18" charset="0"/>
                          </a:rPr>
                          <m:t>𝑡</m:t>
                        </m:r>
                      </m:sub>
                    </m:sSub>
                  </m:oMath>
                </a14:m>
                <a:endParaRPr lang="hr-HR" dirty="0"/>
              </a:p>
            </p:txBody>
          </p:sp>
        </mc:Choice>
        <mc:Fallback xmlns="">
          <p:sp>
            <p:nvSpPr>
              <p:cNvPr id="16" name="Rezervirano mjesto sadržaja 2"/>
              <p:cNvSpPr txBox="1">
                <a:spLocks noRot="1" noChangeAspect="1" noMove="1" noResize="1" noEditPoints="1" noAdjustHandles="1" noChangeArrowheads="1" noChangeShapeType="1" noTextEdit="1"/>
              </p:cNvSpPr>
              <p:nvPr/>
            </p:nvSpPr>
            <p:spPr>
              <a:xfrm>
                <a:off x="7764575" y="3271555"/>
                <a:ext cx="4725990" cy="366532"/>
              </a:xfrm>
              <a:prstGeom prst="rect">
                <a:avLst/>
              </a:prstGeom>
              <a:blipFill>
                <a:blip r:embed="rId11"/>
                <a:stretch>
                  <a:fillRect l="-903" t="-10000" b="-26667"/>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17" name="TekstniOkvir 16"/>
              <p:cNvSpPr txBox="1"/>
              <p:nvPr/>
            </p:nvSpPr>
            <p:spPr>
              <a:xfrm>
                <a:off x="8288808" y="4281586"/>
                <a:ext cx="3735552" cy="617861"/>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sSub>
                        <m:sSubPr>
                          <m:ctrlPr>
                            <a:rPr lang="hr-HR" i="1" smtClean="0">
                              <a:latin typeface="Cambria Math" panose="02040503050406030204" pitchFamily="18" charset="0"/>
                            </a:rPr>
                          </m:ctrlPr>
                        </m:sSubPr>
                        <m:e>
                          <m:r>
                            <a:rPr lang="hr-HR" i="1">
                              <a:latin typeface="Cambria Math" panose="02040503050406030204" pitchFamily="18" charset="0"/>
                            </a:rPr>
                            <m:t>𝑓</m:t>
                          </m:r>
                        </m:e>
                        <m:sub>
                          <m:r>
                            <a:rPr lang="hr-HR" b="0" i="1" smtClean="0">
                              <a:latin typeface="Cambria Math" panose="02040503050406030204" pitchFamily="18" charset="0"/>
                            </a:rPr>
                            <m:t>𝑡</m:t>
                          </m:r>
                        </m:sub>
                      </m:sSub>
                      <m:r>
                        <a:rPr lang="hr-HR" b="0" i="1" smtClean="0">
                          <a:latin typeface="Cambria Math" panose="02040503050406030204" pitchFamily="18" charset="0"/>
                        </a:rPr>
                        <m:t>(</m:t>
                      </m:r>
                      <m:sSub>
                        <m:sSubPr>
                          <m:ctrlPr>
                            <a:rPr lang="hr-HR" b="1" i="1">
                              <a:latin typeface="Cambria Math" panose="02040503050406030204" pitchFamily="18" charset="0"/>
                            </a:rPr>
                          </m:ctrlPr>
                        </m:sSubPr>
                        <m:e>
                          <m:r>
                            <a:rPr lang="hr-HR" b="1" i="1">
                              <a:latin typeface="Cambria Math" panose="02040503050406030204" pitchFamily="18" charset="0"/>
                            </a:rPr>
                            <m:t>𝑻</m:t>
                          </m:r>
                        </m:e>
                        <m:sub>
                          <m:r>
                            <a:rPr lang="hr-HR" i="1">
                              <a:latin typeface="Cambria Math" panose="02040503050406030204" pitchFamily="18" charset="0"/>
                            </a:rPr>
                            <m:t>𝑖</m:t>
                          </m:r>
                          <m:r>
                            <a:rPr lang="hr-HR">
                              <a:latin typeface="Cambria Math" panose="02040503050406030204" pitchFamily="18" charset="0"/>
                            </a:rPr>
                            <m:t>,</m:t>
                          </m:r>
                          <m:r>
                            <a:rPr lang="hr-HR" i="1">
                              <a:latin typeface="Cambria Math" panose="02040503050406030204" pitchFamily="18" charset="0"/>
                            </a:rPr>
                            <m:t>𝑗</m:t>
                          </m:r>
                        </m:sub>
                      </m:sSub>
                      <m:r>
                        <a:rPr lang="hr-HR" b="0" i="1" smtClean="0">
                          <a:latin typeface="Cambria Math" panose="02040503050406030204" pitchFamily="18" charset="0"/>
                        </a:rPr>
                        <m:t>)=</m:t>
                      </m:r>
                      <m:d>
                        <m:dPr>
                          <m:begChr m:val="{"/>
                          <m:endChr m:val=""/>
                          <m:ctrlPr>
                            <a:rPr lang="hr-HR" i="1" smtClean="0">
                              <a:latin typeface="Cambria Math" panose="02040503050406030204" pitchFamily="18" charset="0"/>
                            </a:rPr>
                          </m:ctrlPr>
                        </m:dPr>
                        <m:e>
                          <m:eqArr>
                            <m:eqArrPr>
                              <m:ctrlPr>
                                <a:rPr lang="hr-HR" i="1" smtClean="0">
                                  <a:latin typeface="Cambria Math" panose="02040503050406030204" pitchFamily="18" charset="0"/>
                                </a:rPr>
                              </m:ctrlPr>
                            </m:eqArrPr>
                            <m:e>
                              <m:r>
                                <a:rPr lang="hr-HR" b="0" i="1" smtClean="0">
                                  <a:latin typeface="Cambria Math" panose="02040503050406030204" pitchFamily="18" charset="0"/>
                                </a:rPr>
                                <m:t>1,</m:t>
                              </m:r>
                              <m:r>
                                <a:rPr lang="hr-HR" b="0" i="1" smtClean="0">
                                  <a:latin typeface="Cambria Math" panose="02040503050406030204" pitchFamily="18" charset="0"/>
                                </a:rPr>
                                <m:t>𝑖𝑠𝑝𝑟𝑎𝑣𝑛𝑜</m:t>
                              </m:r>
                              <m:r>
                                <a:rPr lang="hr-HR" b="0" i="1" smtClean="0">
                                  <a:latin typeface="Cambria Math" panose="02040503050406030204" pitchFamily="18" charset="0"/>
                                </a:rPr>
                                <m:t> </m:t>
                              </m:r>
                              <m:r>
                                <a:rPr lang="hr-HR" b="0" i="1" smtClean="0">
                                  <a:latin typeface="Cambria Math" panose="02040503050406030204" pitchFamily="18" charset="0"/>
                                </a:rPr>
                                <m:t>𝑟𝑖𝑗𝑒</m:t>
                              </m:r>
                              <m:r>
                                <a:rPr lang="hr-HR" b="0" i="1" smtClean="0">
                                  <a:latin typeface="Cambria Math" panose="02040503050406030204" pitchFamily="18" charset="0"/>
                                </a:rPr>
                                <m:t>š</m:t>
                              </m:r>
                              <m:r>
                                <a:rPr lang="hr-HR" b="0" i="1" smtClean="0">
                                  <a:latin typeface="Cambria Math" panose="02040503050406030204" pitchFamily="18" charset="0"/>
                                </a:rPr>
                                <m:t>𝑒𝑛</m:t>
                              </m:r>
                              <m:r>
                                <a:rPr lang="hr-HR" b="0" i="1" smtClean="0">
                                  <a:latin typeface="Cambria Math" panose="02040503050406030204" pitchFamily="18" charset="0"/>
                                </a:rPr>
                                <m:t>   </m:t>
                              </m:r>
                            </m:e>
                            <m:e>
                              <m:r>
                                <a:rPr lang="hr-HR" b="0" i="1" smtClean="0">
                                  <a:latin typeface="Cambria Math" panose="02040503050406030204" pitchFamily="18" charset="0"/>
                                </a:rPr>
                                <m:t>0, </m:t>
                              </m:r>
                              <m:r>
                                <a:rPr lang="hr-HR" b="0" i="1" smtClean="0">
                                  <a:latin typeface="Cambria Math" panose="02040503050406030204" pitchFamily="18" charset="0"/>
                                </a:rPr>
                                <m:t>𝑛𝑒𝑖𝑠𝑝𝑟𝑎𝑣𝑛𝑜</m:t>
                              </m:r>
                              <m:r>
                                <a:rPr lang="hr-HR" b="0" i="1" smtClean="0">
                                  <a:latin typeface="Cambria Math" panose="02040503050406030204" pitchFamily="18" charset="0"/>
                                </a:rPr>
                                <m:t> </m:t>
                              </m:r>
                              <m:r>
                                <a:rPr lang="hr-HR" b="0" i="1" smtClean="0">
                                  <a:latin typeface="Cambria Math" panose="02040503050406030204" pitchFamily="18" charset="0"/>
                                </a:rPr>
                                <m:t>𝑟𝑗𝑒</m:t>
                              </m:r>
                              <m:r>
                                <a:rPr lang="hr-HR" b="0" i="1" smtClean="0">
                                  <a:latin typeface="Cambria Math" panose="02040503050406030204" pitchFamily="18" charset="0"/>
                                </a:rPr>
                                <m:t>š</m:t>
                              </m:r>
                              <m:r>
                                <a:rPr lang="hr-HR" b="0" i="1" smtClean="0">
                                  <a:latin typeface="Cambria Math" panose="02040503050406030204" pitchFamily="18" charset="0"/>
                                </a:rPr>
                                <m:t>𝑒𝑛</m:t>
                              </m:r>
                            </m:e>
                          </m:eqArr>
                        </m:e>
                      </m:d>
                    </m:oMath>
                  </m:oMathPara>
                </a14:m>
                <a:endParaRPr lang="hr-HR" dirty="0"/>
              </a:p>
            </p:txBody>
          </p:sp>
        </mc:Choice>
        <mc:Fallback xmlns="">
          <p:sp>
            <p:nvSpPr>
              <p:cNvPr id="17" name="TekstniOkvir 16"/>
              <p:cNvSpPr txBox="1">
                <a:spLocks noRot="1" noChangeAspect="1" noMove="1" noResize="1" noEditPoints="1" noAdjustHandles="1" noChangeArrowheads="1" noChangeShapeType="1" noTextEdit="1"/>
              </p:cNvSpPr>
              <p:nvPr/>
            </p:nvSpPr>
            <p:spPr>
              <a:xfrm>
                <a:off x="8288808" y="4281586"/>
                <a:ext cx="3735552" cy="617861"/>
              </a:xfrm>
              <a:prstGeom prst="rect">
                <a:avLst/>
              </a:prstGeom>
              <a:blipFill>
                <a:blip r:embed="rId12"/>
                <a:stretch>
                  <a:fillRect l="-163"/>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18" name="Pravokutnik 17"/>
              <p:cNvSpPr/>
              <p:nvPr/>
            </p:nvSpPr>
            <p:spPr>
              <a:xfrm>
                <a:off x="8288808" y="3673841"/>
                <a:ext cx="1584921" cy="610936"/>
              </a:xfrm>
              <a:prstGeom prst="rect">
                <a:avLst/>
              </a:prstGeom>
            </p:spPr>
            <p:txBody>
              <a:bodyPr wrap="none">
                <a:spAutoFit/>
              </a:bodyPr>
              <a:lstStyle/>
              <a:p>
                <a:pPr/>
                <a14:m>
                  <m:oMathPara xmlns:m="http://schemas.openxmlformats.org/officeDocument/2006/math">
                    <m:oMathParaPr>
                      <m:jc m:val="left"/>
                    </m:oMathParaPr>
                    <m:oMath xmlns:m="http://schemas.openxmlformats.org/officeDocument/2006/math">
                      <m:sSub>
                        <m:sSubPr>
                          <m:ctrlPr>
                            <a:rPr lang="hr-HR" i="1">
                              <a:latin typeface="Cambria Math" panose="02040503050406030204" pitchFamily="18" charset="0"/>
                            </a:rPr>
                          </m:ctrlPr>
                        </m:sSubPr>
                        <m:e>
                          <m:r>
                            <a:rPr lang="hr-HR" i="1">
                              <a:latin typeface="Cambria Math" panose="02040503050406030204" pitchFamily="18" charset="0"/>
                            </a:rPr>
                            <m:t>𝑓</m:t>
                          </m:r>
                        </m:e>
                        <m:sub>
                          <m:r>
                            <a:rPr lang="hr-HR" i="1">
                              <a:latin typeface="Cambria Math" panose="02040503050406030204" pitchFamily="18" charset="0"/>
                            </a:rPr>
                            <m:t>𝑡</m:t>
                          </m:r>
                        </m:sub>
                      </m:sSub>
                      <m:d>
                        <m:dPr>
                          <m:ctrlPr>
                            <a:rPr lang="hr-HR" i="1">
                              <a:latin typeface="Cambria Math" panose="02040503050406030204" pitchFamily="18" charset="0"/>
                            </a:rPr>
                          </m:ctrlPr>
                        </m:dPr>
                        <m:e>
                          <m:r>
                            <a:rPr lang="hr-HR" i="1">
                              <a:latin typeface="Cambria Math" panose="02040503050406030204" pitchFamily="18" charset="0"/>
                            </a:rPr>
                            <m:t>𝑥</m:t>
                          </m:r>
                        </m:e>
                      </m:d>
                      <m:r>
                        <a:rPr lang="hr-HR" i="0">
                          <a:latin typeface="Cambria Math" panose="02040503050406030204" pitchFamily="18" charset="0"/>
                        </a:rPr>
                        <m:t>=</m:t>
                      </m:r>
                      <m:f>
                        <m:fPr>
                          <m:ctrlPr>
                            <a:rPr lang="hr-HR" i="1">
                              <a:latin typeface="Cambria Math" panose="02040503050406030204" pitchFamily="18" charset="0"/>
                            </a:rPr>
                          </m:ctrlPr>
                        </m:fPr>
                        <m:num>
                          <m:r>
                            <a:rPr lang="hr-HR" i="1">
                              <a:latin typeface="Cambria Math" panose="02040503050406030204" pitchFamily="18" charset="0"/>
                            </a:rPr>
                            <m:t>𝑥</m:t>
                          </m:r>
                          <m:r>
                            <a:rPr lang="hr-HR" i="0">
                              <a:latin typeface="Cambria Math" panose="02040503050406030204" pitchFamily="18" charset="0"/>
                            </a:rPr>
                            <m:t>+1</m:t>
                          </m:r>
                        </m:num>
                        <m:den>
                          <m:r>
                            <a:rPr lang="hr-HR" i="0">
                              <a:latin typeface="Cambria Math" panose="02040503050406030204" pitchFamily="18" charset="0"/>
                            </a:rPr>
                            <m:t>2</m:t>
                          </m:r>
                        </m:den>
                      </m:f>
                    </m:oMath>
                  </m:oMathPara>
                </a14:m>
                <a:endParaRPr lang="hr-HR" dirty="0"/>
              </a:p>
            </p:txBody>
          </p:sp>
        </mc:Choice>
        <mc:Fallback xmlns="">
          <p:sp>
            <p:nvSpPr>
              <p:cNvPr id="18" name="Pravokutnik 17"/>
              <p:cNvSpPr>
                <a:spLocks noRot="1" noChangeAspect="1" noMove="1" noResize="1" noEditPoints="1" noAdjustHandles="1" noChangeArrowheads="1" noChangeShapeType="1" noTextEdit="1"/>
              </p:cNvSpPr>
              <p:nvPr/>
            </p:nvSpPr>
            <p:spPr>
              <a:xfrm>
                <a:off x="8288808" y="3673841"/>
                <a:ext cx="1584921" cy="610936"/>
              </a:xfrm>
              <a:prstGeom prst="rect">
                <a:avLst/>
              </a:prstGeom>
              <a:blipFill>
                <a:blip r:embed="rId13"/>
                <a:stretch>
                  <a:fillRect/>
                </a:stretch>
              </a:blipFill>
            </p:spPr>
            <p:txBody>
              <a:bodyPr/>
              <a:lstStyle/>
              <a:p>
                <a:r>
                  <a:rPr lang="hr-HR">
                    <a:noFill/>
                  </a:rPr>
                  <a:t> </a:t>
                </a:r>
              </a:p>
            </p:txBody>
          </p:sp>
        </mc:Fallback>
      </mc:AlternateContent>
    </p:spTree>
    <p:extLst>
      <p:ext uri="{BB962C8B-B14F-4D97-AF65-F5344CB8AC3E}">
        <p14:creationId xmlns:p14="http://schemas.microsoft.com/office/powerpoint/2010/main" val="3970863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Učenje težina (3)</a:t>
            </a:r>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8</a:t>
            </a:fld>
            <a:endParaRPr lang="hr-HR" dirty="0"/>
          </a:p>
        </p:txBody>
      </p:sp>
      <mc:AlternateContent xmlns:mc="http://schemas.openxmlformats.org/markup-compatibility/2006">
        <mc:Choice xmlns:a14="http://schemas.microsoft.com/office/drawing/2010/main" Requires="a14">
          <p:sp>
            <p:nvSpPr>
              <p:cNvPr id="5" name="Rezervirano mjesto sadržaja 2"/>
              <p:cNvSpPr txBox="1">
                <a:spLocks/>
              </p:cNvSpPr>
              <p:nvPr/>
            </p:nvSpPr>
            <p:spPr>
              <a:xfrm>
                <a:off x="1577135" y="1721734"/>
                <a:ext cx="4725990" cy="366532"/>
              </a:xfrm>
              <a:prstGeom prst="rect">
                <a:avLst/>
              </a:prstGeom>
            </p:spPr>
            <p:txBody>
              <a:bodyPr vert="horz" lIns="91440" tIns="45720" rIns="91440" bIns="45720" rtlCol="0">
                <a:normAutofit lnSpcReduction="1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Funkcija </a:t>
                </a:r>
                <a14:m>
                  <m:oMath xmlns:m="http://schemas.openxmlformats.org/officeDocument/2006/math">
                    <m:sSub>
                      <m:sSubPr>
                        <m:ctrlPr>
                          <a:rPr lang="hr-HR" i="1">
                            <a:latin typeface="Cambria Math" panose="02040503050406030204" pitchFamily="18" charset="0"/>
                          </a:rPr>
                        </m:ctrlPr>
                      </m:sSubPr>
                      <m:e>
                        <m:r>
                          <a:rPr lang="hr-HR" i="1">
                            <a:latin typeface="Cambria Math" panose="02040503050406030204" pitchFamily="18" charset="0"/>
                          </a:rPr>
                          <m:t>𝑓</m:t>
                        </m:r>
                      </m:e>
                      <m:sub>
                        <m:r>
                          <a:rPr lang="hr-HR" b="0" i="1" smtClean="0">
                            <a:latin typeface="Cambria Math" panose="02040503050406030204" pitchFamily="18" charset="0"/>
                          </a:rPr>
                          <m:t>𝑝</m:t>
                        </m:r>
                      </m:sub>
                    </m:sSub>
                  </m:oMath>
                </a14:m>
                <a:endParaRPr lang="hr-HR" dirty="0"/>
              </a:p>
            </p:txBody>
          </p:sp>
        </mc:Choice>
        <mc:Fallback>
          <p:sp>
            <p:nvSpPr>
              <p:cNvPr id="5" name="Rezervirano mjesto sadržaja 2"/>
              <p:cNvSpPr txBox="1">
                <a:spLocks noRot="1" noChangeAspect="1" noMove="1" noResize="1" noEditPoints="1" noAdjustHandles="1" noChangeArrowheads="1" noChangeShapeType="1" noTextEdit="1"/>
              </p:cNvSpPr>
              <p:nvPr/>
            </p:nvSpPr>
            <p:spPr>
              <a:xfrm>
                <a:off x="1577135" y="1721734"/>
                <a:ext cx="4725990" cy="366532"/>
              </a:xfrm>
              <a:prstGeom prst="rect">
                <a:avLst/>
              </a:prstGeom>
              <a:blipFill>
                <a:blip r:embed="rId3"/>
                <a:stretch>
                  <a:fillRect l="-903" t="-16393" b="-16393"/>
                </a:stretch>
              </a:blipFill>
            </p:spPr>
            <p:txBody>
              <a:bodyPr/>
              <a:lstStyle/>
              <a:p>
                <a:r>
                  <a:rPr lang="hr-HR">
                    <a:noFill/>
                  </a:rPr>
                  <a:t> </a:t>
                </a:r>
              </a:p>
            </p:txBody>
          </p:sp>
        </mc:Fallback>
      </mc:AlternateContent>
      <mc:AlternateContent xmlns:mc="http://schemas.openxmlformats.org/markup-compatibility/2006" xmlns:a14="http://schemas.microsoft.com/office/drawing/2010/main">
        <mc:Choice Requires="a14">
          <p:sp>
            <p:nvSpPr>
              <p:cNvPr id="7" name="Pravokutnik 6"/>
              <p:cNvSpPr/>
              <p:nvPr/>
            </p:nvSpPr>
            <p:spPr>
              <a:xfrm>
                <a:off x="2305260" y="2134716"/>
                <a:ext cx="1634870" cy="39626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hr-HR" i="1">
                              <a:latin typeface="Cambria Math" panose="02040503050406030204" pitchFamily="18" charset="0"/>
                            </a:rPr>
                          </m:ctrlPr>
                        </m:sSubPr>
                        <m:e>
                          <m:r>
                            <a:rPr lang="hr-HR" i="1">
                              <a:latin typeface="Cambria Math" panose="02040503050406030204" pitchFamily="18" charset="0"/>
                            </a:rPr>
                            <m:t>𝑓</m:t>
                          </m:r>
                        </m:e>
                        <m:sub>
                          <m:r>
                            <a:rPr lang="hr-HR" i="1">
                              <a:latin typeface="Cambria Math" panose="02040503050406030204" pitchFamily="18" charset="0"/>
                            </a:rPr>
                            <m:t>𝑝</m:t>
                          </m:r>
                        </m:sub>
                      </m:sSub>
                      <m:d>
                        <m:dPr>
                          <m:ctrlPr>
                            <a:rPr lang="hr-HR" i="1">
                              <a:latin typeface="Cambria Math" panose="02040503050406030204" pitchFamily="18" charset="0"/>
                            </a:rPr>
                          </m:ctrlPr>
                        </m:dPr>
                        <m:e>
                          <m:r>
                            <a:rPr lang="hr-HR" i="1">
                              <a:latin typeface="Cambria Math" panose="02040503050406030204" pitchFamily="18" charset="0"/>
                            </a:rPr>
                            <m:t>𝑥</m:t>
                          </m:r>
                        </m:e>
                      </m:d>
                      <m:r>
                        <a:rPr lang="hr-HR" i="0">
                          <a:latin typeface="Cambria Math" panose="02040503050406030204" pitchFamily="18" charset="0"/>
                        </a:rPr>
                        <m:t>=</m:t>
                      </m:r>
                      <m:sSup>
                        <m:sSupPr>
                          <m:ctrlPr>
                            <a:rPr lang="hr-HR" i="1">
                              <a:latin typeface="Cambria Math" panose="02040503050406030204" pitchFamily="18" charset="0"/>
                            </a:rPr>
                          </m:ctrlPr>
                        </m:sSupPr>
                        <m:e>
                          <m:r>
                            <a:rPr lang="hr-HR" i="1">
                              <a:latin typeface="Cambria Math" panose="02040503050406030204" pitchFamily="18" charset="0"/>
                            </a:rPr>
                            <m:t>𝑘</m:t>
                          </m:r>
                        </m:e>
                        <m:sup>
                          <m:r>
                            <a:rPr lang="hr-HR" i="0">
                              <a:latin typeface="Cambria Math" panose="02040503050406030204" pitchFamily="18" charset="0"/>
                            </a:rPr>
                            <m:t>1−2</m:t>
                          </m:r>
                          <m:r>
                            <a:rPr lang="hr-HR" i="1">
                              <a:latin typeface="Cambria Math" panose="02040503050406030204" pitchFamily="18" charset="0"/>
                            </a:rPr>
                            <m:t>𝑥</m:t>
                          </m:r>
                        </m:sup>
                      </m:sSup>
                    </m:oMath>
                  </m:oMathPara>
                </a14:m>
                <a:endParaRPr lang="hr-HR" dirty="0"/>
              </a:p>
            </p:txBody>
          </p:sp>
        </mc:Choice>
        <mc:Fallback xmlns="">
          <p:sp>
            <p:nvSpPr>
              <p:cNvPr id="7" name="Pravokutnik 6"/>
              <p:cNvSpPr>
                <a:spLocks noRot="1" noChangeAspect="1" noMove="1" noResize="1" noEditPoints="1" noAdjustHandles="1" noChangeArrowheads="1" noChangeShapeType="1" noTextEdit="1"/>
              </p:cNvSpPr>
              <p:nvPr/>
            </p:nvSpPr>
            <p:spPr>
              <a:xfrm>
                <a:off x="2305260" y="2134716"/>
                <a:ext cx="1634870" cy="396262"/>
              </a:xfrm>
              <a:prstGeom prst="rect">
                <a:avLst/>
              </a:prstGeom>
              <a:blipFill>
                <a:blip r:embed="rId4"/>
                <a:stretch>
                  <a:fillRect b="-9231"/>
                </a:stretch>
              </a:blipFill>
            </p:spPr>
            <p:txBody>
              <a:bodyPr/>
              <a:lstStyle/>
              <a:p>
                <a:r>
                  <a:rPr lang="hr-HR">
                    <a:noFill/>
                  </a:rPr>
                  <a:t> </a:t>
                </a:r>
              </a:p>
            </p:txBody>
          </p:sp>
        </mc:Fallback>
      </mc:AlternateContent>
      <p:pic>
        <p:nvPicPr>
          <p:cNvPr id="9" name="Slika 8"/>
          <p:cNvPicPr>
            <a:picLocks noChangeAspect="1"/>
          </p:cNvPicPr>
          <p:nvPr/>
        </p:nvPicPr>
        <p:blipFill>
          <a:blip r:embed="rId5"/>
          <a:stretch>
            <a:fillRect/>
          </a:stretch>
        </p:blipFill>
        <p:spPr>
          <a:xfrm>
            <a:off x="6116395" y="1721734"/>
            <a:ext cx="4887936" cy="3162782"/>
          </a:xfrm>
          <a:prstGeom prst="rect">
            <a:avLst/>
          </a:prstGeom>
        </p:spPr>
      </p:pic>
      <mc:AlternateContent xmlns:mc="http://schemas.openxmlformats.org/markup-compatibility/2006">
        <mc:Choice xmlns:a14="http://schemas.microsoft.com/office/drawing/2010/main" Requires="a14">
          <p:sp>
            <p:nvSpPr>
              <p:cNvPr id="6" name="Pravokutnik 5"/>
              <p:cNvSpPr/>
              <p:nvPr/>
            </p:nvSpPr>
            <p:spPr>
              <a:xfrm>
                <a:off x="2305259" y="3211413"/>
                <a:ext cx="1373518" cy="390748"/>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sSub>
                        <m:sSubPr>
                          <m:ctrlPr>
                            <a:rPr lang="hr-HR" i="1" smtClean="0">
                              <a:latin typeface="Cambria Math" panose="02040503050406030204" pitchFamily="18" charset="0"/>
                            </a:rPr>
                          </m:ctrlPr>
                        </m:sSubPr>
                        <m:e>
                          <m:r>
                            <a:rPr lang="hr-HR" i="1">
                              <a:latin typeface="Cambria Math" panose="02040503050406030204" pitchFamily="18" charset="0"/>
                            </a:rPr>
                            <m:t>𝑓</m:t>
                          </m:r>
                        </m:e>
                        <m:sub>
                          <m:r>
                            <a:rPr lang="hr-HR" i="1">
                              <a:latin typeface="Cambria Math" panose="02040503050406030204" pitchFamily="18" charset="0"/>
                            </a:rPr>
                            <m:t>𝑝</m:t>
                          </m:r>
                        </m:sub>
                      </m:sSub>
                      <m:d>
                        <m:dPr>
                          <m:ctrlPr>
                            <a:rPr lang="hr-HR" i="1">
                              <a:latin typeface="Cambria Math" panose="02040503050406030204" pitchFamily="18" charset="0"/>
                            </a:rPr>
                          </m:ctrlPr>
                        </m:dPr>
                        <m:e>
                          <m:r>
                            <a:rPr lang="hr-HR" b="0" i="1" smtClean="0">
                              <a:latin typeface="Cambria Math" panose="02040503050406030204" pitchFamily="18" charset="0"/>
                            </a:rPr>
                            <m:t>0.5</m:t>
                          </m:r>
                        </m:e>
                      </m:d>
                      <m:r>
                        <a:rPr lang="hr-HR">
                          <a:latin typeface="Cambria Math" panose="02040503050406030204" pitchFamily="18" charset="0"/>
                        </a:rPr>
                        <m:t>=</m:t>
                      </m:r>
                      <m:r>
                        <a:rPr lang="hr-HR" b="0" i="0" smtClean="0">
                          <a:latin typeface="Cambria Math" panose="02040503050406030204" pitchFamily="18" charset="0"/>
                        </a:rPr>
                        <m:t>1</m:t>
                      </m:r>
                    </m:oMath>
                  </m:oMathPara>
                </a14:m>
                <a:endParaRPr lang="hr-HR" dirty="0"/>
              </a:p>
            </p:txBody>
          </p:sp>
        </mc:Choice>
        <mc:Fallback>
          <p:sp>
            <p:nvSpPr>
              <p:cNvPr id="6" name="Pravokutnik 5"/>
              <p:cNvSpPr>
                <a:spLocks noRot="1" noChangeAspect="1" noMove="1" noResize="1" noEditPoints="1" noAdjustHandles="1" noChangeArrowheads="1" noChangeShapeType="1" noTextEdit="1"/>
              </p:cNvSpPr>
              <p:nvPr/>
            </p:nvSpPr>
            <p:spPr>
              <a:xfrm>
                <a:off x="2305259" y="3211413"/>
                <a:ext cx="1373518" cy="390748"/>
              </a:xfrm>
              <a:prstGeom prst="rect">
                <a:avLst/>
              </a:prstGeom>
              <a:blipFill>
                <a:blip r:embed="rId6"/>
                <a:stretch>
                  <a:fillRect b="-7813"/>
                </a:stretch>
              </a:blipFill>
            </p:spPr>
            <p:txBody>
              <a:bodyPr/>
              <a:lstStyle/>
              <a:p>
                <a:r>
                  <a:rPr lang="hr-HR">
                    <a:noFill/>
                  </a:rPr>
                  <a:t> </a:t>
                </a:r>
              </a:p>
            </p:txBody>
          </p:sp>
        </mc:Fallback>
      </mc:AlternateContent>
      <mc:AlternateContent xmlns:mc="http://schemas.openxmlformats.org/markup-compatibility/2006">
        <mc:Choice xmlns:a14="http://schemas.microsoft.com/office/drawing/2010/main" Requires="a14">
          <p:sp>
            <p:nvSpPr>
              <p:cNvPr id="10" name="Pravokutnik 9"/>
              <p:cNvSpPr/>
              <p:nvPr/>
            </p:nvSpPr>
            <p:spPr>
              <a:xfrm>
                <a:off x="2305260" y="3669864"/>
                <a:ext cx="1202316" cy="612732"/>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sSub>
                        <m:sSubPr>
                          <m:ctrlPr>
                            <a:rPr lang="hr-HR" i="1" smtClean="0">
                              <a:latin typeface="Cambria Math" panose="02040503050406030204" pitchFamily="18" charset="0"/>
                            </a:rPr>
                          </m:ctrlPr>
                        </m:sSubPr>
                        <m:e>
                          <m:r>
                            <a:rPr lang="hr-HR" i="1">
                              <a:latin typeface="Cambria Math" panose="02040503050406030204" pitchFamily="18" charset="0"/>
                            </a:rPr>
                            <m:t>𝑓</m:t>
                          </m:r>
                        </m:e>
                        <m:sub>
                          <m:r>
                            <a:rPr lang="hr-HR" i="1">
                              <a:latin typeface="Cambria Math" panose="02040503050406030204" pitchFamily="18" charset="0"/>
                            </a:rPr>
                            <m:t>𝑝</m:t>
                          </m:r>
                        </m:sub>
                      </m:sSub>
                      <m:d>
                        <m:dPr>
                          <m:ctrlPr>
                            <a:rPr lang="hr-HR" i="1">
                              <a:latin typeface="Cambria Math" panose="02040503050406030204" pitchFamily="18" charset="0"/>
                            </a:rPr>
                          </m:ctrlPr>
                        </m:dPr>
                        <m:e>
                          <m:r>
                            <a:rPr lang="hr-HR" b="0" i="1" smtClean="0">
                              <a:latin typeface="Cambria Math" panose="02040503050406030204" pitchFamily="18" charset="0"/>
                            </a:rPr>
                            <m:t>1</m:t>
                          </m:r>
                        </m:e>
                      </m:d>
                      <m:r>
                        <a:rPr lang="hr-HR">
                          <a:latin typeface="Cambria Math" panose="02040503050406030204" pitchFamily="18" charset="0"/>
                        </a:rPr>
                        <m:t>=</m:t>
                      </m:r>
                      <m:f>
                        <m:fPr>
                          <m:ctrlPr>
                            <a:rPr lang="hr-HR" b="0" i="1" smtClean="0">
                              <a:latin typeface="Cambria Math" panose="02040503050406030204" pitchFamily="18" charset="0"/>
                            </a:rPr>
                          </m:ctrlPr>
                        </m:fPr>
                        <m:num>
                          <m:r>
                            <a:rPr lang="hr-HR" b="0" i="1" smtClean="0">
                              <a:latin typeface="Cambria Math" panose="02040503050406030204" pitchFamily="18" charset="0"/>
                            </a:rPr>
                            <m:t>1</m:t>
                          </m:r>
                        </m:num>
                        <m:den>
                          <m:r>
                            <a:rPr lang="hr-HR" i="1">
                              <a:latin typeface="Cambria Math" panose="02040503050406030204" pitchFamily="18" charset="0"/>
                            </a:rPr>
                            <m:t>𝑘</m:t>
                          </m:r>
                        </m:den>
                      </m:f>
                    </m:oMath>
                  </m:oMathPara>
                </a14:m>
                <a:endParaRPr lang="hr-HR" dirty="0"/>
              </a:p>
            </p:txBody>
          </p:sp>
        </mc:Choice>
        <mc:Fallback>
          <p:sp>
            <p:nvSpPr>
              <p:cNvPr id="10" name="Pravokutnik 9"/>
              <p:cNvSpPr>
                <a:spLocks noRot="1" noChangeAspect="1" noMove="1" noResize="1" noEditPoints="1" noAdjustHandles="1" noChangeArrowheads="1" noChangeShapeType="1" noTextEdit="1"/>
              </p:cNvSpPr>
              <p:nvPr/>
            </p:nvSpPr>
            <p:spPr>
              <a:xfrm>
                <a:off x="2305260" y="3669864"/>
                <a:ext cx="1202316" cy="612732"/>
              </a:xfrm>
              <a:prstGeom prst="rect">
                <a:avLst/>
              </a:prstGeom>
              <a:blipFill>
                <a:blip r:embed="rId7"/>
                <a:stretch>
                  <a:fillRect/>
                </a:stretch>
              </a:blipFill>
            </p:spPr>
            <p:txBody>
              <a:bodyPr/>
              <a:lstStyle/>
              <a:p>
                <a:r>
                  <a:rPr lang="hr-HR">
                    <a:noFill/>
                  </a:rPr>
                  <a:t> </a:t>
                </a:r>
              </a:p>
            </p:txBody>
          </p:sp>
        </mc:Fallback>
      </mc:AlternateContent>
      <mc:AlternateContent xmlns:mc="http://schemas.openxmlformats.org/markup-compatibility/2006">
        <mc:Choice xmlns:a14="http://schemas.microsoft.com/office/drawing/2010/main" Requires="a14">
          <p:sp>
            <p:nvSpPr>
              <p:cNvPr id="11" name="Pravokutnik 10"/>
              <p:cNvSpPr/>
              <p:nvPr/>
            </p:nvSpPr>
            <p:spPr>
              <a:xfrm>
                <a:off x="2305259" y="2706781"/>
                <a:ext cx="1202317" cy="390748"/>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sSub>
                        <m:sSubPr>
                          <m:ctrlPr>
                            <a:rPr lang="hr-HR" i="1" smtClean="0">
                              <a:latin typeface="Cambria Math" panose="02040503050406030204" pitchFamily="18" charset="0"/>
                            </a:rPr>
                          </m:ctrlPr>
                        </m:sSubPr>
                        <m:e>
                          <m:r>
                            <a:rPr lang="hr-HR" i="1">
                              <a:latin typeface="Cambria Math" panose="02040503050406030204" pitchFamily="18" charset="0"/>
                            </a:rPr>
                            <m:t>𝑓</m:t>
                          </m:r>
                        </m:e>
                        <m:sub>
                          <m:r>
                            <a:rPr lang="hr-HR" i="1">
                              <a:latin typeface="Cambria Math" panose="02040503050406030204" pitchFamily="18" charset="0"/>
                            </a:rPr>
                            <m:t>𝑝</m:t>
                          </m:r>
                        </m:sub>
                      </m:sSub>
                      <m:d>
                        <m:dPr>
                          <m:ctrlPr>
                            <a:rPr lang="hr-HR" i="1">
                              <a:latin typeface="Cambria Math" panose="02040503050406030204" pitchFamily="18" charset="0"/>
                            </a:rPr>
                          </m:ctrlPr>
                        </m:dPr>
                        <m:e>
                          <m:r>
                            <a:rPr lang="hr-HR" b="0" i="1" smtClean="0">
                              <a:latin typeface="Cambria Math" panose="02040503050406030204" pitchFamily="18" charset="0"/>
                            </a:rPr>
                            <m:t>0</m:t>
                          </m:r>
                        </m:e>
                      </m:d>
                      <m:r>
                        <a:rPr lang="hr-HR">
                          <a:latin typeface="Cambria Math" panose="02040503050406030204" pitchFamily="18" charset="0"/>
                        </a:rPr>
                        <m:t>=</m:t>
                      </m:r>
                      <m:r>
                        <a:rPr lang="hr-HR" i="1">
                          <a:latin typeface="Cambria Math" panose="02040503050406030204" pitchFamily="18" charset="0"/>
                        </a:rPr>
                        <m:t>𝑘</m:t>
                      </m:r>
                    </m:oMath>
                  </m:oMathPara>
                </a14:m>
                <a:endParaRPr lang="hr-HR" dirty="0"/>
              </a:p>
            </p:txBody>
          </p:sp>
        </mc:Choice>
        <mc:Fallback>
          <p:sp>
            <p:nvSpPr>
              <p:cNvPr id="11" name="Pravokutnik 10"/>
              <p:cNvSpPr>
                <a:spLocks noRot="1" noChangeAspect="1" noMove="1" noResize="1" noEditPoints="1" noAdjustHandles="1" noChangeArrowheads="1" noChangeShapeType="1" noTextEdit="1"/>
              </p:cNvSpPr>
              <p:nvPr/>
            </p:nvSpPr>
            <p:spPr>
              <a:xfrm>
                <a:off x="2305259" y="2706781"/>
                <a:ext cx="1202317" cy="390748"/>
              </a:xfrm>
              <a:prstGeom prst="rect">
                <a:avLst/>
              </a:prstGeom>
              <a:blipFill>
                <a:blip r:embed="rId8"/>
                <a:stretch>
                  <a:fillRect b="-9375"/>
                </a:stretch>
              </a:blipFill>
            </p:spPr>
            <p:txBody>
              <a:bodyPr/>
              <a:lstStyle/>
              <a:p>
                <a:r>
                  <a:rPr lang="hr-HR">
                    <a:noFill/>
                  </a:rPr>
                  <a:t> </a:t>
                </a:r>
              </a:p>
            </p:txBody>
          </p:sp>
        </mc:Fallback>
      </mc:AlternateContent>
      <mc:AlternateContent xmlns:mc="http://schemas.openxmlformats.org/markup-compatibility/2006">
        <mc:Choice xmlns:a14="http://schemas.microsoft.com/office/drawing/2010/main" Requires="a14">
          <p:sp>
            <p:nvSpPr>
              <p:cNvPr id="12" name="Rezervirano mjesto sadržaja 2"/>
              <p:cNvSpPr txBox="1">
                <a:spLocks/>
              </p:cNvSpPr>
              <p:nvPr/>
            </p:nvSpPr>
            <p:spPr>
              <a:xfrm>
                <a:off x="1577135" y="5127400"/>
                <a:ext cx="4725990" cy="366532"/>
              </a:xfrm>
              <a:prstGeom prst="rect">
                <a:avLst/>
              </a:prstGeom>
            </p:spPr>
            <p:txBody>
              <a:bodyPr vert="horz" lIns="91440" tIns="45720" rIns="91440" bIns="45720" rtlCol="0">
                <a:normAutofit fontScale="92500" lnSpcReduction="10000"/>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r>
                  <a:rPr lang="hr-HR" dirty="0"/>
                  <a:t>Dobitak/gubitak </a:t>
                </a:r>
                <a14:m>
                  <m:oMath xmlns:m="http://schemas.openxmlformats.org/officeDocument/2006/math">
                    <m:sSup>
                      <m:sSupPr>
                        <m:ctrlPr>
                          <a:rPr lang="hr-HR" i="1">
                            <a:latin typeface="Cambria Math" panose="02040503050406030204" pitchFamily="18" charset="0"/>
                          </a:rPr>
                        </m:ctrlPr>
                      </m:sSupPr>
                      <m:e>
                        <m:sSub>
                          <m:sSubPr>
                            <m:ctrlPr>
                              <a:rPr lang="hr-HR" i="1">
                                <a:latin typeface="Cambria Math" panose="02040503050406030204" pitchFamily="18" charset="0"/>
                              </a:rPr>
                            </m:ctrlPr>
                          </m:sSubPr>
                          <m:e>
                            <m:r>
                              <a:rPr lang="hr-HR" i="1">
                                <a:latin typeface="Cambria Math" panose="02040503050406030204" pitchFamily="18" charset="0"/>
                              </a:rPr>
                              <m:t>𝑓</m:t>
                            </m:r>
                          </m:e>
                          <m:sub>
                            <m:r>
                              <a:rPr lang="hr-HR" i="1">
                                <a:latin typeface="Cambria Math" panose="02040503050406030204" pitchFamily="18" charset="0"/>
                              </a:rPr>
                              <m:t>𝑝</m:t>
                            </m:r>
                          </m:sub>
                        </m:sSub>
                        <m:d>
                          <m:dPr>
                            <m:ctrlPr>
                              <a:rPr lang="hr-HR" i="1">
                                <a:latin typeface="Cambria Math" panose="02040503050406030204" pitchFamily="18" charset="0"/>
                              </a:rPr>
                            </m:ctrlPr>
                          </m:dPr>
                          <m:e>
                            <m:r>
                              <a:rPr lang="hr-HR" i="1" smtClean="0">
                                <a:latin typeface="Cambria Math" panose="02040503050406030204" pitchFamily="18" charset="0"/>
                              </a:rPr>
                              <m:t>𝑥</m:t>
                            </m:r>
                          </m:e>
                        </m:d>
                      </m:e>
                      <m:sup>
                        <m:sSub>
                          <m:sSubPr>
                            <m:ctrlPr>
                              <a:rPr lang="hr-HR" i="1">
                                <a:latin typeface="Cambria Math" panose="02040503050406030204" pitchFamily="18" charset="0"/>
                              </a:rPr>
                            </m:ctrlPr>
                          </m:sSubPr>
                          <m:e>
                            <m:r>
                              <a:rPr lang="hr-HR" b="1" i="1">
                                <a:latin typeface="Cambria Math" panose="02040503050406030204" pitchFamily="18" charset="0"/>
                              </a:rPr>
                              <m:t>𝑻</m:t>
                            </m:r>
                          </m:e>
                          <m:sub>
                            <m:r>
                              <a:rPr lang="hr-HR" i="1">
                                <a:latin typeface="Cambria Math" panose="02040503050406030204" pitchFamily="18" charset="0"/>
                              </a:rPr>
                              <m:t>𝑖</m:t>
                            </m:r>
                            <m:r>
                              <a:rPr lang="hr-HR">
                                <a:latin typeface="Cambria Math" panose="02040503050406030204" pitchFamily="18" charset="0"/>
                              </a:rPr>
                              <m:t>,</m:t>
                            </m:r>
                            <m:r>
                              <a:rPr lang="hr-HR" i="1">
                                <a:latin typeface="Cambria Math" panose="02040503050406030204" pitchFamily="18" charset="0"/>
                              </a:rPr>
                              <m:t>𝑗</m:t>
                            </m:r>
                          </m:sub>
                        </m:sSub>
                      </m:sup>
                    </m:sSup>
                  </m:oMath>
                </a14:m>
                <a:r>
                  <a:rPr lang="hr-HR" dirty="0"/>
                  <a:t> </a:t>
                </a:r>
              </a:p>
            </p:txBody>
          </p:sp>
        </mc:Choice>
        <mc:Fallback>
          <p:sp>
            <p:nvSpPr>
              <p:cNvPr id="12" name="Rezervirano mjesto sadržaja 2"/>
              <p:cNvSpPr txBox="1">
                <a:spLocks noRot="1" noChangeAspect="1" noMove="1" noResize="1" noEditPoints="1" noAdjustHandles="1" noChangeArrowheads="1" noChangeShapeType="1" noTextEdit="1"/>
              </p:cNvSpPr>
              <p:nvPr/>
            </p:nvSpPr>
            <p:spPr>
              <a:xfrm>
                <a:off x="1577135" y="5127400"/>
                <a:ext cx="4725990" cy="366532"/>
              </a:xfrm>
              <a:prstGeom prst="rect">
                <a:avLst/>
              </a:prstGeom>
              <a:blipFill>
                <a:blip r:embed="rId9"/>
                <a:stretch>
                  <a:fillRect l="-645" t="-6667" b="-16667"/>
                </a:stretch>
              </a:blipFill>
            </p:spPr>
            <p:txBody>
              <a:bodyPr/>
              <a:lstStyle/>
              <a:p>
                <a:r>
                  <a:rPr lang="hr-HR">
                    <a:noFill/>
                  </a:rPr>
                  <a:t> </a:t>
                </a:r>
              </a:p>
            </p:txBody>
          </p:sp>
        </mc:Fallback>
      </mc:AlternateContent>
      <mc:AlternateContent xmlns:mc="http://schemas.openxmlformats.org/markup-compatibility/2006">
        <mc:Choice xmlns:a14="http://schemas.microsoft.com/office/drawing/2010/main" Requires="a14">
          <p:sp>
            <p:nvSpPr>
              <p:cNvPr id="13" name="Pravokutnik 12"/>
              <p:cNvSpPr/>
              <p:nvPr/>
            </p:nvSpPr>
            <p:spPr>
              <a:xfrm>
                <a:off x="2186849" y="5503031"/>
                <a:ext cx="5547359" cy="710194"/>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hr-HR" b="1"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r>
                        <a:rPr lang="hr-HR" b="0" i="0">
                          <a:latin typeface="Cambria Math" panose="02040503050406030204" pitchFamily="18" charset="0"/>
                        </a:rPr>
                        <m:t>=</m:t>
                      </m:r>
                      <m:d>
                        <m:dPr>
                          <m:begChr m:val="{"/>
                          <m:endChr m:val=""/>
                          <m:ctrlPr>
                            <a:rPr lang="hr-HR" b="0" i="1" smtClean="0">
                              <a:latin typeface="Cambria Math" panose="02040503050406030204" pitchFamily="18" charset="0"/>
                            </a:rPr>
                          </m:ctrlPr>
                        </m:dPr>
                        <m:e>
                          <m:eqArr>
                            <m:eqArrPr>
                              <m:ctrlPr>
                                <a:rPr lang="hr-HR" b="0" i="1" smtClean="0">
                                  <a:latin typeface="Cambria Math" panose="02040503050406030204" pitchFamily="18" charset="0"/>
                                </a:rPr>
                              </m:ctrlPr>
                            </m:eqArrPr>
                            <m:e>
                              <m:r>
                                <a:rPr lang="hr-HR">
                                  <a:latin typeface="Cambria Math" panose="02040503050406030204" pitchFamily="18" charset="0"/>
                                </a:rPr>
                                <m:t>−1, &amp; </m:t>
                              </m:r>
                              <m:r>
                                <a:rPr lang="hr-HR" i="1">
                                  <a:latin typeface="Cambria Math" panose="02040503050406030204" pitchFamily="18" charset="0"/>
                                </a:rPr>
                                <m:t>𝑢</m:t>
                              </m:r>
                              <m:r>
                                <a:rPr lang="hr-HR">
                                  <a:latin typeface="Cambria Math" panose="02040503050406030204" pitchFamily="18" charset="0"/>
                                </a:rPr>
                                <m:t>č</m:t>
                              </m:r>
                              <m:r>
                                <a:rPr lang="hr-HR" i="1">
                                  <a:latin typeface="Cambria Math" panose="02040503050406030204" pitchFamily="18" charset="0"/>
                                </a:rPr>
                                <m:t>𝑒𝑛𝑖𝑘</m:t>
                              </m:r>
                              <m:r>
                                <a:rPr lang="hr-HR">
                                  <a:latin typeface="Cambria Math" panose="02040503050406030204" pitchFamily="18" charset="0"/>
                                </a:rPr>
                                <m:t> </m:t>
                              </m:r>
                              <m:r>
                                <a:rPr lang="hr-HR" i="1">
                                  <a:latin typeface="Cambria Math" panose="02040503050406030204" pitchFamily="18" charset="0"/>
                                </a:rPr>
                                <m:t>𝑖</m:t>
                              </m:r>
                              <m:r>
                                <a:rPr lang="hr-HR">
                                  <a:latin typeface="Cambria Math" panose="02040503050406030204" pitchFamily="18" charset="0"/>
                                </a:rPr>
                                <m:t> </m:t>
                              </m:r>
                              <m:r>
                                <a:rPr lang="hr-HR" i="1">
                                  <a:latin typeface="Cambria Math" panose="02040503050406030204" pitchFamily="18" charset="0"/>
                                </a:rPr>
                                <m:t>𝑛𝑖𝑗𝑒</m:t>
                              </m:r>
                              <m:r>
                                <a:rPr lang="hr-HR">
                                  <a:latin typeface="Cambria Math" panose="02040503050406030204" pitchFamily="18" charset="0"/>
                                </a:rPr>
                                <m:t> </m:t>
                              </m:r>
                              <m:r>
                                <a:rPr lang="hr-HR" i="1">
                                  <a:latin typeface="Cambria Math" panose="02040503050406030204" pitchFamily="18" charset="0"/>
                                </a:rPr>
                                <m:t>𝑢𝑠𝑝𝑗𝑒</m:t>
                              </m:r>
                              <m:r>
                                <a:rPr lang="hr-HR">
                                  <a:latin typeface="Cambria Math" panose="02040503050406030204" pitchFamily="18" charset="0"/>
                                </a:rPr>
                                <m:t>š</m:t>
                              </m:r>
                              <m:r>
                                <a:rPr lang="hr-HR" i="1">
                                  <a:latin typeface="Cambria Math" panose="02040503050406030204" pitchFamily="18" charset="0"/>
                                </a:rPr>
                                <m:t>𝑛𝑜</m:t>
                              </m:r>
                              <m:r>
                                <a:rPr lang="hr-HR">
                                  <a:latin typeface="Cambria Math" panose="02040503050406030204" pitchFamily="18" charset="0"/>
                                </a:rPr>
                                <m:t> </m:t>
                              </m:r>
                              <m:r>
                                <a:rPr lang="hr-HR" i="1">
                                  <a:latin typeface="Cambria Math" panose="02040503050406030204" pitchFamily="18" charset="0"/>
                                </a:rPr>
                                <m:t>𝑟𝑖𝑗𝑒</m:t>
                              </m:r>
                              <m:r>
                                <a:rPr lang="hr-HR">
                                  <a:latin typeface="Cambria Math" panose="02040503050406030204" pitchFamily="18" charset="0"/>
                                </a:rPr>
                                <m:t>š</m:t>
                              </m:r>
                              <m:r>
                                <a:rPr lang="hr-HR" i="1">
                                  <a:latin typeface="Cambria Math" panose="02040503050406030204" pitchFamily="18" charset="0"/>
                                </a:rPr>
                                <m:t>𝑖𝑜</m:t>
                              </m:r>
                              <m:r>
                                <a:rPr lang="hr-HR">
                                  <a:latin typeface="Cambria Math" panose="02040503050406030204" pitchFamily="18" charset="0"/>
                                </a:rPr>
                                <m:t> </m:t>
                              </m:r>
                              <m:r>
                                <a:rPr lang="hr-HR" i="1">
                                  <a:latin typeface="Cambria Math" panose="02040503050406030204" pitchFamily="18" charset="0"/>
                                </a:rPr>
                                <m:t>𝑧𝑎𝑑𝑎𝑡𝑎𝑘</m:t>
                              </m:r>
                              <m:r>
                                <a:rPr lang="hr-HR">
                                  <a:latin typeface="Cambria Math" panose="02040503050406030204" pitchFamily="18" charset="0"/>
                                </a:rPr>
                                <m:t> </m:t>
                              </m:r>
                              <m:r>
                                <a:rPr lang="hr-HR" i="1">
                                  <a:latin typeface="Cambria Math" panose="02040503050406030204" pitchFamily="18" charset="0"/>
                                </a:rPr>
                                <m:t>𝑗</m:t>
                              </m:r>
                            </m:e>
                            <m:e>
                              <m:r>
                                <a:rPr lang="hr-HR">
                                  <a:latin typeface="Cambria Math" panose="02040503050406030204" pitchFamily="18" charset="0"/>
                                </a:rPr>
                                <m:t>1, &amp;</m:t>
                              </m:r>
                              <m:r>
                                <a:rPr lang="hr-HR" i="1">
                                  <a:latin typeface="Cambria Math" panose="02040503050406030204" pitchFamily="18" charset="0"/>
                                </a:rPr>
                                <m:t>𝑢</m:t>
                              </m:r>
                              <m:r>
                                <a:rPr lang="hr-HR">
                                  <a:latin typeface="Cambria Math" panose="02040503050406030204" pitchFamily="18" charset="0"/>
                                </a:rPr>
                                <m:t>č</m:t>
                              </m:r>
                              <m:r>
                                <a:rPr lang="hr-HR" i="1">
                                  <a:latin typeface="Cambria Math" panose="02040503050406030204" pitchFamily="18" charset="0"/>
                                </a:rPr>
                                <m:t>𝑒𝑛𝑖𝑘</m:t>
                              </m:r>
                              <m:r>
                                <a:rPr lang="hr-HR">
                                  <a:latin typeface="Cambria Math" panose="02040503050406030204" pitchFamily="18" charset="0"/>
                                </a:rPr>
                                <m:t> </m:t>
                              </m:r>
                              <m:r>
                                <a:rPr lang="hr-HR" i="1">
                                  <a:latin typeface="Cambria Math" panose="02040503050406030204" pitchFamily="18" charset="0"/>
                                </a:rPr>
                                <m:t>𝑖</m:t>
                              </m:r>
                              <m:r>
                                <a:rPr lang="hr-HR">
                                  <a:latin typeface="Cambria Math" panose="02040503050406030204" pitchFamily="18" charset="0"/>
                                </a:rPr>
                                <m:t> </m:t>
                              </m:r>
                              <m:r>
                                <a:rPr lang="hr-HR" i="1">
                                  <a:latin typeface="Cambria Math" panose="02040503050406030204" pitchFamily="18" charset="0"/>
                                </a:rPr>
                                <m:t>𝑗𝑒</m:t>
                              </m:r>
                              <m:r>
                                <a:rPr lang="hr-HR">
                                  <a:latin typeface="Cambria Math" panose="02040503050406030204" pitchFamily="18" charset="0"/>
                                </a:rPr>
                                <m:t> </m:t>
                              </m:r>
                              <m:r>
                                <a:rPr lang="hr-HR" i="1">
                                  <a:latin typeface="Cambria Math" panose="02040503050406030204" pitchFamily="18" charset="0"/>
                                </a:rPr>
                                <m:t>𝑢𝑠𝑝𝑗𝑒</m:t>
                              </m:r>
                              <m:r>
                                <a:rPr lang="hr-HR">
                                  <a:latin typeface="Cambria Math" panose="02040503050406030204" pitchFamily="18" charset="0"/>
                                </a:rPr>
                                <m:t>š</m:t>
                              </m:r>
                              <m:r>
                                <a:rPr lang="hr-HR" i="1">
                                  <a:latin typeface="Cambria Math" panose="02040503050406030204" pitchFamily="18" charset="0"/>
                                </a:rPr>
                                <m:t>𝑛𝑜</m:t>
                              </m:r>
                              <m:r>
                                <a:rPr lang="hr-HR">
                                  <a:latin typeface="Cambria Math" panose="02040503050406030204" pitchFamily="18" charset="0"/>
                                </a:rPr>
                                <m:t> </m:t>
                              </m:r>
                              <m:r>
                                <a:rPr lang="hr-HR" i="1">
                                  <a:latin typeface="Cambria Math" panose="02040503050406030204" pitchFamily="18" charset="0"/>
                                </a:rPr>
                                <m:t>𝑟𝑖𝑗𝑒</m:t>
                              </m:r>
                              <m:r>
                                <a:rPr lang="hr-HR">
                                  <a:latin typeface="Cambria Math" panose="02040503050406030204" pitchFamily="18" charset="0"/>
                                </a:rPr>
                                <m:t>š</m:t>
                              </m:r>
                              <m:r>
                                <a:rPr lang="hr-HR" i="1">
                                  <a:latin typeface="Cambria Math" panose="02040503050406030204" pitchFamily="18" charset="0"/>
                                </a:rPr>
                                <m:t>𝑖𝑜</m:t>
                              </m:r>
                              <m:r>
                                <a:rPr lang="hr-HR">
                                  <a:latin typeface="Cambria Math" panose="02040503050406030204" pitchFamily="18" charset="0"/>
                                </a:rPr>
                                <m:t> </m:t>
                              </m:r>
                              <m:r>
                                <a:rPr lang="hr-HR" i="1">
                                  <a:latin typeface="Cambria Math" panose="02040503050406030204" pitchFamily="18" charset="0"/>
                                </a:rPr>
                                <m:t>𝑧𝑎𝑑𝑎𝑡𝑎𝑘</m:t>
                              </m:r>
                              <m:r>
                                <a:rPr lang="hr-HR">
                                  <a:latin typeface="Cambria Math" panose="02040503050406030204" pitchFamily="18" charset="0"/>
                                </a:rPr>
                                <m:t> </m:t>
                              </m:r>
                              <m:r>
                                <a:rPr lang="hr-HR" i="1">
                                  <a:latin typeface="Cambria Math" panose="02040503050406030204" pitchFamily="18" charset="0"/>
                                </a:rPr>
                                <m:t>𝑗</m:t>
                              </m:r>
                            </m:e>
                          </m:eqArr>
                        </m:e>
                      </m:d>
                    </m:oMath>
                  </m:oMathPara>
                </a14:m>
                <a:endParaRPr lang="hr-HR" dirty="0"/>
              </a:p>
            </p:txBody>
          </p:sp>
        </mc:Choice>
        <mc:Fallback>
          <p:sp>
            <p:nvSpPr>
              <p:cNvPr id="13" name="Pravokutnik 12"/>
              <p:cNvSpPr>
                <a:spLocks noRot="1" noChangeAspect="1" noMove="1" noResize="1" noEditPoints="1" noAdjustHandles="1" noChangeArrowheads="1" noChangeShapeType="1" noTextEdit="1"/>
              </p:cNvSpPr>
              <p:nvPr/>
            </p:nvSpPr>
            <p:spPr>
              <a:xfrm>
                <a:off x="2186849" y="5503031"/>
                <a:ext cx="5547359" cy="710194"/>
              </a:xfrm>
              <a:prstGeom prst="rect">
                <a:avLst/>
              </a:prstGeom>
              <a:blipFill>
                <a:blip r:embed="rId10"/>
                <a:stretch>
                  <a:fillRect/>
                </a:stretch>
              </a:blipFill>
            </p:spPr>
            <p:txBody>
              <a:bodyPr/>
              <a:lstStyle/>
              <a:p>
                <a:r>
                  <a:rPr lang="hr-HR">
                    <a:noFill/>
                  </a:rPr>
                  <a:t> </a:t>
                </a:r>
              </a:p>
            </p:txBody>
          </p:sp>
        </mc:Fallback>
      </mc:AlternateContent>
    </p:spTree>
    <p:extLst>
      <p:ext uri="{BB962C8B-B14F-4D97-AF65-F5344CB8AC3E}">
        <p14:creationId xmlns:p14="http://schemas.microsoft.com/office/powerpoint/2010/main" val="1038528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Učenje težina (</a:t>
            </a:r>
            <a:r>
              <a:rPr lang="hr-HR"/>
              <a:t>4)</a:t>
            </a:r>
            <a:endParaRPr lang="hr-HR" dirty="0">
              <a:solidFill>
                <a:srgbClr val="FF0000"/>
              </a:solidFill>
            </a:endParaRPr>
          </a:p>
        </p:txBody>
      </p:sp>
      <p:sp>
        <p:nvSpPr>
          <p:cNvPr id="3" name="Rezervirano mjesto sadržaja 2"/>
          <p:cNvSpPr>
            <a:spLocks noGrp="1"/>
          </p:cNvSpPr>
          <p:nvPr>
            <p:ph idx="1"/>
          </p:nvPr>
        </p:nvSpPr>
        <p:spPr/>
        <p:txBody>
          <a:bodyPr/>
          <a:lstStyle/>
          <a:p>
            <a:r>
              <a:rPr lang="hr-HR" dirty="0"/>
              <a:t>Konvergencija</a:t>
            </a:r>
          </a:p>
          <a:p>
            <a:pPr lvl="1"/>
            <a:r>
              <a:rPr lang="hr-HR" dirty="0"/>
              <a:t>Uvijek konvergira</a:t>
            </a:r>
          </a:p>
          <a:p>
            <a:pPr lvl="1"/>
            <a:r>
              <a:rPr lang="hr-HR" dirty="0"/>
              <a:t>Isti rezultat</a:t>
            </a:r>
          </a:p>
          <a:p>
            <a:endParaRPr lang="hr-HR" dirty="0"/>
          </a:p>
          <a:p>
            <a:r>
              <a:rPr lang="hr-HR" dirty="0"/>
              <a:t>Početne vrijednosti </a:t>
            </a:r>
          </a:p>
          <a:p>
            <a:endParaRPr lang="hr-HR" dirty="0"/>
          </a:p>
          <a:p>
            <a:r>
              <a:rPr lang="hr-HR" dirty="0"/>
              <a:t>Broj iteracija</a:t>
            </a:r>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9</a:t>
            </a:fld>
            <a:endParaRPr lang="hr-HR" dirty="0"/>
          </a:p>
        </p:txBody>
      </p:sp>
    </p:spTree>
    <p:extLst>
      <p:ext uri="{BB962C8B-B14F-4D97-AF65-F5344CB8AC3E}">
        <p14:creationId xmlns:p14="http://schemas.microsoft.com/office/powerpoint/2010/main" val="5169599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Evaluacija učenika</a:t>
            </a:r>
          </a:p>
        </p:txBody>
      </p:sp>
      <p:sp>
        <p:nvSpPr>
          <p:cNvPr id="3" name="Rezervirano mjesto sadržaja 2"/>
          <p:cNvSpPr>
            <a:spLocks noGrp="1"/>
          </p:cNvSpPr>
          <p:nvPr>
            <p:ph idx="1"/>
          </p:nvPr>
        </p:nvSpPr>
        <p:spPr/>
        <p:txBody>
          <a:bodyPr/>
          <a:lstStyle/>
          <a:p>
            <a:r>
              <a:rPr lang="hr-HR" dirty="0"/>
              <a:t>Koriste se naučene težine</a:t>
            </a:r>
          </a:p>
          <a:p>
            <a:endParaRPr lang="hr-HR" dirty="0"/>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10</a:t>
            </a:fld>
            <a:endParaRPr lang="hr-HR" dirty="0"/>
          </a:p>
        </p:txBody>
      </p:sp>
      <mc:AlternateContent xmlns:mc="http://schemas.openxmlformats.org/markup-compatibility/2006">
        <mc:Choice xmlns:a14="http://schemas.microsoft.com/office/drawing/2010/main" Requires="a14">
          <p:sp>
            <p:nvSpPr>
              <p:cNvPr id="5" name="Pravokutnik 4"/>
              <p:cNvSpPr/>
              <p:nvPr/>
            </p:nvSpPr>
            <p:spPr>
              <a:xfrm>
                <a:off x="2589212" y="3380793"/>
                <a:ext cx="5675593" cy="128323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hr-HR" b="1" i="1">
                              <a:latin typeface="Cambria Math" panose="02040503050406030204" pitchFamily="18" charset="0"/>
                            </a:rPr>
                          </m:ctrlPr>
                        </m:sSubPr>
                        <m:e>
                          <m:d>
                            <m:dPr>
                              <m:begChr m:val=""/>
                              <m:ctrlPr>
                                <a:rPr lang="hr-HR" b="1" i="1">
                                  <a:latin typeface="Cambria Math" panose="02040503050406030204" pitchFamily="18" charset="0"/>
                                </a:rPr>
                              </m:ctrlPr>
                            </m:dPr>
                            <m:e>
                              <m:r>
                                <a:rPr lang="hr-HR" b="1" i="1">
                                  <a:latin typeface="Cambria Math" panose="02040503050406030204" pitchFamily="18" charset="0"/>
                                </a:rPr>
                                <m:t>𝑺</m:t>
                              </m:r>
                              <m:r>
                                <a:rPr lang="hr-HR" b="0" i="0">
                                  <a:latin typeface="Cambria Math" panose="02040503050406030204" pitchFamily="18" charset="0"/>
                                </a:rPr>
                                <m:t>(</m:t>
                              </m:r>
                              <m:r>
                                <a:rPr lang="hr-HR" b="0" i="1">
                                  <a:latin typeface="Cambria Math" panose="02040503050406030204" pitchFamily="18" charset="0"/>
                                </a:rPr>
                                <m:t>𝑘</m:t>
                              </m:r>
                              <m:r>
                                <a:rPr lang="hr-HR" b="0" i="0">
                                  <a:latin typeface="Cambria Math" panose="02040503050406030204" pitchFamily="18" charset="0"/>
                                </a:rPr>
                                <m:t>+1</m:t>
                              </m:r>
                            </m:e>
                          </m:d>
                        </m:e>
                        <m:sub>
                          <m:r>
                            <a:rPr lang="hr-HR" b="0" i="1">
                              <a:latin typeface="Cambria Math" panose="02040503050406030204" pitchFamily="18" charset="0"/>
                            </a:rPr>
                            <m:t>𝑖</m:t>
                          </m:r>
                        </m:sub>
                      </m:sSub>
                      <m:r>
                        <a:rPr lang="hr-HR" b="0" i="0">
                          <a:latin typeface="Cambria Math" panose="02040503050406030204" pitchFamily="18" charset="0"/>
                        </a:rPr>
                        <m:t>=</m:t>
                      </m:r>
                      <m:f>
                        <m:fPr>
                          <m:ctrlPr>
                            <a:rPr lang="hr-HR" b="0" i="1">
                              <a:latin typeface="Cambria Math" panose="02040503050406030204" pitchFamily="18" charset="0"/>
                            </a:rPr>
                          </m:ctrlPr>
                        </m:fPr>
                        <m:num>
                          <m:nary>
                            <m:naryPr>
                              <m:chr m:val="∑"/>
                              <m:limLoc m:val="subSup"/>
                              <m:grow m:val="on"/>
                              <m:ctrlPr>
                                <a:rPr lang="hr-HR" b="0" i="1">
                                  <a:latin typeface="Cambria Math" panose="02040503050406030204" pitchFamily="18" charset="0"/>
                                </a:rPr>
                              </m:ctrlPr>
                            </m:naryPr>
                            <m:sub>
                              <m:r>
                                <a:rPr lang="hr-HR" b="0" i="1">
                                  <a:latin typeface="Cambria Math" panose="02040503050406030204" pitchFamily="18" charset="0"/>
                                </a:rPr>
                                <m:t>𝑗</m:t>
                              </m:r>
                              <m:r>
                                <a:rPr lang="hr-HR" b="0" i="0">
                                  <a:latin typeface="Cambria Math" panose="02040503050406030204" pitchFamily="18" charset="0"/>
                                </a:rPr>
                                <m:t>=1</m:t>
                              </m:r>
                            </m:sub>
                            <m:sup>
                              <m:r>
                                <a:rPr lang="hr-HR" b="0" i="1">
                                  <a:latin typeface="Cambria Math" panose="02040503050406030204" pitchFamily="18" charset="0"/>
                                </a:rPr>
                                <m:t>𝑚</m:t>
                              </m:r>
                            </m:sup>
                            <m:e>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𝑎</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𝑡</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sSup>
                                    <m:sSupPr>
                                      <m:ctrlPr>
                                        <a:rPr lang="hr-HR" b="0" i="1">
                                          <a:latin typeface="Cambria Math" panose="02040503050406030204" pitchFamily="18" charset="0"/>
                                        </a:rPr>
                                      </m:ctrlPr>
                                    </m:sSup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𝑝</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d>
                                                <m:dPr>
                                                  <m:begChr m:val=""/>
                                                  <m:ctrlPr>
                                                    <a:rPr lang="hr-HR" b="0" i="1">
                                                      <a:latin typeface="Cambria Math" panose="02040503050406030204" pitchFamily="18" charset="0"/>
                                                    </a:rPr>
                                                  </m:ctrlPr>
                                                </m:dPr>
                                                <m:e>
                                                  <m:r>
                                                    <a:rPr lang="hr-HR" b="1" i="1">
                                                      <a:latin typeface="Cambria Math" panose="02040503050406030204" pitchFamily="18" charset="0"/>
                                                    </a:rPr>
                                                    <m:t>𝑳</m:t>
                                                  </m:r>
                                                  <m:r>
                                                    <a:rPr lang="hr-HR" b="0" i="0">
                                                      <a:latin typeface="Cambria Math" panose="02040503050406030204" pitchFamily="18" charset="0"/>
                                                    </a:rPr>
                                                    <m:t>(</m:t>
                                                  </m:r>
                                                  <m:r>
                                                    <a:rPr lang="hr-HR" b="0" i="1">
                                                      <a:latin typeface="Cambria Math" panose="02040503050406030204" pitchFamily="18" charset="0"/>
                                                    </a:rPr>
                                                    <m:t>𝑘</m:t>
                                                  </m:r>
                                                </m:e>
                                              </m:d>
                                            </m:e>
                                            <m:sub>
                                              <m:r>
                                                <a:rPr lang="hr-HR" b="0" i="1">
                                                  <a:latin typeface="Cambria Math" panose="02040503050406030204" pitchFamily="18" charset="0"/>
                                                </a:rPr>
                                                <m:t>𝑗</m:t>
                                              </m:r>
                                            </m:sub>
                                          </m:sSub>
                                        </m:e>
                                      </m:d>
                                    </m:e>
                                    <m:sup>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sup>
                                  </m:sSup>
                                  <m:r>
                                    <a:rPr lang="hr-HR" b="0" i="0">
                                      <a:latin typeface="Cambria Math" panose="02040503050406030204" pitchFamily="18" charset="0"/>
                                    </a:rPr>
                                    <m:t>∗ </m:t>
                                  </m:r>
                                  <m:sSub>
                                    <m:sSubPr>
                                      <m:ctrlPr>
                                        <a:rPr lang="hr-HR" b="0" i="1">
                                          <a:latin typeface="Cambria Math" panose="02040503050406030204" pitchFamily="18" charset="0"/>
                                        </a:rPr>
                                      </m:ctrlPr>
                                    </m:sSubPr>
                                    <m:e>
                                      <m:r>
                                        <a:rPr lang="hr-HR" b="1" i="1">
                                          <a:latin typeface="Cambria Math" panose="02040503050406030204" pitchFamily="18" charset="0"/>
                                        </a:rPr>
                                        <m:t>𝑷</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e>
                          </m:nary>
                        </m:num>
                        <m:den>
                          <m:nary>
                            <m:naryPr>
                              <m:chr m:val="∑"/>
                              <m:limLoc m:val="subSup"/>
                              <m:grow m:val="on"/>
                              <m:ctrlPr>
                                <a:rPr lang="hr-HR" b="0" i="1">
                                  <a:latin typeface="Cambria Math" panose="02040503050406030204" pitchFamily="18" charset="0"/>
                                </a:rPr>
                              </m:ctrlPr>
                            </m:naryPr>
                            <m:sub>
                              <m:r>
                                <a:rPr lang="hr-HR" b="0" i="1">
                                  <a:latin typeface="Cambria Math" panose="02040503050406030204" pitchFamily="18" charset="0"/>
                                </a:rPr>
                                <m:t>𝑗</m:t>
                              </m:r>
                              <m:r>
                                <a:rPr lang="hr-HR" b="0" i="0">
                                  <a:latin typeface="Cambria Math" panose="02040503050406030204" pitchFamily="18" charset="0"/>
                                </a:rPr>
                                <m:t>=1</m:t>
                              </m:r>
                            </m:sub>
                            <m:sup>
                              <m:r>
                                <a:rPr lang="hr-HR" b="0" i="1">
                                  <a:latin typeface="Cambria Math" panose="02040503050406030204" pitchFamily="18" charset="0"/>
                                </a:rPr>
                                <m:t>𝑚</m:t>
                              </m:r>
                            </m:sup>
                            <m:e>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𝑎</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sSup>
                                    <m:sSupPr>
                                      <m:ctrlPr>
                                        <a:rPr lang="hr-HR" b="0" i="1">
                                          <a:latin typeface="Cambria Math" panose="02040503050406030204" pitchFamily="18" charset="0"/>
                                        </a:rPr>
                                      </m:ctrlPr>
                                    </m:sSupPr>
                                    <m:e>
                                      <m:sSub>
                                        <m:sSubPr>
                                          <m:ctrlPr>
                                            <a:rPr lang="hr-HR" b="0" i="1">
                                              <a:latin typeface="Cambria Math" panose="02040503050406030204" pitchFamily="18" charset="0"/>
                                            </a:rPr>
                                          </m:ctrlPr>
                                        </m:sSubPr>
                                        <m:e>
                                          <m:r>
                                            <a:rPr lang="hr-HR" b="0" i="1">
                                              <a:latin typeface="Cambria Math" panose="02040503050406030204" pitchFamily="18" charset="0"/>
                                            </a:rPr>
                                            <m:t>𝑓</m:t>
                                          </m:r>
                                        </m:e>
                                        <m:sub>
                                          <m:r>
                                            <a:rPr lang="hr-HR" b="0" i="1">
                                              <a:latin typeface="Cambria Math" panose="02040503050406030204" pitchFamily="18" charset="0"/>
                                            </a:rPr>
                                            <m:t>𝑝</m:t>
                                          </m:r>
                                        </m:sub>
                                      </m:sSub>
                                      <m:d>
                                        <m:dPr>
                                          <m:ctrlPr>
                                            <a:rPr lang="hr-HR" b="0" i="1">
                                              <a:latin typeface="Cambria Math" panose="02040503050406030204" pitchFamily="18" charset="0"/>
                                            </a:rPr>
                                          </m:ctrlPr>
                                        </m:dPr>
                                        <m:e>
                                          <m:sSub>
                                            <m:sSubPr>
                                              <m:ctrlPr>
                                                <a:rPr lang="hr-HR" b="0" i="1">
                                                  <a:latin typeface="Cambria Math" panose="02040503050406030204" pitchFamily="18" charset="0"/>
                                                </a:rPr>
                                              </m:ctrlPr>
                                            </m:sSubPr>
                                            <m:e>
                                              <m:d>
                                                <m:dPr>
                                                  <m:begChr m:val=""/>
                                                  <m:ctrlPr>
                                                    <a:rPr lang="hr-HR" b="0" i="1">
                                                      <a:latin typeface="Cambria Math" panose="02040503050406030204" pitchFamily="18" charset="0"/>
                                                    </a:rPr>
                                                  </m:ctrlPr>
                                                </m:dPr>
                                                <m:e>
                                                  <m:r>
                                                    <a:rPr lang="hr-HR" b="1" i="1">
                                                      <a:latin typeface="Cambria Math" panose="02040503050406030204" pitchFamily="18" charset="0"/>
                                                    </a:rPr>
                                                    <m:t>𝑳</m:t>
                                                  </m:r>
                                                  <m:r>
                                                    <a:rPr lang="hr-HR" b="0" i="0">
                                                      <a:latin typeface="Cambria Math" panose="02040503050406030204" pitchFamily="18" charset="0"/>
                                                    </a:rPr>
                                                    <m:t>(</m:t>
                                                  </m:r>
                                                  <m:r>
                                                    <a:rPr lang="hr-HR" b="0" i="1">
                                                      <a:latin typeface="Cambria Math" panose="02040503050406030204" pitchFamily="18" charset="0"/>
                                                    </a:rPr>
                                                    <m:t>𝑘</m:t>
                                                  </m:r>
                                                </m:e>
                                              </m:d>
                                            </m:e>
                                            <m:sub>
                                              <m:r>
                                                <a:rPr lang="hr-HR" b="0" i="1">
                                                  <a:latin typeface="Cambria Math" panose="02040503050406030204" pitchFamily="18" charset="0"/>
                                                </a:rPr>
                                                <m:t>𝑗</m:t>
                                              </m:r>
                                            </m:sub>
                                          </m:sSub>
                                        </m:e>
                                      </m:d>
                                    </m:e>
                                    <m:sup>
                                      <m:sSub>
                                        <m:sSubPr>
                                          <m:ctrlPr>
                                            <a:rPr lang="hr-HR" b="0" i="1">
                                              <a:latin typeface="Cambria Math" panose="02040503050406030204" pitchFamily="18" charset="0"/>
                                            </a:rPr>
                                          </m:ctrlPr>
                                        </m:sSubPr>
                                        <m:e>
                                          <m:r>
                                            <a:rPr lang="hr-HR" b="1" i="1">
                                              <a:latin typeface="Cambria Math" panose="02040503050406030204" pitchFamily="18" charset="0"/>
                                            </a:rPr>
                                            <m:t>𝑻</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sup>
                                  </m:sSup>
                                  <m:r>
                                    <a:rPr lang="hr-HR" b="0" i="0">
                                      <a:latin typeface="Cambria Math" panose="02040503050406030204" pitchFamily="18" charset="0"/>
                                    </a:rPr>
                                    <m:t>∗ </m:t>
                                  </m:r>
                                  <m:sSub>
                                    <m:sSubPr>
                                      <m:ctrlPr>
                                        <a:rPr lang="hr-HR" b="0" i="1">
                                          <a:latin typeface="Cambria Math" panose="02040503050406030204" pitchFamily="18" charset="0"/>
                                        </a:rPr>
                                      </m:ctrlPr>
                                    </m:sSubPr>
                                    <m:e>
                                      <m:r>
                                        <a:rPr lang="hr-HR" b="1" i="1">
                                          <a:latin typeface="Cambria Math" panose="02040503050406030204" pitchFamily="18" charset="0"/>
                                        </a:rPr>
                                        <m:t>𝑷</m:t>
                                      </m:r>
                                    </m:e>
                                    <m:sub>
                                      <m:r>
                                        <a:rPr lang="hr-HR" b="0" i="1">
                                          <a:latin typeface="Cambria Math" panose="02040503050406030204" pitchFamily="18" charset="0"/>
                                        </a:rPr>
                                        <m:t>𝑖</m:t>
                                      </m:r>
                                      <m:r>
                                        <a:rPr lang="hr-HR" b="0" i="0">
                                          <a:latin typeface="Cambria Math" panose="02040503050406030204" pitchFamily="18" charset="0"/>
                                        </a:rPr>
                                        <m:t>,</m:t>
                                      </m:r>
                                      <m:r>
                                        <a:rPr lang="hr-HR" b="0" i="1">
                                          <a:latin typeface="Cambria Math" panose="02040503050406030204" pitchFamily="18" charset="0"/>
                                        </a:rPr>
                                        <m:t>𝑗</m:t>
                                      </m:r>
                                    </m:sub>
                                  </m:sSub>
                                </m:e>
                              </m:d>
                            </m:e>
                          </m:nary>
                        </m:den>
                      </m:f>
                    </m:oMath>
                  </m:oMathPara>
                </a14:m>
                <a:endParaRPr lang="hr-HR" dirty="0"/>
              </a:p>
            </p:txBody>
          </p:sp>
        </mc:Choice>
        <mc:Fallback>
          <p:sp>
            <p:nvSpPr>
              <p:cNvPr id="5" name="Pravokutnik 4"/>
              <p:cNvSpPr>
                <a:spLocks noRot="1" noChangeAspect="1" noMove="1" noResize="1" noEditPoints="1" noAdjustHandles="1" noChangeArrowheads="1" noChangeShapeType="1" noTextEdit="1"/>
              </p:cNvSpPr>
              <p:nvPr/>
            </p:nvSpPr>
            <p:spPr>
              <a:xfrm>
                <a:off x="2589212" y="3380793"/>
                <a:ext cx="5675593" cy="1283236"/>
              </a:xfrm>
              <a:prstGeom prst="rect">
                <a:avLst/>
              </a:prstGeom>
              <a:blipFill>
                <a:blip r:embed="rId3"/>
                <a:stretch>
                  <a:fillRect/>
                </a:stretch>
              </a:blipFill>
            </p:spPr>
            <p:txBody>
              <a:bodyPr/>
              <a:lstStyle/>
              <a:p>
                <a:r>
                  <a:rPr lang="hr-HR">
                    <a:noFill/>
                  </a:rPr>
                  <a:t> </a:t>
                </a:r>
              </a:p>
            </p:txBody>
          </p:sp>
        </mc:Fallback>
      </mc:AlternateContent>
    </p:spTree>
    <p:extLst>
      <p:ext uri="{BB962C8B-B14F-4D97-AF65-F5344CB8AC3E}">
        <p14:creationId xmlns:p14="http://schemas.microsoft.com/office/powerpoint/2010/main" val="41306996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Vizualizacija profila učenika</a:t>
            </a:r>
          </a:p>
        </p:txBody>
      </p:sp>
      <p:pic>
        <p:nvPicPr>
          <p:cNvPr id="6" name="Rezervirano mjesto sadržaja 5"/>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414718" y="1905000"/>
            <a:ext cx="3268253" cy="3268253"/>
          </a:xfrm>
        </p:spPr>
      </p:pic>
      <p:sp>
        <p:nvSpPr>
          <p:cNvPr id="4" name="Rezervirano mjesto broja slajda 3"/>
          <p:cNvSpPr>
            <a:spLocks noGrp="1"/>
          </p:cNvSpPr>
          <p:nvPr>
            <p:ph type="sldNum" sz="quarter" idx="12"/>
          </p:nvPr>
        </p:nvSpPr>
        <p:spPr/>
        <p:txBody>
          <a:bodyPr/>
          <a:lstStyle/>
          <a:p>
            <a:fld id="{B9A04B74-08D3-4235-B2EE-FA9FC8104C24}" type="slidenum">
              <a:rPr lang="hr-HR" smtClean="0"/>
              <a:pPr/>
              <a:t>11</a:t>
            </a:fld>
            <a:endParaRPr lang="hr-HR" dirty="0"/>
          </a:p>
        </p:txBody>
      </p:sp>
      <p:pic>
        <p:nvPicPr>
          <p:cNvPr id="8" name="Slika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41954" y="1905000"/>
            <a:ext cx="3761133" cy="3761133"/>
          </a:xfrm>
          <a:prstGeom prst="rect">
            <a:avLst/>
          </a:prstGeom>
        </p:spPr>
      </p:pic>
    </p:spTree>
    <p:extLst>
      <p:ext uri="{BB962C8B-B14F-4D97-AF65-F5344CB8AC3E}">
        <p14:creationId xmlns:p14="http://schemas.microsoft.com/office/powerpoint/2010/main" val="12574287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Predikcija </a:t>
            </a:r>
          </a:p>
        </p:txBody>
      </p:sp>
      <p:sp>
        <p:nvSpPr>
          <p:cNvPr id="3" name="Rezervirano mjesto sadržaja 2"/>
          <p:cNvSpPr>
            <a:spLocks noGrp="1"/>
          </p:cNvSpPr>
          <p:nvPr>
            <p:ph idx="1"/>
          </p:nvPr>
        </p:nvSpPr>
        <p:spPr>
          <a:xfrm>
            <a:off x="2589212" y="2133600"/>
            <a:ext cx="8915400" cy="4232476"/>
          </a:xfrm>
        </p:spPr>
        <p:txBody>
          <a:bodyPr>
            <a:normAutofit/>
          </a:bodyPr>
          <a:lstStyle/>
          <a:p>
            <a:r>
              <a:rPr lang="hr-HR" dirty="0"/>
              <a:t>Nelinearna regresija</a:t>
            </a:r>
          </a:p>
          <a:p>
            <a:pPr lvl="1"/>
            <a:r>
              <a:rPr lang="hr-HR" dirty="0"/>
              <a:t>Problem aproksimacije funkcije</a:t>
            </a:r>
          </a:p>
          <a:p>
            <a:pPr lvl="1"/>
            <a:r>
              <a:rPr lang="hr-HR" dirty="0" err="1"/>
              <a:t>Stanford</a:t>
            </a:r>
            <a:r>
              <a:rPr lang="hr-HR" dirty="0"/>
              <a:t>-B model</a:t>
            </a:r>
          </a:p>
          <a:p>
            <a:pPr lvl="1"/>
            <a:endParaRPr lang="hr-HR" dirty="0"/>
          </a:p>
          <a:p>
            <a:pPr lvl="1"/>
            <a:r>
              <a:rPr lang="hr-HR" dirty="0"/>
              <a:t>Parametri koje model uči:</a:t>
            </a:r>
          </a:p>
          <a:p>
            <a:pPr lvl="1"/>
            <a:endParaRPr lang="hr-HR" dirty="0"/>
          </a:p>
          <a:p>
            <a:pPr lvl="1"/>
            <a:endParaRPr lang="hr-HR" dirty="0"/>
          </a:p>
          <a:p>
            <a:pPr marL="457200" lvl="1" indent="0">
              <a:buNone/>
            </a:pPr>
            <a:endParaRPr lang="hr-HR" dirty="0"/>
          </a:p>
          <a:p>
            <a:pPr lvl="1"/>
            <a:r>
              <a:rPr lang="hr-HR" dirty="0"/>
              <a:t>Gradijentni spust </a:t>
            </a:r>
          </a:p>
          <a:p>
            <a:pPr lvl="1"/>
            <a:endParaRPr lang="hr-HR" dirty="0"/>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12</a:t>
            </a:fld>
            <a:endParaRPr lang="hr-HR" dirty="0"/>
          </a:p>
        </p:txBody>
      </p:sp>
      <mc:AlternateContent xmlns:mc="http://schemas.openxmlformats.org/markup-compatibility/2006">
        <mc:Choice xmlns:a14="http://schemas.microsoft.com/office/drawing/2010/main" Requires="a14">
          <p:sp>
            <p:nvSpPr>
              <p:cNvPr id="5" name="Pravokutnik 4"/>
              <p:cNvSpPr/>
              <p:nvPr/>
            </p:nvSpPr>
            <p:spPr>
              <a:xfrm>
                <a:off x="3778613" y="3260140"/>
                <a:ext cx="2643929" cy="374270"/>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sSup>
                        <m:sSupPr>
                          <m:ctrlPr>
                            <a:rPr lang="hr-HR">
                              <a:latin typeface="Cambria Math" panose="02040503050406030204" pitchFamily="18" charset="0"/>
                            </a:rPr>
                          </m:ctrlPr>
                        </m:sSupPr>
                        <m:e>
                          <m:d>
                            <m:dPr>
                              <m:begChr m:val=""/>
                              <m:ctrlPr>
                                <a:rPr lang="hr-HR">
                                  <a:latin typeface="Cambria Math" panose="02040503050406030204" pitchFamily="18" charset="0"/>
                                </a:rPr>
                              </m:ctrlPr>
                            </m:dPr>
                            <m:e>
                              <m:r>
                                <a:rPr lang="hr-HR" i="1">
                                  <a:latin typeface="Cambria Math" panose="02040503050406030204" pitchFamily="18" charset="0"/>
                                </a:rPr>
                                <m:t>𝑓</m:t>
                              </m:r>
                              <m:d>
                                <m:dPr>
                                  <m:ctrlPr>
                                    <a:rPr lang="hr-HR" i="1">
                                      <a:latin typeface="Cambria Math" panose="02040503050406030204" pitchFamily="18" charset="0"/>
                                    </a:rPr>
                                  </m:ctrlPr>
                                </m:dPr>
                                <m:e>
                                  <m:r>
                                    <a:rPr lang="hr-HR" i="1">
                                      <a:latin typeface="Cambria Math" panose="02040503050406030204" pitchFamily="18" charset="0"/>
                                    </a:rPr>
                                    <m:t>𝑥</m:t>
                                  </m:r>
                                </m:e>
                              </m:d>
                              <m:r>
                                <a:rPr lang="hr-HR" i="0">
                                  <a:latin typeface="Cambria Math" panose="02040503050406030204" pitchFamily="18" charset="0"/>
                                </a:rPr>
                                <m:t>=1−</m:t>
                              </m:r>
                              <m:r>
                                <a:rPr lang="hr-HR" i="1">
                                  <a:latin typeface="Cambria Math" panose="02040503050406030204" pitchFamily="18" charset="0"/>
                                </a:rPr>
                                <m:t>𝐶</m:t>
                              </m:r>
                              <m:r>
                                <a:rPr lang="hr-HR" i="0">
                                  <a:latin typeface="Cambria Math" panose="02040503050406030204" pitchFamily="18" charset="0"/>
                                </a:rPr>
                                <m:t>∗(</m:t>
                              </m:r>
                              <m:r>
                                <a:rPr lang="hr-HR" i="1">
                                  <a:latin typeface="Cambria Math" panose="02040503050406030204" pitchFamily="18" charset="0"/>
                                </a:rPr>
                                <m:t>𝑥</m:t>
                              </m:r>
                              <m:r>
                                <a:rPr lang="hr-HR" i="0">
                                  <a:latin typeface="Cambria Math" panose="02040503050406030204" pitchFamily="18" charset="0"/>
                                </a:rPr>
                                <m:t>+</m:t>
                              </m:r>
                              <m:r>
                                <a:rPr lang="hr-HR" i="1">
                                  <a:latin typeface="Cambria Math" panose="02040503050406030204" pitchFamily="18" charset="0"/>
                                </a:rPr>
                                <m:t>𝐵</m:t>
                              </m:r>
                            </m:e>
                          </m:d>
                        </m:e>
                        <m:sup>
                          <m:r>
                            <a:rPr lang="hr-HR" i="1">
                              <a:latin typeface="Cambria Math" panose="02040503050406030204" pitchFamily="18" charset="0"/>
                            </a:rPr>
                            <m:t>𝑏</m:t>
                          </m:r>
                        </m:sup>
                      </m:sSup>
                    </m:oMath>
                  </m:oMathPara>
                </a14:m>
                <a:endParaRPr lang="hr-HR" dirty="0"/>
              </a:p>
            </p:txBody>
          </p:sp>
        </mc:Choice>
        <mc:Fallback>
          <p:sp>
            <p:nvSpPr>
              <p:cNvPr id="5" name="Pravokutnik 4"/>
              <p:cNvSpPr>
                <a:spLocks noRot="1" noChangeAspect="1" noMove="1" noResize="1" noEditPoints="1" noAdjustHandles="1" noChangeArrowheads="1" noChangeShapeType="1" noTextEdit="1"/>
              </p:cNvSpPr>
              <p:nvPr/>
            </p:nvSpPr>
            <p:spPr>
              <a:xfrm>
                <a:off x="3778613" y="3260140"/>
                <a:ext cx="2643929" cy="374270"/>
              </a:xfrm>
              <a:prstGeom prst="rect">
                <a:avLst/>
              </a:prstGeom>
              <a:blipFill>
                <a:blip r:embed="rId3"/>
                <a:stretch>
                  <a:fillRect t="-116393" r="-14055" b="-186885"/>
                </a:stretch>
              </a:blipFill>
            </p:spPr>
            <p:txBody>
              <a:bodyPr/>
              <a:lstStyle/>
              <a:p>
                <a:r>
                  <a:rPr lang="hr-HR">
                    <a:noFill/>
                  </a:rPr>
                  <a:t> </a:t>
                </a:r>
              </a:p>
            </p:txBody>
          </p:sp>
        </mc:Fallback>
      </mc:AlternateContent>
      <p:sp>
        <p:nvSpPr>
          <p:cNvPr id="6" name="Pravokutnik 5"/>
          <p:cNvSpPr/>
          <p:nvPr/>
        </p:nvSpPr>
        <p:spPr>
          <a:xfrm>
            <a:off x="3778613" y="4082757"/>
            <a:ext cx="184731" cy="369332"/>
          </a:xfrm>
          <a:prstGeom prst="rect">
            <a:avLst/>
          </a:prstGeom>
        </p:spPr>
        <p:txBody>
          <a:bodyPr wrap="none">
            <a:spAutoFit/>
          </a:bodyPr>
          <a:lstStyle/>
          <a:p>
            <a:endParaRPr lang="hr-HR" i="1" dirty="0"/>
          </a:p>
        </p:txBody>
      </p:sp>
      <mc:AlternateContent xmlns:mc="http://schemas.openxmlformats.org/markup-compatibility/2006">
        <mc:Choice xmlns:a14="http://schemas.microsoft.com/office/drawing/2010/main" Requires="a14">
          <p:sp>
            <p:nvSpPr>
              <p:cNvPr id="7" name="Pravokutnik 6"/>
              <p:cNvSpPr/>
              <p:nvPr/>
            </p:nvSpPr>
            <p:spPr>
              <a:xfrm>
                <a:off x="3778613" y="4003685"/>
                <a:ext cx="2142638" cy="338554"/>
              </a:xfrm>
              <a:prstGeom prst="rect">
                <a:avLst/>
              </a:prstGeom>
            </p:spPr>
            <p:txBody>
              <a:bodyPr wrap="none">
                <a:spAutoFit/>
              </a:bodyPr>
              <a:lstStyle/>
              <a:p>
                <a14:m>
                  <m:oMath xmlns:m="http://schemas.openxmlformats.org/officeDocument/2006/math">
                    <m:r>
                      <a:rPr lang="hr-HR" sz="1600" i="1">
                        <a:latin typeface="Cambria Math" panose="02040503050406030204" pitchFamily="18" charset="0"/>
                      </a:rPr>
                      <m:t>𝐵</m:t>
                    </m:r>
                  </m:oMath>
                </a14:m>
                <a:r>
                  <a:rPr lang="hr-HR" sz="1600" dirty="0"/>
                  <a:t> – iskustvo učenika</a:t>
                </a:r>
              </a:p>
            </p:txBody>
          </p:sp>
        </mc:Choice>
        <mc:Fallback>
          <p:sp>
            <p:nvSpPr>
              <p:cNvPr id="7" name="Pravokutnik 6"/>
              <p:cNvSpPr>
                <a:spLocks noRot="1" noChangeAspect="1" noMove="1" noResize="1" noEditPoints="1" noAdjustHandles="1" noChangeArrowheads="1" noChangeShapeType="1" noTextEdit="1"/>
              </p:cNvSpPr>
              <p:nvPr/>
            </p:nvSpPr>
            <p:spPr>
              <a:xfrm>
                <a:off x="3778613" y="4003685"/>
                <a:ext cx="2142638" cy="338554"/>
              </a:xfrm>
              <a:prstGeom prst="rect">
                <a:avLst/>
              </a:prstGeom>
              <a:blipFill>
                <a:blip r:embed="rId4"/>
                <a:stretch>
                  <a:fillRect t="-5455" r="-285" b="-23636"/>
                </a:stretch>
              </a:blipFill>
            </p:spPr>
            <p:txBody>
              <a:bodyPr/>
              <a:lstStyle/>
              <a:p>
                <a:r>
                  <a:rPr lang="hr-HR">
                    <a:noFill/>
                  </a:rPr>
                  <a:t> </a:t>
                </a:r>
              </a:p>
            </p:txBody>
          </p:sp>
        </mc:Fallback>
      </mc:AlternateContent>
      <mc:AlternateContent xmlns:mc="http://schemas.openxmlformats.org/markup-compatibility/2006">
        <mc:Choice xmlns:a14="http://schemas.microsoft.com/office/drawing/2010/main" Requires="a14">
          <p:sp>
            <p:nvSpPr>
              <p:cNvPr id="8" name="Pravokutnik 7"/>
              <p:cNvSpPr/>
              <p:nvPr/>
            </p:nvSpPr>
            <p:spPr>
              <a:xfrm>
                <a:off x="3778612" y="4361883"/>
                <a:ext cx="4928660" cy="338554"/>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hr-HR" sz="1600" b="0" i="1" smtClean="0">
                          <a:latin typeface="Cambria Math" panose="02040503050406030204" pitchFamily="18" charset="0"/>
                        </a:rPr>
                        <m:t>𝐶</m:t>
                      </m:r>
                      <m:r>
                        <a:rPr lang="hr-HR" sz="1600" b="0" i="0" smtClean="0">
                          <a:latin typeface="Cambria Math" panose="02040503050406030204" pitchFamily="18" charset="0"/>
                        </a:rPr>
                        <m:t>−</m:t>
                      </m:r>
                      <m:r>
                        <m:rPr>
                          <m:sty m:val="p"/>
                        </m:rPr>
                        <a:rPr lang="hr-HR" sz="1600" b="0" i="0" smtClean="0">
                          <a:latin typeface="Century Gothic (tijelo)"/>
                        </a:rPr>
                        <m:t>vrijeme</m:t>
                      </m:r>
                      <m:r>
                        <a:rPr lang="hr-HR" sz="1600" b="0" i="0" smtClean="0">
                          <a:latin typeface="Century Gothic (tijelo)"/>
                        </a:rPr>
                        <m:t> </m:t>
                      </m:r>
                      <m:r>
                        <m:rPr>
                          <m:sty m:val="p"/>
                        </m:rPr>
                        <a:rPr lang="hr-HR" sz="1600" b="0" i="0" smtClean="0">
                          <a:latin typeface="Century Gothic (tijelo)"/>
                        </a:rPr>
                        <m:t>rije</m:t>
                      </m:r>
                      <m:r>
                        <a:rPr lang="hr-HR" sz="1600" b="0" i="0" smtClean="0">
                          <a:latin typeface="Century Gothic (tijelo)"/>
                        </a:rPr>
                        <m:t>š</m:t>
                      </m:r>
                      <m:r>
                        <m:rPr>
                          <m:sty m:val="p"/>
                        </m:rPr>
                        <a:rPr lang="hr-HR" sz="1600" b="0" i="0" smtClean="0">
                          <a:latin typeface="Century Gothic (tijelo)"/>
                        </a:rPr>
                        <m:t>avanja</m:t>
                      </m:r>
                      <m:r>
                        <a:rPr lang="hr-HR" sz="1600" b="0" i="0" smtClean="0">
                          <a:latin typeface="Century Gothic (tijelo)"/>
                        </a:rPr>
                        <m:t> </m:t>
                      </m:r>
                      <m:r>
                        <m:rPr>
                          <m:sty m:val="p"/>
                        </m:rPr>
                        <a:rPr lang="hr-HR" sz="1600" b="0" i="0" smtClean="0">
                          <a:latin typeface="Century Gothic (tijelo)"/>
                        </a:rPr>
                        <m:t>prvog</m:t>
                      </m:r>
                      <m:r>
                        <a:rPr lang="hr-HR" sz="1600" b="0" i="0" smtClean="0">
                          <a:latin typeface="Century Gothic (tijelo)"/>
                        </a:rPr>
                        <m:t> </m:t>
                      </m:r>
                      <m:r>
                        <m:rPr>
                          <m:sty m:val="p"/>
                        </m:rPr>
                        <a:rPr lang="hr-HR" sz="1600" b="0" i="0" smtClean="0">
                          <a:latin typeface="Century Gothic (tijelo)"/>
                        </a:rPr>
                        <m:t>zadatka</m:t>
                      </m:r>
                    </m:oMath>
                  </m:oMathPara>
                </a14:m>
                <a:endParaRPr lang="hr-HR" sz="1600" dirty="0">
                  <a:latin typeface="Century Gothic (tijelo)"/>
                </a:endParaRPr>
              </a:p>
            </p:txBody>
          </p:sp>
        </mc:Choice>
        <mc:Fallback>
          <p:sp>
            <p:nvSpPr>
              <p:cNvPr id="8" name="Pravokutnik 7"/>
              <p:cNvSpPr>
                <a:spLocks noRot="1" noChangeAspect="1" noMove="1" noResize="1" noEditPoints="1" noAdjustHandles="1" noChangeArrowheads="1" noChangeShapeType="1" noTextEdit="1"/>
              </p:cNvSpPr>
              <p:nvPr/>
            </p:nvSpPr>
            <p:spPr>
              <a:xfrm>
                <a:off x="3778612" y="4361883"/>
                <a:ext cx="4928660" cy="338554"/>
              </a:xfrm>
              <a:prstGeom prst="rect">
                <a:avLst/>
              </a:prstGeom>
              <a:blipFill>
                <a:blip r:embed="rId5"/>
                <a:stretch>
                  <a:fillRect b="-14545"/>
                </a:stretch>
              </a:blipFill>
            </p:spPr>
            <p:txBody>
              <a:bodyPr/>
              <a:lstStyle/>
              <a:p>
                <a:r>
                  <a:rPr lang="hr-HR">
                    <a:noFill/>
                  </a:rPr>
                  <a:t> </a:t>
                </a:r>
              </a:p>
            </p:txBody>
          </p:sp>
        </mc:Fallback>
      </mc:AlternateContent>
      <mc:AlternateContent xmlns:mc="http://schemas.openxmlformats.org/markup-compatibility/2006">
        <mc:Choice xmlns:a14="http://schemas.microsoft.com/office/drawing/2010/main" Requires="a14">
          <p:sp>
            <p:nvSpPr>
              <p:cNvPr id="9" name="Pravokutnik 8"/>
              <p:cNvSpPr/>
              <p:nvPr/>
            </p:nvSpPr>
            <p:spPr>
              <a:xfrm>
                <a:off x="3778613" y="4723124"/>
                <a:ext cx="1830629" cy="338554"/>
              </a:xfrm>
              <a:prstGeom prst="rect">
                <a:avLst/>
              </a:prstGeom>
            </p:spPr>
            <p:txBody>
              <a:bodyPr wrap="none">
                <a:spAutoFit/>
              </a:bodyPr>
              <a:lstStyle/>
              <a:p>
                <a14:m>
                  <m:oMath xmlns:m="http://schemas.openxmlformats.org/officeDocument/2006/math">
                    <m:r>
                      <a:rPr lang="hr-HR" sz="1600" b="0" i="1" smtClean="0">
                        <a:latin typeface="Cambria Math" panose="02040503050406030204" pitchFamily="18" charset="0"/>
                      </a:rPr>
                      <m:t>𝑏</m:t>
                    </m:r>
                  </m:oMath>
                </a14:m>
                <a:r>
                  <a:rPr lang="hr-HR" sz="1600" dirty="0"/>
                  <a:t> – stopa učenja</a:t>
                </a:r>
              </a:p>
            </p:txBody>
          </p:sp>
        </mc:Choice>
        <mc:Fallback>
          <p:sp>
            <p:nvSpPr>
              <p:cNvPr id="9" name="Pravokutnik 8"/>
              <p:cNvSpPr>
                <a:spLocks noRot="1" noChangeAspect="1" noMove="1" noResize="1" noEditPoints="1" noAdjustHandles="1" noChangeArrowheads="1" noChangeShapeType="1" noTextEdit="1"/>
              </p:cNvSpPr>
              <p:nvPr/>
            </p:nvSpPr>
            <p:spPr>
              <a:xfrm>
                <a:off x="3778613" y="4723124"/>
                <a:ext cx="1830629" cy="338554"/>
              </a:xfrm>
              <a:prstGeom prst="rect">
                <a:avLst/>
              </a:prstGeom>
              <a:blipFill>
                <a:blip r:embed="rId6"/>
                <a:stretch>
                  <a:fillRect t="-5455" r="-333" b="-23636"/>
                </a:stretch>
              </a:blipFill>
            </p:spPr>
            <p:txBody>
              <a:bodyPr/>
              <a:lstStyle/>
              <a:p>
                <a:r>
                  <a:rPr lang="hr-HR">
                    <a:noFill/>
                  </a:rPr>
                  <a:t> </a:t>
                </a:r>
              </a:p>
            </p:txBody>
          </p:sp>
        </mc:Fallback>
      </mc:AlternateContent>
      <mc:AlternateContent xmlns:mc="http://schemas.openxmlformats.org/markup-compatibility/2006">
        <mc:Choice xmlns:a14="http://schemas.microsoft.com/office/drawing/2010/main" Requires="a14">
          <p:sp>
            <p:nvSpPr>
              <p:cNvPr id="10" name="Pravokutnik 9"/>
              <p:cNvSpPr/>
              <p:nvPr/>
            </p:nvSpPr>
            <p:spPr>
              <a:xfrm>
                <a:off x="3778613" y="5678028"/>
                <a:ext cx="2635273" cy="369332"/>
              </a:xfrm>
              <a:prstGeom prst="rect">
                <a:avLst/>
              </a:prstGeom>
            </p:spPr>
            <p:txBody>
              <a:bodyPr wrap="none">
                <a:spAutoFit/>
              </a:bodyPr>
              <a:lstStyle/>
              <a:p>
                <a14:m>
                  <m:oMathPara xmlns:m="http://schemas.openxmlformats.org/officeDocument/2006/math">
                    <m:oMathParaPr>
                      <m:jc m:val="centerGroup"/>
                    </m:oMathParaPr>
                    <m:oMath xmlns:m="http://schemas.openxmlformats.org/officeDocument/2006/math">
                      <m:sSup>
                        <m:sSupPr>
                          <m:ctrlPr>
                            <a:rPr lang="hr-HR">
                              <a:latin typeface="Cambria Math" panose="02040503050406030204" pitchFamily="18" charset="0"/>
                            </a:rPr>
                          </m:ctrlPr>
                        </m:sSupPr>
                        <m:e>
                          <m:r>
                            <a:rPr lang="hr-HR" i="1">
                              <a:latin typeface="Cambria Math" panose="02040503050406030204" pitchFamily="18" charset="0"/>
                            </a:rPr>
                            <m:t>h</m:t>
                          </m:r>
                        </m:e>
                        <m:sup>
                          <m:r>
                            <a:rPr lang="hr-HR" i="1">
                              <a:latin typeface="Cambria Math" panose="02040503050406030204" pitchFamily="18" charset="0"/>
                            </a:rPr>
                            <m:t>𝑛</m:t>
                          </m:r>
                          <m:r>
                            <a:rPr lang="hr-HR" i="0">
                              <a:latin typeface="Cambria Math" panose="02040503050406030204" pitchFamily="18" charset="0"/>
                            </a:rPr>
                            <m:t>+1</m:t>
                          </m:r>
                        </m:sup>
                      </m:sSup>
                      <m:r>
                        <a:rPr lang="hr-HR" i="0">
                          <a:latin typeface="Cambria Math" panose="02040503050406030204" pitchFamily="18" charset="0"/>
                        </a:rPr>
                        <m:t>=</m:t>
                      </m:r>
                      <m:sSup>
                        <m:sSupPr>
                          <m:ctrlPr>
                            <a:rPr lang="hr-HR" i="1">
                              <a:latin typeface="Cambria Math" panose="02040503050406030204" pitchFamily="18" charset="0"/>
                            </a:rPr>
                          </m:ctrlPr>
                        </m:sSupPr>
                        <m:e>
                          <m:r>
                            <a:rPr lang="hr-HR" i="1">
                              <a:latin typeface="Cambria Math" panose="02040503050406030204" pitchFamily="18" charset="0"/>
                            </a:rPr>
                            <m:t>h</m:t>
                          </m:r>
                        </m:e>
                        <m:sup>
                          <m:r>
                            <a:rPr lang="hr-HR" i="1">
                              <a:latin typeface="Cambria Math" panose="02040503050406030204" pitchFamily="18" charset="0"/>
                            </a:rPr>
                            <m:t>𝑛</m:t>
                          </m:r>
                        </m:sup>
                      </m:sSup>
                      <m:r>
                        <a:rPr lang="hr-HR" i="0">
                          <a:latin typeface="Cambria Math" panose="02040503050406030204" pitchFamily="18" charset="0"/>
                        </a:rPr>
                        <m:t>−</m:t>
                      </m:r>
                      <m:r>
                        <a:rPr lang="hr-HR" i="1">
                          <a:latin typeface="Cambria Math" panose="02040503050406030204" pitchFamily="18" charset="0"/>
                        </a:rPr>
                        <m:t>𝛾</m:t>
                      </m:r>
                      <m:r>
                        <a:rPr lang="hr-HR" i="0">
                          <a:latin typeface="Cambria Math" panose="02040503050406030204" pitchFamily="18" charset="0"/>
                        </a:rPr>
                        <m:t>∇</m:t>
                      </m:r>
                      <m:r>
                        <a:rPr lang="hr-HR" i="1">
                          <a:latin typeface="Cambria Math" panose="02040503050406030204" pitchFamily="18" charset="0"/>
                        </a:rPr>
                        <m:t>𝐸</m:t>
                      </m:r>
                      <m:d>
                        <m:dPr>
                          <m:ctrlPr>
                            <a:rPr lang="hr-HR" i="1">
                              <a:latin typeface="Cambria Math" panose="02040503050406030204" pitchFamily="18" charset="0"/>
                            </a:rPr>
                          </m:ctrlPr>
                        </m:dPr>
                        <m:e>
                          <m:sSup>
                            <m:sSupPr>
                              <m:ctrlPr>
                                <a:rPr lang="hr-HR" i="1">
                                  <a:latin typeface="Cambria Math" panose="02040503050406030204" pitchFamily="18" charset="0"/>
                                </a:rPr>
                              </m:ctrlPr>
                            </m:sSupPr>
                            <m:e>
                              <m:r>
                                <a:rPr lang="hr-HR" i="1">
                                  <a:latin typeface="Cambria Math" panose="02040503050406030204" pitchFamily="18" charset="0"/>
                                </a:rPr>
                                <m:t>h</m:t>
                              </m:r>
                            </m:e>
                            <m:sup>
                              <m:r>
                                <a:rPr lang="hr-HR" i="1">
                                  <a:latin typeface="Cambria Math" panose="02040503050406030204" pitchFamily="18" charset="0"/>
                                </a:rPr>
                                <m:t>𝑛</m:t>
                              </m:r>
                            </m:sup>
                          </m:sSup>
                          <m:r>
                            <a:rPr lang="hr-HR" i="0">
                              <a:latin typeface="Cambria Math" panose="02040503050406030204" pitchFamily="18" charset="0"/>
                            </a:rPr>
                            <m:t>|</m:t>
                          </m:r>
                          <m:r>
                            <a:rPr lang="hr-HR" b="1" i="1">
                              <a:latin typeface="Cambria Math" panose="02040503050406030204" pitchFamily="18" charset="0"/>
                            </a:rPr>
                            <m:t>𝑻</m:t>
                          </m:r>
                        </m:e>
                      </m:d>
                    </m:oMath>
                  </m:oMathPara>
                </a14:m>
                <a:endParaRPr lang="hr-HR" dirty="0"/>
              </a:p>
            </p:txBody>
          </p:sp>
        </mc:Choice>
        <mc:Fallback>
          <p:sp>
            <p:nvSpPr>
              <p:cNvPr id="10" name="Pravokutnik 9"/>
              <p:cNvSpPr>
                <a:spLocks noRot="1" noChangeAspect="1" noMove="1" noResize="1" noEditPoints="1" noAdjustHandles="1" noChangeArrowheads="1" noChangeShapeType="1" noTextEdit="1"/>
              </p:cNvSpPr>
              <p:nvPr/>
            </p:nvSpPr>
            <p:spPr>
              <a:xfrm>
                <a:off x="3778613" y="5678028"/>
                <a:ext cx="2635273" cy="369332"/>
              </a:xfrm>
              <a:prstGeom prst="rect">
                <a:avLst/>
              </a:prstGeom>
              <a:blipFill>
                <a:blip r:embed="rId7"/>
                <a:stretch>
                  <a:fillRect b="-16393"/>
                </a:stretch>
              </a:blipFill>
            </p:spPr>
            <p:txBody>
              <a:bodyPr/>
              <a:lstStyle/>
              <a:p>
                <a:r>
                  <a:rPr lang="hr-HR">
                    <a:noFill/>
                  </a:rPr>
                  <a:t> </a:t>
                </a:r>
              </a:p>
            </p:txBody>
          </p:sp>
        </mc:Fallback>
      </mc:AlternateContent>
    </p:spTree>
    <p:extLst>
      <p:ext uri="{BB962C8B-B14F-4D97-AF65-F5344CB8AC3E}">
        <p14:creationId xmlns:p14="http://schemas.microsoft.com/office/powerpoint/2010/main" val="33571013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Vizualizacija </a:t>
            </a:r>
            <a:r>
              <a:rPr lang="hr-HR" dirty="0" err="1"/>
              <a:t>predickije</a:t>
            </a:r>
            <a:endParaRPr lang="hr-HR" dirty="0"/>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13</a:t>
            </a:fld>
            <a:endParaRPr lang="hr-HR" dirty="0"/>
          </a:p>
        </p:txBody>
      </p:sp>
      <p:pic>
        <p:nvPicPr>
          <p:cNvPr id="5" name="Slika 4"/>
          <p:cNvPicPr/>
          <p:nvPr/>
        </p:nvPicPr>
        <p:blipFill>
          <a:blip r:embed="rId3" cstate="print">
            <a:extLst>
              <a:ext uri="{28A0092B-C50C-407E-A947-70E740481C1C}">
                <a14:useLocalDpi xmlns:a14="http://schemas.microsoft.com/office/drawing/2010/main" val="0"/>
              </a:ext>
            </a:extLst>
          </a:blip>
          <a:stretch>
            <a:fillRect/>
          </a:stretch>
        </p:blipFill>
        <p:spPr>
          <a:xfrm>
            <a:off x="2942686" y="2071869"/>
            <a:ext cx="5124868" cy="3649775"/>
          </a:xfrm>
          <a:prstGeom prst="rect">
            <a:avLst/>
          </a:prstGeom>
        </p:spPr>
      </p:pic>
    </p:spTree>
    <p:extLst>
      <p:ext uri="{BB962C8B-B14F-4D97-AF65-F5344CB8AC3E}">
        <p14:creationId xmlns:p14="http://schemas.microsoft.com/office/powerpoint/2010/main" val="25086499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Rezultati</a:t>
            </a:r>
          </a:p>
        </p:txBody>
      </p:sp>
      <p:sp>
        <p:nvSpPr>
          <p:cNvPr id="3" name="Rezervirano mjesto sadržaja 2"/>
          <p:cNvSpPr>
            <a:spLocks noGrp="1"/>
          </p:cNvSpPr>
          <p:nvPr>
            <p:ph idx="1"/>
          </p:nvPr>
        </p:nvSpPr>
        <p:spPr>
          <a:xfrm>
            <a:off x="2589212" y="2133600"/>
            <a:ext cx="8915400" cy="1836516"/>
          </a:xfrm>
        </p:spPr>
        <p:txBody>
          <a:bodyPr>
            <a:normAutofit/>
          </a:bodyPr>
          <a:lstStyle/>
          <a:p>
            <a:r>
              <a:rPr lang="hr-HR" dirty="0"/>
              <a:t>Podaci skupljeni nad 3 razreda unutar jedne akademske godine</a:t>
            </a:r>
          </a:p>
          <a:p>
            <a:r>
              <a:rPr lang="hr-HR" dirty="0"/>
              <a:t>Nema korelacije između pozadine učenika s rezultatima nad lekcijama</a:t>
            </a:r>
          </a:p>
          <a:p>
            <a:r>
              <a:rPr lang="hr-HR" dirty="0"/>
              <a:t>Negativna korelacija između kompetitivnih i kolaborativnih lekcija</a:t>
            </a:r>
          </a:p>
          <a:p>
            <a:r>
              <a:rPr lang="hr-HR" dirty="0"/>
              <a:t>Pozitivna korelacija između kompetitivnih lekcija s lekcija proširene stvarnosti</a:t>
            </a:r>
          </a:p>
          <a:p>
            <a:endParaRPr lang="hr-HR" dirty="0"/>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14</a:t>
            </a:fld>
            <a:endParaRPr lang="hr-HR" dirty="0"/>
          </a:p>
        </p:txBody>
      </p:sp>
    </p:spTree>
    <p:extLst>
      <p:ext uri="{BB962C8B-B14F-4D97-AF65-F5344CB8AC3E}">
        <p14:creationId xmlns:p14="http://schemas.microsoft.com/office/powerpoint/2010/main" val="15249569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p:cNvSpPr>
            <a:spLocks noGrp="1"/>
          </p:cNvSpPr>
          <p:nvPr>
            <p:ph type="title"/>
          </p:nvPr>
        </p:nvSpPr>
        <p:spPr/>
        <p:txBody>
          <a:bodyPr/>
          <a:lstStyle/>
          <a:p>
            <a:r>
              <a:rPr lang="hr-HR" dirty="0"/>
              <a:t>Pitanja?</a:t>
            </a:r>
          </a:p>
        </p:txBody>
      </p:sp>
      <p:sp>
        <p:nvSpPr>
          <p:cNvPr id="3" name="Rezervirano mjesto sadržaja 2"/>
          <p:cNvSpPr>
            <a:spLocks noGrp="1"/>
          </p:cNvSpPr>
          <p:nvPr>
            <p:ph idx="1"/>
          </p:nvPr>
        </p:nvSpPr>
        <p:spPr/>
        <p:txBody>
          <a:bodyPr/>
          <a:lstStyle/>
          <a:p>
            <a:endParaRPr lang="hr-HR"/>
          </a:p>
        </p:txBody>
      </p:sp>
      <p:sp>
        <p:nvSpPr>
          <p:cNvPr id="4" name="Rezervirano mjesto broja slajda 3"/>
          <p:cNvSpPr>
            <a:spLocks noGrp="1"/>
          </p:cNvSpPr>
          <p:nvPr>
            <p:ph type="sldNum" sz="quarter" idx="12"/>
          </p:nvPr>
        </p:nvSpPr>
        <p:spPr/>
        <p:txBody>
          <a:bodyPr/>
          <a:lstStyle/>
          <a:p>
            <a:fld id="{B9A04B74-08D3-4235-B2EE-FA9FC8104C24}" type="slidenum">
              <a:rPr lang="hr-HR" smtClean="0"/>
              <a:pPr/>
              <a:t>15</a:t>
            </a:fld>
            <a:endParaRPr lang="hr-HR" dirty="0"/>
          </a:p>
        </p:txBody>
      </p:sp>
    </p:spTree>
    <p:extLst>
      <p:ext uri="{BB962C8B-B14F-4D97-AF65-F5344CB8AC3E}">
        <p14:creationId xmlns:p14="http://schemas.microsoft.com/office/powerpoint/2010/main" val="1249962305"/>
      </p:ext>
    </p:extLst>
  </p:cSld>
  <p:clrMapOvr>
    <a:masterClrMapping/>
  </p:clrMapOvr>
</p:sld>
</file>

<file path=ppt/theme/theme1.xml><?xml version="1.0" encoding="utf-8"?>
<a:theme xmlns:a="http://schemas.openxmlformats.org/drawingml/2006/main" name="Pramen">
  <a:themeElements>
    <a:clrScheme name="Pramen">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Pramen">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ramen">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Tema sustav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sustav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523</TotalTime>
  <Words>2728</Words>
  <Application>Microsoft Office PowerPoint</Application>
  <PresentationFormat>Široki zaslon</PresentationFormat>
  <Paragraphs>165</Paragraphs>
  <Slides>15</Slides>
  <Notes>14</Notes>
  <HiddenSlides>0</HiddenSlides>
  <MMClips>0</MMClips>
  <ScaleCrop>false</ScaleCrop>
  <HeadingPairs>
    <vt:vector size="6" baseType="variant">
      <vt:variant>
        <vt:lpstr>Korišteni fontovi</vt:lpstr>
      </vt:variant>
      <vt:variant>
        <vt:i4>6</vt:i4>
      </vt:variant>
      <vt:variant>
        <vt:lpstr>Tema</vt:lpstr>
      </vt:variant>
      <vt:variant>
        <vt:i4>1</vt:i4>
      </vt:variant>
      <vt:variant>
        <vt:lpstr>Naslovi slajdova</vt:lpstr>
      </vt:variant>
      <vt:variant>
        <vt:i4>15</vt:i4>
      </vt:variant>
    </vt:vector>
  </HeadingPairs>
  <TitlesOfParts>
    <vt:vector size="22" baseType="lpstr">
      <vt:lpstr>Arial</vt:lpstr>
      <vt:lpstr>Calibri</vt:lpstr>
      <vt:lpstr>Cambria Math</vt:lpstr>
      <vt:lpstr>Century Gothic</vt:lpstr>
      <vt:lpstr>Century Gothic (tijelo)</vt:lpstr>
      <vt:lpstr>Wingdings 3</vt:lpstr>
      <vt:lpstr>Pramen</vt:lpstr>
      <vt:lpstr>Izrada aplikacije za analitiku i predviđanje rezultata učenja temeljene na inteligentnim algoritmima</vt:lpstr>
      <vt:lpstr>Sadržaj obrane</vt:lpstr>
      <vt:lpstr>Širi kontekst aplikacije</vt:lpstr>
      <vt:lpstr>Lekcije </vt:lpstr>
      <vt:lpstr>Arhitektura aplikacije</vt:lpstr>
      <vt:lpstr>Učenje težina zadataka </vt:lpstr>
      <vt:lpstr>Učenje težina (2)</vt:lpstr>
      <vt:lpstr>Učenje težina (3)</vt:lpstr>
      <vt:lpstr>Učenje težina (4)</vt:lpstr>
      <vt:lpstr>Evaluacija učenika</vt:lpstr>
      <vt:lpstr>Vizualizacija profila učenika</vt:lpstr>
      <vt:lpstr>Predikcija </vt:lpstr>
      <vt:lpstr>Vizualizacija predickije</vt:lpstr>
      <vt:lpstr>Rezultati</vt:lpstr>
      <vt:lpstr>Pitanja?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Izrada aplikacije za analitiku i predviđanje rezultata učenja temeljene na inteligentnim algoritmima</dc:title>
  <dc:creator>Roko Krstulovic</dc:creator>
  <cp:lastModifiedBy>Roko Krstulovic</cp:lastModifiedBy>
  <cp:revision>39</cp:revision>
  <dcterms:created xsi:type="dcterms:W3CDTF">2017-07-09T12:11:58Z</dcterms:created>
  <dcterms:modified xsi:type="dcterms:W3CDTF">2017-07-10T20:08:49Z</dcterms:modified>
</cp:coreProperties>
</file>